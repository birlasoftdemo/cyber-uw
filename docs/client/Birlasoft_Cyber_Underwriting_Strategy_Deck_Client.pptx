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as a peer, not with a slogan. The offer is one sentence: faster, without giving away the file. If they ask for the ROI on slide one, say it is on the pilot slide, and it is a test against their baseline, not a case study. You do not have a Hartford number. Do not borrow one. You keep their paper, their appetite, and the rating vendors they already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published figures, not our math. Marsh Global Insurance Market Index, Q2 2026: global cyber rates down 4 percent, the twelfth straight quarterly decline. Everest and Zywave, January 2024: about 70 percent of underwriters called it a brokers' market, and about half of primary underwriters reported flat or negative rate. Swiss Re has said soft-market concessions land on controls as well as price. If they say their book is firming, agree. The point is not the last quarter. The point is that speed pressure and selection pressure arrive together. Source grades in our pack: Marsh known, Everest survey grade A, Swiss Re grade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as their Monday, not as a capability list. Volume means the same submission is keyed more than once. Scoring drift means two of their people can hold one file to two standards. Enrichment is a scavenger hunt across feeds they already buy. The policy system hears late, so the bind and the file disagree. And nobody can see what is still open. The SageSure line, if you want it: a specialty underwriter, published December 2025, said half the day goes to searching rather than deciding, and a 30-minute job becomes three hours. That is one desk, paraphrased. Do not promote it to an industry census. Swiss Re, grade A, is the safer line: manual assessment is why small cyber is hard to make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instruments, four questions. Do not let a rating vendor, or a cat-model vendor, or a form tool, own the decision. The applicant describes a procedure. A rating describes what can be seen from outside. A catastrophe model describes the book. Appetite describes what this carrier will write. The workbench is where those four are held against each other. We partner BitSight, SecurityScorecard, Black Kite, and later CyberCube or Cyence. We do not rebuild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jobs, each tied to a failure they already named. If a feature does not shorten rework, let someone reject a bad extraction, surface a missing control before price, or give the referral a reason, it is not in the first release. Say that out loud. It is how you stay out of a platform fantasy.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the person in the room, not for their underwriters. The question they will get from their own CUO, reinsurer, or board is whether speed cost them a control. Operations cares about touches. Underwriters care whether the hour came back. Compliance cares who overrode which rule version. If the tool only makes one of those three happy, it will not survive the steering group. Do not say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they read the numbers. These four figures came into the conversation as planning targets. They are not a published result, and they are not a Hartford or MGA case study. We do not have their baseline. The pilot exists to create it: time to a decision-ready file, accuracy of checks against the source page, cost per submission, and hours returned to judgment. If they want a guarantee, do not give one. Offer to write the four measures into the pilot, with their denominator.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one record. Pause on Assess. That is appetite, referral, and a person. Signals are indicators. They are not the truth of the control inside the insured's network. Handoff is the brief, the human action, and a status in the policy system. Nothing binds by itself. If they ask about straight-through for small business, say that is a different market, already crowded, and not this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the way a file moves. Experience is the operations bench, the underwriter bench, and what the broker sees. Workflow is the queue and the approval. Intelligence is extraction, the comparison, the appetite, and the dossier. External data is whatever they already buy: ratings, attack surface, and a catastrophe model when they want the book view. Enterprise is their policy system, CRM, documents, and identity. The bar at the bottom is non-negotiable for this buyer: access, lineage, which model version, which rule version, and an audit trail. Feeds and the policy connector are named in the statement of work. They are not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third-party slide, and the distinction a reinsurer will care about. The insured says MFA, EDR, backups. A rating or a scan agrees, disagrees, or cannot see it. All three are results. 'Cannot see it' is not a failure of the tool. Pretending the scan settled an internal control is how you get a coverage argument later. The underwriter then asks for evidence, applies appetite, and writes the reason. Name the likely partners if they ask: BitSight, SecurityScorecard, Black Kite for posture. CyberCube or Guidewire Cyence later, for the book, and only by API. A pilot can run the same interface on a mock feed.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product judgment, not a feature list. We watched the work and stopped four habits. Hunting across email became one submission record. An extraction the underwriter could not challenge became a field with a source, and a reject. A missing document became a piece of work with an owner, not a note in the margin. And operations and underwriting stopped sharing one cluttered screen. If they want a demo, show the decision the screen allows. Do not show a model reading a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call this a client. There is no TechCorp, and implying a reference logo in this room would be a mistake. It is a worked example: application, security questionnaire, incident-response plan. The point is the decision, not the extraction. Controls are checked against the page. MFA or EDR evidence is incomplete or in conflict. An outside signal is requested only where a feed is actually connected. A person refers, or asks for evidence. Offer to rerun the same path on a redacted file from their desk before anyone discusses scale. Confirm which feeds they already have before you imply one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is the point, and a VP has usually been burned by the reverse order. First, who can approve and who can override, and that the override is stored. Second, the four measures, on their baseline, before you connect the world. Third, one feed and the policy-system fields, with a data contract, not a platform program. Fourth, a second segment: more documents, more rules, another partner. A pilot that starts by integrating everything will not produce a number anyone trusts.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file a reinsurer would accept, then the ask. Do not summarize the fourteen slides. The next meeting has three products: their appetite in a form we can version, the baseline for the four measures, and a short list of which feed and which policy fields are in scope. Leave with owners and a date. Do not leave with a phase-two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406301"/>
          </a:xfrm>
          <a:prstGeom prst="rect">
            <a:avLst/>
          </a:prstGeom>
          <a:solidFill>
            <a:srgbClr val="FFFFFF"/>
          </a:solidFill>
          <a:ln/>
        </p:spPr>
        <p:txBody>
          <a:bodyPr wrap="square" rtlCol="0" anchor="ctr"/>
          <a:lstStyle/>
          <a:p>
            <a:pPr indent="0" marL="0">
              <a:buNone/>
            </a:pPr>
            <a:endParaRPr lang="en-US" dirty="0"/>
          </a:p>
        </p:txBody>
      </p:sp>
      <p:pic>
        <p:nvPicPr>
          <p:cNvPr id="3" name="Image 0" descr="/Users/chandansharma/Documents/cyber-uw/docs/client/deck/slides/birlasoft-logo-on-white.png">    </p:cNvPr>
          <p:cNvPicPr>
            <a:picLocks noChangeAspect="1"/>
          </p:cNvPicPr>
          <p:nvPr/>
        </p:nvPicPr>
        <p:blipFill>
          <a:blip r:embed="rId1"/>
          <a:stretch>
            <a:fillRect/>
          </a:stretch>
        </p:blipFill>
        <p:spPr>
          <a:xfrm>
            <a:off x="330101" y="95101"/>
            <a:ext cx="990600" cy="279350"/>
          </a:xfrm>
          <a:prstGeom prst="rect">
            <a:avLst/>
          </a:prstGeom>
        </p:spPr>
      </p:pic>
      <p:sp>
        <p:nvSpPr>
          <p:cNvPr id="4" name="Text 1"/>
          <p:cNvSpPr/>
          <p:nvPr/>
        </p:nvSpPr>
        <p:spPr>
          <a:xfrm>
            <a:off x="7748290" y="163413"/>
            <a:ext cx="1086922" cy="142875"/>
          </a:xfrm>
          <a:prstGeom prst="rect">
            <a:avLst/>
          </a:prstGeom>
          <a:noFill/>
          <a:ln/>
        </p:spPr>
        <p:txBody>
          <a:bodyPr wrap="square" lIns="0" tIns="0" rIns="0" bIns="0" rtlCol="0" anchor="t"/>
          <a:lstStyle/>
          <a:p>
            <a:pPr algn="l" indent="0" marL="0">
              <a:buNone/>
            </a:pPr>
            <a:r>
              <a:rPr lang="en-US" sz="1000" dirty="0">
                <a:solidFill>
                  <a:srgbClr val="5A5A5A"/>
                </a:solidFill>
                <a:latin typeface="Arial" pitchFamily="34" charset="0"/>
                <a:ea typeface="Arial" pitchFamily="34" charset="-122"/>
                <a:cs typeface="Arial" pitchFamily="34" charset="-120"/>
              </a:rPr>
              <a:t>Cyber underwriting</a:t>
            </a:r>
            <a:endParaRPr lang="en-US" sz="1000" dirty="0"/>
          </a:p>
        </p:txBody>
      </p:sp>
      <p:sp>
        <p:nvSpPr>
          <p:cNvPr id="5" name="Text 2"/>
          <p:cNvSpPr/>
          <p:nvPr/>
        </p:nvSpPr>
        <p:spPr>
          <a:xfrm>
            <a:off x="0" y="406301"/>
            <a:ext cx="9144000" cy="38100"/>
          </a:xfrm>
          <a:prstGeom prst="rect">
            <a:avLst/>
          </a:prstGeom>
          <a:solidFill>
            <a:srgbClr val="D0372C"/>
          </a:solidFill>
          <a:ln/>
        </p:spPr>
        <p:txBody>
          <a:bodyPr wrap="square" rtlCol="0" anchor="ctr"/>
          <a:lstStyle/>
          <a:p>
            <a:pPr indent="0" marL="0">
              <a:buNone/>
            </a:pPr>
            <a:endParaRPr lang="en-US" dirty="0"/>
          </a:p>
        </p:txBody>
      </p:sp>
      <p:sp>
        <p:nvSpPr>
          <p:cNvPr id="6" name="Text 3"/>
          <p:cNvSpPr/>
          <p:nvPr/>
        </p:nvSpPr>
        <p:spPr>
          <a:xfrm>
            <a:off x="406301" y="723751"/>
            <a:ext cx="8498026" cy="152400"/>
          </a:xfrm>
          <a:prstGeom prst="rect">
            <a:avLst/>
          </a:prstGeom>
          <a:noFill/>
          <a:ln/>
        </p:spPr>
        <p:txBody>
          <a:bodyPr wrap="square" lIns="0" tIns="0" rIns="0" bIns="0" rtlCol="0" anchor="t"/>
          <a:lstStyle/>
          <a:p>
            <a:pPr algn="l" indent="0" marL="0">
              <a:buNone/>
            </a:pPr>
            <a:r>
              <a:rPr lang="en-US" sz="1100" b="1" dirty="0">
                <a:solidFill>
                  <a:srgbClr val="D0372C"/>
                </a:solidFill>
                <a:latin typeface="Arial" pitchFamily="34" charset="0"/>
                <a:ea typeface="Arial" pitchFamily="34" charset="-122"/>
                <a:cs typeface="Arial" pitchFamily="34" charset="-120"/>
              </a:rPr>
              <a:t>FOR A CARRIER OR MGA CYBER DESK</a:t>
            </a:r>
            <a:endParaRPr lang="en-US" sz="1100" dirty="0"/>
          </a:p>
        </p:txBody>
      </p:sp>
      <p:sp>
        <p:nvSpPr>
          <p:cNvPr id="7" name="Text 4"/>
          <p:cNvSpPr/>
          <p:nvPr/>
        </p:nvSpPr>
        <p:spPr>
          <a:xfrm>
            <a:off x="406301" y="1003102"/>
            <a:ext cx="8031379" cy="426690"/>
          </a:xfrm>
          <a:prstGeom prst="rect">
            <a:avLst/>
          </a:prstGeom>
          <a:noFill/>
          <a:ln/>
        </p:spPr>
        <p:txBody>
          <a:bodyPr wrap="square" lIns="0" tIns="0" rIns="0" bIns="0" rtlCol="0" anchor="t"/>
          <a:lstStyle/>
          <a:p>
            <a:pPr algn="l" indent="0" marL="0">
              <a:lnSpc>
                <a:spcPts val="3360"/>
              </a:lnSpc>
              <a:spcBef>
                <a:spcPts val="1000"/>
              </a:spcBef>
              <a:buNone/>
            </a:pPr>
            <a:r>
              <a:rPr lang="en-US" sz="3200" dirty="0">
                <a:solidFill>
                  <a:srgbClr val="2A2A2A"/>
                </a:solidFill>
                <a:latin typeface="Georgia" pitchFamily="34" charset="0"/>
                <a:ea typeface="Georgia" pitchFamily="34" charset="-122"/>
                <a:cs typeface="Georgia" pitchFamily="34" charset="-120"/>
              </a:rPr>
              <a:t>Quote faster. Do not loosen the file.</a:t>
            </a:r>
            <a:endParaRPr lang="en-US" sz="3200" dirty="0"/>
          </a:p>
        </p:txBody>
      </p:sp>
      <p:sp>
        <p:nvSpPr>
          <p:cNvPr id="8" name="Text 5"/>
          <p:cNvSpPr/>
          <p:nvPr/>
        </p:nvSpPr>
        <p:spPr>
          <a:xfrm>
            <a:off x="406301" y="1607493"/>
            <a:ext cx="7772400" cy="514350"/>
          </a:xfrm>
          <a:prstGeom prst="rect">
            <a:avLst/>
          </a:prstGeom>
          <a:noFill/>
          <a:ln/>
        </p:spPr>
        <p:txBody>
          <a:bodyPr wrap="square" lIns="0" tIns="0" rIns="0" bIns="0" rtlCol="0" anchor="t"/>
          <a:lstStyle/>
          <a:p>
            <a:pPr algn="l" indent="0" marL="0">
              <a:lnSpc>
                <a:spcPts val="2025"/>
              </a:lnSpc>
              <a:spcBef>
                <a:spcPts val="1400"/>
              </a:spcBef>
              <a:buNone/>
            </a:pPr>
            <a:r>
              <a:rPr lang="en-US" sz="1500" dirty="0">
                <a:solidFill>
                  <a:srgbClr val="2A2A2A"/>
                </a:solidFill>
                <a:latin typeface="Arial" pitchFamily="34" charset="0"/>
                <a:ea typeface="Arial" pitchFamily="34" charset="-122"/>
                <a:cs typeface="Arial" pitchFamily="34" charset="-120"/>
              </a:rPr>
              <a:t>A workbench that takes a cyber submission from the broker's email to a decision a person signs.</a:t>
            </a:r>
            <a:endParaRPr lang="en-US" sz="1500" dirty="0"/>
          </a:p>
        </p:txBody>
      </p:sp>
      <p:sp>
        <p:nvSpPr>
          <p:cNvPr id="9" name="Text 6"/>
          <p:cNvSpPr/>
          <p:nvPr/>
        </p:nvSpPr>
        <p:spPr>
          <a:xfrm>
            <a:off x="406301" y="2223343"/>
            <a:ext cx="7513269" cy="222796"/>
          </a:xfrm>
          <a:prstGeom prst="rect">
            <a:avLst/>
          </a:prstGeom>
          <a:noFill/>
          <a:ln/>
        </p:spPr>
        <p:txBody>
          <a:bodyPr wrap="square" lIns="0" tIns="0" rIns="0" bIns="0" rtlCol="0" anchor="t"/>
          <a:lstStyle/>
          <a:p>
            <a:pPr algn="l" indent="0" marL="0">
              <a:lnSpc>
                <a:spcPts val="1755"/>
              </a:lnSpc>
              <a:spcBef>
                <a:spcPts val="800"/>
              </a:spcBef>
              <a:buNone/>
            </a:pPr>
            <a:r>
              <a:rPr lang="en-US" sz="1300" dirty="0">
                <a:solidFill>
                  <a:srgbClr val="5A5A5A"/>
                </a:solidFill>
                <a:latin typeface="Arial" pitchFamily="34" charset="0"/>
                <a:ea typeface="Arial" pitchFamily="34" charset="-122"/>
                <a:cs typeface="Arial" pitchFamily="34" charset="-120"/>
              </a:rPr>
              <a:t>You keep the paper, the appetite, and the rating vendors you already pay for.</a:t>
            </a:r>
            <a:endParaRPr lang="en-US" sz="1300" dirty="0"/>
          </a:p>
        </p:txBody>
      </p:sp>
      <p:sp>
        <p:nvSpPr>
          <p:cNvPr id="10" name="Text 7"/>
          <p:cNvSpPr/>
          <p:nvPr/>
        </p:nvSpPr>
        <p:spPr>
          <a:xfrm>
            <a:off x="0" y="4152900"/>
            <a:ext cx="9144000" cy="990600"/>
          </a:xfrm>
          <a:prstGeom prst="rect">
            <a:avLst/>
          </a:prstGeom>
          <a:solidFill>
            <a:srgbClr val="2A2A2A"/>
          </a:solidFill>
          <a:ln/>
        </p:spPr>
        <p:txBody>
          <a:bodyPr wrap="square" rtlCol="0" anchor="ctr"/>
          <a:lstStyle/>
          <a:p>
            <a:pPr indent="0" marL="0">
              <a:buNone/>
            </a:pPr>
            <a:endParaRPr lang="en-US" dirty="0"/>
          </a:p>
        </p:txBody>
      </p:sp>
      <p:sp>
        <p:nvSpPr>
          <p:cNvPr id="11" name="Text 8"/>
          <p:cNvSpPr/>
          <p:nvPr/>
        </p:nvSpPr>
        <p:spPr>
          <a:xfrm>
            <a:off x="355550" y="4330601"/>
            <a:ext cx="2627587" cy="152400"/>
          </a:xfrm>
          <a:prstGeom prst="rect">
            <a:avLst/>
          </a:prstGeom>
          <a:noFill/>
          <a:ln/>
        </p:spPr>
        <p:txBody>
          <a:bodyPr wrap="square" lIns="0" tIns="0" rIns="0" bIns="0" rtlCol="0" anchor="t"/>
          <a:lstStyle/>
          <a:p>
            <a:pPr algn="l" indent="0" marL="0">
              <a:buNone/>
            </a:pPr>
            <a:r>
              <a:rPr lang="en-US" sz="1100" b="1" dirty="0">
                <a:solidFill>
                  <a:srgbClr val="F3F3F3"/>
                </a:solidFill>
                <a:latin typeface="Arial" pitchFamily="34" charset="0"/>
                <a:ea typeface="Arial" pitchFamily="34" charset="-122"/>
                <a:cs typeface="Arial" pitchFamily="34" charset="-120"/>
              </a:rPr>
              <a:t>Attestation against signal</a:t>
            </a:r>
            <a:endParaRPr lang="en-US" sz="1100" dirty="0"/>
          </a:p>
        </p:txBody>
      </p:sp>
      <p:sp>
        <p:nvSpPr>
          <p:cNvPr id="12" name="Text 9"/>
          <p:cNvSpPr/>
          <p:nvPr/>
        </p:nvSpPr>
        <p:spPr>
          <a:xfrm>
            <a:off x="355550" y="4521101"/>
            <a:ext cx="2627587" cy="304800"/>
          </a:xfrm>
          <a:prstGeom prst="rect">
            <a:avLst/>
          </a:prstGeom>
          <a:noFill/>
          <a:ln/>
        </p:spPr>
        <p:txBody>
          <a:bodyPr wrap="square" lIns="0" tIns="0" rIns="0" bIns="0" rtlCol="0" anchor="t"/>
          <a:lstStyle/>
          <a:p>
            <a:pPr algn="l" indent="0" marL="0">
              <a:spcBef>
                <a:spcPts val="300"/>
              </a:spcBef>
              <a:buNone/>
            </a:pPr>
            <a:r>
              <a:rPr lang="en-US" sz="1100" dirty="0">
                <a:solidFill>
                  <a:srgbClr val="D0D0D0"/>
                </a:solidFill>
                <a:latin typeface="Arial" pitchFamily="34" charset="0"/>
                <a:ea typeface="Arial" pitchFamily="34" charset="-122"/>
                <a:cs typeface="Arial" pitchFamily="34" charset="-120"/>
              </a:rPr>
              <a:t>What they declared, next to what an outside feed can see.</a:t>
            </a:r>
            <a:endParaRPr lang="en-US" sz="1100" dirty="0"/>
          </a:p>
        </p:txBody>
      </p:sp>
      <p:sp>
        <p:nvSpPr>
          <p:cNvPr id="13" name="Shape 10"/>
          <p:cNvSpPr/>
          <p:nvPr/>
        </p:nvSpPr>
        <p:spPr>
          <a:xfrm>
            <a:off x="3139529" y="4152900"/>
            <a:ext cx="0" cy="990600"/>
          </a:xfrm>
          <a:prstGeom prst="line">
            <a:avLst/>
          </a:prstGeom>
          <a:noFill/>
          <a:ln w="9525">
            <a:solidFill>
              <a:srgbClr val="4A4A4A"/>
            </a:solidFill>
            <a:prstDash val="solid"/>
          </a:ln>
        </p:spPr>
      </p:sp>
      <p:sp>
        <p:nvSpPr>
          <p:cNvPr id="14" name="Text 11"/>
          <p:cNvSpPr/>
          <p:nvPr/>
        </p:nvSpPr>
        <p:spPr>
          <a:xfrm>
            <a:off x="3347442" y="4330601"/>
            <a:ext cx="2627587" cy="152400"/>
          </a:xfrm>
          <a:prstGeom prst="rect">
            <a:avLst/>
          </a:prstGeom>
          <a:noFill/>
          <a:ln/>
        </p:spPr>
        <p:txBody>
          <a:bodyPr wrap="square" lIns="0" tIns="0" rIns="0" bIns="0" rtlCol="0" anchor="t"/>
          <a:lstStyle/>
          <a:p>
            <a:pPr algn="l" indent="0" marL="0">
              <a:buNone/>
            </a:pPr>
            <a:r>
              <a:rPr lang="en-US" sz="1100" b="1" dirty="0">
                <a:solidFill>
                  <a:srgbClr val="F3F3F3"/>
                </a:solidFill>
                <a:latin typeface="Arial" pitchFamily="34" charset="0"/>
                <a:ea typeface="Arial" pitchFamily="34" charset="-122"/>
                <a:cs typeface="Arial" pitchFamily="34" charset="-120"/>
              </a:rPr>
              <a:t>Your rules, versioned</a:t>
            </a:r>
            <a:endParaRPr lang="en-US" sz="1100" dirty="0"/>
          </a:p>
        </p:txBody>
      </p:sp>
      <p:sp>
        <p:nvSpPr>
          <p:cNvPr id="15" name="Text 12"/>
          <p:cNvSpPr/>
          <p:nvPr/>
        </p:nvSpPr>
        <p:spPr>
          <a:xfrm>
            <a:off x="3347442" y="4521101"/>
            <a:ext cx="2627587" cy="304800"/>
          </a:xfrm>
          <a:prstGeom prst="rect">
            <a:avLst/>
          </a:prstGeom>
          <a:noFill/>
          <a:ln/>
        </p:spPr>
        <p:txBody>
          <a:bodyPr wrap="square" lIns="0" tIns="0" rIns="0" bIns="0" rtlCol="0" anchor="t"/>
          <a:lstStyle/>
          <a:p>
            <a:pPr algn="l" indent="0" marL="0">
              <a:spcBef>
                <a:spcPts val="300"/>
              </a:spcBef>
              <a:buNone/>
            </a:pPr>
            <a:r>
              <a:rPr lang="en-US" sz="1100" dirty="0">
                <a:solidFill>
                  <a:srgbClr val="D0D0D0"/>
                </a:solidFill>
                <a:latin typeface="Arial" pitchFamily="34" charset="0"/>
                <a:ea typeface="Arial" pitchFamily="34" charset="-122"/>
                <a:cs typeface="Arial" pitchFamily="34" charset="-120"/>
              </a:rPr>
              <a:t>Quote, refer, or decline, with the rule that fired.</a:t>
            </a:r>
            <a:endParaRPr lang="en-US" sz="1100" dirty="0"/>
          </a:p>
        </p:txBody>
      </p:sp>
      <p:sp>
        <p:nvSpPr>
          <p:cNvPr id="16" name="Shape 13"/>
          <p:cNvSpPr/>
          <p:nvPr/>
        </p:nvSpPr>
        <p:spPr>
          <a:xfrm>
            <a:off x="6131421" y="4152900"/>
            <a:ext cx="0" cy="990600"/>
          </a:xfrm>
          <a:prstGeom prst="line">
            <a:avLst/>
          </a:prstGeom>
          <a:noFill/>
          <a:ln w="9525">
            <a:solidFill>
              <a:srgbClr val="4A4A4A"/>
            </a:solidFill>
            <a:prstDash val="solid"/>
          </a:ln>
        </p:spPr>
      </p:sp>
      <p:sp>
        <p:nvSpPr>
          <p:cNvPr id="17" name="Text 14"/>
          <p:cNvSpPr/>
          <p:nvPr/>
        </p:nvSpPr>
        <p:spPr>
          <a:xfrm>
            <a:off x="6339334" y="4330601"/>
            <a:ext cx="2627587" cy="152400"/>
          </a:xfrm>
          <a:prstGeom prst="rect">
            <a:avLst/>
          </a:prstGeom>
          <a:noFill/>
          <a:ln/>
        </p:spPr>
        <p:txBody>
          <a:bodyPr wrap="square" lIns="0" tIns="0" rIns="0" bIns="0" rtlCol="0" anchor="t"/>
          <a:lstStyle/>
          <a:p>
            <a:pPr algn="l" indent="0" marL="0">
              <a:buNone/>
            </a:pPr>
            <a:r>
              <a:rPr lang="en-US" sz="1100" b="1" dirty="0">
                <a:solidFill>
                  <a:srgbClr val="F3F3F3"/>
                </a:solidFill>
                <a:latin typeface="Arial" pitchFamily="34" charset="0"/>
                <a:ea typeface="Arial" pitchFamily="34" charset="-122"/>
                <a:cs typeface="Arial" pitchFamily="34" charset="-120"/>
              </a:rPr>
              <a:t>A file you can hand on</a:t>
            </a:r>
            <a:endParaRPr lang="en-US" sz="1100" dirty="0"/>
          </a:p>
        </p:txBody>
      </p:sp>
      <p:sp>
        <p:nvSpPr>
          <p:cNvPr id="18" name="Text 15"/>
          <p:cNvSpPr/>
          <p:nvPr/>
        </p:nvSpPr>
        <p:spPr>
          <a:xfrm>
            <a:off x="6339334" y="4521101"/>
            <a:ext cx="2627587" cy="304800"/>
          </a:xfrm>
          <a:prstGeom prst="rect">
            <a:avLst/>
          </a:prstGeom>
          <a:noFill/>
          <a:ln/>
        </p:spPr>
        <p:txBody>
          <a:bodyPr wrap="square" lIns="0" tIns="0" rIns="0" bIns="0" rtlCol="0" anchor="t"/>
          <a:lstStyle/>
          <a:p>
            <a:pPr algn="l" indent="0" marL="0">
              <a:spcBef>
                <a:spcPts val="300"/>
              </a:spcBef>
              <a:buNone/>
            </a:pPr>
            <a:r>
              <a:rPr lang="en-US" sz="1100" dirty="0">
                <a:solidFill>
                  <a:srgbClr val="D0D0D0"/>
                </a:solidFill>
                <a:latin typeface="Arial" pitchFamily="34" charset="0"/>
                <a:ea typeface="Arial" pitchFamily="34" charset="-122"/>
                <a:cs typeface="Arial" pitchFamily="34" charset="-120"/>
              </a:rPr>
              <a:t>Dossier out. Status into the policy system.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406301"/>
          </a:xfrm>
          <a:prstGeom prst="rect">
            <a:avLst/>
          </a:prstGeom>
          <a:solidFill>
            <a:srgbClr val="FFFFFF"/>
          </a:solidFill>
          <a:ln/>
        </p:spPr>
        <p:txBody>
          <a:bodyPr wrap="square" rtlCol="0" anchor="ctr"/>
          <a:lstStyle/>
          <a:p>
            <a:pPr indent="0" marL="0">
              <a:buNone/>
            </a:pPr>
            <a:endParaRPr lang="en-US" dirty="0"/>
          </a:p>
        </p:txBody>
      </p:sp>
      <p:pic>
        <p:nvPicPr>
          <p:cNvPr id="3" name="Image 0" descr="/Users/chandansharma/Documents/cyber-uw/docs/client/deck/slides/birlasoft-logo-on-white.png">    </p:cNvPr>
          <p:cNvPicPr>
            <a:picLocks noChangeAspect="1"/>
          </p:cNvPicPr>
          <p:nvPr/>
        </p:nvPicPr>
        <p:blipFill>
          <a:blip r:embed="rId1"/>
          <a:stretch>
            <a:fillRect/>
          </a:stretch>
        </p:blipFill>
        <p:spPr>
          <a:xfrm>
            <a:off x="330101" y="95101"/>
            <a:ext cx="990600" cy="279350"/>
          </a:xfrm>
          <a:prstGeom prst="rect">
            <a:avLst/>
          </a:prstGeom>
        </p:spPr>
      </p:pic>
      <p:sp>
        <p:nvSpPr>
          <p:cNvPr id="4" name="Text 1"/>
          <p:cNvSpPr/>
          <p:nvPr/>
        </p:nvSpPr>
        <p:spPr>
          <a:xfrm>
            <a:off x="8171706" y="163413"/>
            <a:ext cx="655037" cy="142875"/>
          </a:xfrm>
          <a:prstGeom prst="rect">
            <a:avLst/>
          </a:prstGeom>
          <a:noFill/>
          <a:ln/>
        </p:spPr>
        <p:txBody>
          <a:bodyPr wrap="square" lIns="0" tIns="0" rIns="0" bIns="0" rtlCol="0" anchor="t"/>
          <a:lstStyle/>
          <a:p>
            <a:pPr algn="l" indent="0" marL="0">
              <a:buNone/>
            </a:pPr>
            <a:r>
              <a:rPr lang="en-US" sz="1000" dirty="0">
                <a:solidFill>
                  <a:srgbClr val="5A5A5A"/>
                </a:solidFill>
                <a:latin typeface="Arial" pitchFamily="34" charset="0"/>
                <a:ea typeface="Arial" pitchFamily="34" charset="-122"/>
                <a:cs typeface="Arial" pitchFamily="34" charset="-120"/>
              </a:rPr>
              <a:t>The market</a:t>
            </a:r>
            <a:endParaRPr lang="en-US" sz="1000" dirty="0"/>
          </a:p>
        </p:txBody>
      </p:sp>
      <p:sp>
        <p:nvSpPr>
          <p:cNvPr id="5" name="Text 2"/>
          <p:cNvSpPr/>
          <p:nvPr/>
        </p:nvSpPr>
        <p:spPr>
          <a:xfrm>
            <a:off x="0" y="406301"/>
            <a:ext cx="9144000" cy="38100"/>
          </a:xfrm>
          <a:prstGeom prst="rect">
            <a:avLst/>
          </a:prstGeom>
          <a:solidFill>
            <a:srgbClr val="D0372C"/>
          </a:solidFill>
          <a:ln/>
        </p:spPr>
        <p:txBody>
          <a:bodyPr wrap="square" rtlCol="0" anchor="ctr"/>
          <a:lstStyle/>
          <a:p>
            <a:pPr indent="0" marL="0">
              <a:buNone/>
            </a:pPr>
            <a:endParaRPr lang="en-US" dirty="0"/>
          </a:p>
        </p:txBody>
      </p:sp>
      <p:sp>
        <p:nvSpPr>
          <p:cNvPr id="6" name="Text 3"/>
          <p:cNvSpPr/>
          <p:nvPr/>
        </p:nvSpPr>
        <p:spPr>
          <a:xfrm>
            <a:off x="330101" y="596801"/>
            <a:ext cx="8653474"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CONTEXT</a:t>
            </a:r>
            <a:endParaRPr lang="en-US" sz="1000" dirty="0"/>
          </a:p>
        </p:txBody>
      </p:sp>
      <p:sp>
        <p:nvSpPr>
          <p:cNvPr id="7" name="Text 4"/>
          <p:cNvSpPr/>
          <p:nvPr/>
        </p:nvSpPr>
        <p:spPr>
          <a:xfrm>
            <a:off x="330101" y="790426"/>
            <a:ext cx="8653474" cy="312837"/>
          </a:xfrm>
          <a:prstGeom prst="rect">
            <a:avLst/>
          </a:prstGeom>
          <a:noFill/>
          <a:ln/>
        </p:spPr>
        <p:txBody>
          <a:bodyPr wrap="square" lIns="0" tIns="0" rIns="0" bIns="0" rtlCol="0" anchor="t"/>
          <a:lstStyle/>
          <a:p>
            <a:pPr algn="l" indent="0" marL="0">
              <a:lnSpc>
                <a:spcPts val="2464"/>
              </a:lnSpc>
              <a:spcBef>
                <a:spcPts val="400"/>
              </a:spcBef>
              <a:buNone/>
            </a:pPr>
            <a:r>
              <a:rPr lang="en-US" sz="2200" dirty="0">
                <a:solidFill>
                  <a:srgbClr val="2A2A2A"/>
                </a:solidFill>
                <a:latin typeface="Georgia" pitchFamily="34" charset="0"/>
                <a:ea typeface="Georgia" pitchFamily="34" charset="-122"/>
                <a:cs typeface="Georgia" pitchFamily="34" charset="-120"/>
              </a:rPr>
              <a:t>Cyber got cheaper. The file did not.</a:t>
            </a:r>
            <a:endParaRPr lang="en-US" sz="2200" dirty="0"/>
          </a:p>
        </p:txBody>
      </p:sp>
      <p:sp>
        <p:nvSpPr>
          <p:cNvPr id="8" name="Text 5"/>
          <p:cNvSpPr/>
          <p:nvPr/>
        </p:nvSpPr>
        <p:spPr>
          <a:xfrm>
            <a:off x="330101" y="1154013"/>
            <a:ext cx="8653474" cy="198090"/>
          </a:xfrm>
          <a:prstGeom prst="rect">
            <a:avLst/>
          </a:prstGeom>
          <a:noFill/>
          <a:ln/>
        </p:spPr>
        <p:txBody>
          <a:bodyPr wrap="square" lIns="0" tIns="0" rIns="0" bIns="0" rtlCol="0" anchor="t"/>
          <a:lstStyle/>
          <a:p>
            <a:pPr algn="l" indent="0" marL="0">
              <a:lnSpc>
                <a:spcPts val="1560"/>
              </a:lnSpc>
              <a:spcBef>
                <a:spcPts val="400"/>
              </a:spcBef>
              <a:buNone/>
            </a:pPr>
            <a:r>
              <a:rPr lang="en-US" sz="1200" dirty="0">
                <a:solidFill>
                  <a:srgbClr val="5A5A5A"/>
                </a:solidFill>
                <a:latin typeface="Arial" pitchFamily="34" charset="0"/>
                <a:ea typeface="Arial" pitchFamily="34" charset="-122"/>
                <a:cs typeface="Arial" pitchFamily="34" charset="-120"/>
              </a:rPr>
              <a:t>Brokers shop turnaround. A faster yes, on an unchecked control, is the larger exposure.</a:t>
            </a:r>
            <a:endParaRPr lang="en-US" sz="1200" dirty="0"/>
          </a:p>
        </p:txBody>
      </p:sp>
      <p:sp>
        <p:nvSpPr>
          <p:cNvPr id="9" name="Shape 6"/>
          <p:cNvSpPr/>
          <p:nvPr/>
        </p:nvSpPr>
        <p:spPr>
          <a:xfrm>
            <a:off x="330101" y="1523554"/>
            <a:ext cx="2709416" cy="0"/>
          </a:xfrm>
          <a:prstGeom prst="line">
            <a:avLst/>
          </a:prstGeom>
          <a:noFill/>
          <a:ln w="38100">
            <a:solidFill>
              <a:srgbClr val="D0372C"/>
            </a:solidFill>
            <a:prstDash val="solid"/>
          </a:ln>
        </p:spPr>
      </p:sp>
      <p:sp>
        <p:nvSpPr>
          <p:cNvPr id="10" name="Text 7"/>
          <p:cNvSpPr/>
          <p:nvPr/>
        </p:nvSpPr>
        <p:spPr>
          <a:xfrm>
            <a:off x="330101" y="1644104"/>
            <a:ext cx="2763604" cy="400050"/>
          </a:xfrm>
          <a:prstGeom prst="rect">
            <a:avLst/>
          </a:prstGeom>
          <a:noFill/>
          <a:ln/>
        </p:spPr>
        <p:txBody>
          <a:bodyPr wrap="square" lIns="0" tIns="0" rIns="0" bIns="0" rtlCol="0" anchor="t"/>
          <a:lstStyle/>
          <a:p>
            <a:pPr algn="l" indent="0" marL="0">
              <a:buNone/>
            </a:pPr>
            <a:r>
              <a:rPr lang="en-US" sz="2800" dirty="0">
                <a:solidFill>
                  <a:srgbClr val="2A2A2A"/>
                </a:solidFill>
                <a:latin typeface="Georgia" pitchFamily="34" charset="0"/>
                <a:ea typeface="Georgia" pitchFamily="34" charset="-122"/>
                <a:cs typeface="Georgia" pitchFamily="34" charset="-120"/>
              </a:rPr>
              <a:t>−4%</a:t>
            </a:r>
            <a:endParaRPr lang="en-US" sz="2800" dirty="0"/>
          </a:p>
        </p:txBody>
      </p:sp>
      <p:sp>
        <p:nvSpPr>
          <p:cNvPr id="11" name="Text 8"/>
          <p:cNvSpPr/>
          <p:nvPr/>
        </p:nvSpPr>
        <p:spPr>
          <a:xfrm>
            <a:off x="330101" y="2094905"/>
            <a:ext cx="2763604" cy="200025"/>
          </a:xfrm>
          <a:prstGeom prst="rect">
            <a:avLst/>
          </a:prstGeom>
          <a:noFill/>
          <a:ln/>
        </p:spPr>
        <p:txBody>
          <a:bodyPr wrap="square" lIns="0" tIns="0" rIns="0" bIns="0" rtlCol="0" anchor="t"/>
          <a:lstStyle/>
          <a:p>
            <a:pPr algn="l" indent="0" marL="0">
              <a:spcBef>
                <a:spcPts val="400"/>
              </a:spcBef>
              <a:buNone/>
            </a:pPr>
            <a:r>
              <a:rPr lang="en-US" sz="1300" b="1" dirty="0">
                <a:solidFill>
                  <a:srgbClr val="2A2A2A"/>
                </a:solidFill>
                <a:latin typeface="Arial" pitchFamily="34" charset="0"/>
                <a:ea typeface="Arial" pitchFamily="34" charset="-122"/>
                <a:cs typeface="Arial" pitchFamily="34" charset="-120"/>
              </a:rPr>
              <a:t>Global cyber rates</a:t>
            </a:r>
            <a:endParaRPr lang="en-US" sz="1300" dirty="0"/>
          </a:p>
        </p:txBody>
      </p:sp>
      <p:sp>
        <p:nvSpPr>
          <p:cNvPr id="12" name="Text 9"/>
          <p:cNvSpPr/>
          <p:nvPr/>
        </p:nvSpPr>
        <p:spPr>
          <a:xfrm>
            <a:off x="330101" y="2333030"/>
            <a:ext cx="2763604" cy="363141"/>
          </a:xfrm>
          <a:prstGeom prst="rect">
            <a:avLst/>
          </a:prstGeom>
          <a:noFill/>
          <a:ln/>
        </p:spPr>
        <p:txBody>
          <a:bodyPr wrap="square" lIns="0" tIns="0" rIns="0" bIns="0" rtlCol="0" anchor="t"/>
          <a:lstStyle/>
          <a:p>
            <a:pPr algn="l" indent="0" marL="0">
              <a:lnSpc>
                <a:spcPts val="1430"/>
              </a:lnSpc>
              <a:spcBef>
                <a:spcPts val="300"/>
              </a:spcBef>
              <a:buNone/>
            </a:pPr>
            <a:r>
              <a:rPr lang="en-US" sz="1100" dirty="0">
                <a:solidFill>
                  <a:srgbClr val="5A5A5A"/>
                </a:solidFill>
                <a:latin typeface="Arial" pitchFamily="34" charset="0"/>
                <a:ea typeface="Arial" pitchFamily="34" charset="-122"/>
                <a:cs typeface="Arial" pitchFamily="34" charset="-120"/>
              </a:rPr>
              <a:t>Q2 2026. Twelfth straight quarterly decline. Marsh.</a:t>
            </a:r>
            <a:endParaRPr lang="en-US" sz="1100" dirty="0"/>
          </a:p>
        </p:txBody>
      </p:sp>
      <p:sp>
        <p:nvSpPr>
          <p:cNvPr id="13" name="Shape 10"/>
          <p:cNvSpPr/>
          <p:nvPr/>
        </p:nvSpPr>
        <p:spPr>
          <a:xfrm>
            <a:off x="3217218" y="1523554"/>
            <a:ext cx="2709565" cy="0"/>
          </a:xfrm>
          <a:prstGeom prst="line">
            <a:avLst/>
          </a:prstGeom>
          <a:noFill/>
          <a:ln w="38100">
            <a:solidFill>
              <a:srgbClr val="2A2A2A"/>
            </a:solidFill>
            <a:prstDash val="solid"/>
          </a:ln>
        </p:spPr>
      </p:sp>
      <p:sp>
        <p:nvSpPr>
          <p:cNvPr id="14" name="Text 11"/>
          <p:cNvSpPr/>
          <p:nvPr/>
        </p:nvSpPr>
        <p:spPr>
          <a:xfrm>
            <a:off x="3217218" y="1644104"/>
            <a:ext cx="2763756" cy="400050"/>
          </a:xfrm>
          <a:prstGeom prst="rect">
            <a:avLst/>
          </a:prstGeom>
          <a:noFill/>
          <a:ln/>
        </p:spPr>
        <p:txBody>
          <a:bodyPr wrap="square" lIns="0" tIns="0" rIns="0" bIns="0" rtlCol="0" anchor="t"/>
          <a:lstStyle/>
          <a:p>
            <a:pPr algn="l" indent="0" marL="0">
              <a:buNone/>
            </a:pPr>
            <a:r>
              <a:rPr lang="en-US" sz="2800" dirty="0">
                <a:solidFill>
                  <a:srgbClr val="2A2A2A"/>
                </a:solidFill>
                <a:latin typeface="Georgia" pitchFamily="34" charset="0"/>
                <a:ea typeface="Georgia" pitchFamily="34" charset="-122"/>
                <a:cs typeface="Georgia" pitchFamily="34" charset="-120"/>
              </a:rPr>
              <a:t>12</a:t>
            </a:r>
            <a:endParaRPr lang="en-US" sz="2800" dirty="0"/>
          </a:p>
        </p:txBody>
      </p:sp>
      <p:sp>
        <p:nvSpPr>
          <p:cNvPr id="15" name="Text 12"/>
          <p:cNvSpPr/>
          <p:nvPr/>
        </p:nvSpPr>
        <p:spPr>
          <a:xfrm>
            <a:off x="3217218" y="2094905"/>
            <a:ext cx="2763756" cy="200025"/>
          </a:xfrm>
          <a:prstGeom prst="rect">
            <a:avLst/>
          </a:prstGeom>
          <a:noFill/>
          <a:ln/>
        </p:spPr>
        <p:txBody>
          <a:bodyPr wrap="square" lIns="0" tIns="0" rIns="0" bIns="0" rtlCol="0" anchor="t"/>
          <a:lstStyle/>
          <a:p>
            <a:pPr algn="l" indent="0" marL="0">
              <a:spcBef>
                <a:spcPts val="400"/>
              </a:spcBef>
              <a:buNone/>
            </a:pPr>
            <a:r>
              <a:rPr lang="en-US" sz="1300" b="1" dirty="0">
                <a:solidFill>
                  <a:srgbClr val="2A2A2A"/>
                </a:solidFill>
                <a:latin typeface="Arial" pitchFamily="34" charset="0"/>
                <a:ea typeface="Arial" pitchFamily="34" charset="-122"/>
                <a:cs typeface="Arial" pitchFamily="34" charset="-120"/>
              </a:rPr>
              <a:t>Quarters of decline</a:t>
            </a:r>
            <a:endParaRPr lang="en-US" sz="1300" dirty="0"/>
          </a:p>
        </p:txBody>
      </p:sp>
      <p:sp>
        <p:nvSpPr>
          <p:cNvPr id="16" name="Text 13"/>
          <p:cNvSpPr/>
          <p:nvPr/>
        </p:nvSpPr>
        <p:spPr>
          <a:xfrm>
            <a:off x="3217218" y="2333030"/>
            <a:ext cx="2763756" cy="363141"/>
          </a:xfrm>
          <a:prstGeom prst="rect">
            <a:avLst/>
          </a:prstGeom>
          <a:noFill/>
          <a:ln/>
        </p:spPr>
        <p:txBody>
          <a:bodyPr wrap="square" lIns="0" tIns="0" rIns="0" bIns="0" rtlCol="0" anchor="t"/>
          <a:lstStyle/>
          <a:p>
            <a:pPr algn="l" indent="0" marL="0">
              <a:lnSpc>
                <a:spcPts val="1430"/>
              </a:lnSpc>
              <a:spcBef>
                <a:spcPts val="300"/>
              </a:spcBef>
              <a:buNone/>
            </a:pPr>
            <a:r>
              <a:rPr lang="en-US" sz="1100" dirty="0">
                <a:solidFill>
                  <a:srgbClr val="5A5A5A"/>
                </a:solidFill>
                <a:latin typeface="Arial" pitchFamily="34" charset="0"/>
                <a:ea typeface="Arial" pitchFamily="34" charset="-122"/>
                <a:cs typeface="Arial" pitchFamily="34" charset="-120"/>
              </a:rPr>
              <a:t>Same Marsh index. The soft market is not a one-quarter story.</a:t>
            </a:r>
            <a:endParaRPr lang="en-US" sz="1100" dirty="0"/>
          </a:p>
        </p:txBody>
      </p:sp>
      <p:sp>
        <p:nvSpPr>
          <p:cNvPr id="17" name="Shape 14"/>
          <p:cNvSpPr/>
          <p:nvPr/>
        </p:nvSpPr>
        <p:spPr>
          <a:xfrm>
            <a:off x="6104483" y="1523554"/>
            <a:ext cx="2709416" cy="0"/>
          </a:xfrm>
          <a:prstGeom prst="line">
            <a:avLst/>
          </a:prstGeom>
          <a:noFill/>
          <a:ln w="38100">
            <a:solidFill>
              <a:srgbClr val="2A2A2A"/>
            </a:solidFill>
            <a:prstDash val="solid"/>
          </a:ln>
        </p:spPr>
      </p:sp>
      <p:sp>
        <p:nvSpPr>
          <p:cNvPr id="18" name="Text 15"/>
          <p:cNvSpPr/>
          <p:nvPr/>
        </p:nvSpPr>
        <p:spPr>
          <a:xfrm>
            <a:off x="6104483" y="1644104"/>
            <a:ext cx="2763604" cy="400050"/>
          </a:xfrm>
          <a:prstGeom prst="rect">
            <a:avLst/>
          </a:prstGeom>
          <a:noFill/>
          <a:ln/>
        </p:spPr>
        <p:txBody>
          <a:bodyPr wrap="square" lIns="0" tIns="0" rIns="0" bIns="0" rtlCol="0" anchor="t"/>
          <a:lstStyle/>
          <a:p>
            <a:pPr algn="l" indent="0" marL="0">
              <a:buNone/>
            </a:pPr>
            <a:r>
              <a:rPr lang="en-US" sz="2800" dirty="0">
                <a:solidFill>
                  <a:srgbClr val="2A2A2A"/>
                </a:solidFill>
                <a:latin typeface="Georgia" pitchFamily="34" charset="0"/>
                <a:ea typeface="Georgia" pitchFamily="34" charset="-122"/>
                <a:cs typeface="Georgia" pitchFamily="34" charset="-120"/>
              </a:rPr>
              <a:t>~70%</a:t>
            </a:r>
            <a:endParaRPr lang="en-US" sz="2800" dirty="0"/>
          </a:p>
        </p:txBody>
      </p:sp>
      <p:sp>
        <p:nvSpPr>
          <p:cNvPr id="19" name="Text 16"/>
          <p:cNvSpPr/>
          <p:nvPr/>
        </p:nvSpPr>
        <p:spPr>
          <a:xfrm>
            <a:off x="6104483" y="2094905"/>
            <a:ext cx="2763604" cy="200025"/>
          </a:xfrm>
          <a:prstGeom prst="rect">
            <a:avLst/>
          </a:prstGeom>
          <a:noFill/>
          <a:ln/>
        </p:spPr>
        <p:txBody>
          <a:bodyPr wrap="square" lIns="0" tIns="0" rIns="0" bIns="0" rtlCol="0" anchor="t"/>
          <a:lstStyle/>
          <a:p>
            <a:pPr algn="l" indent="0" marL="0">
              <a:spcBef>
                <a:spcPts val="400"/>
              </a:spcBef>
              <a:buNone/>
            </a:pPr>
            <a:r>
              <a:rPr lang="en-US" sz="1300" b="1" dirty="0">
                <a:solidFill>
                  <a:srgbClr val="2A2A2A"/>
                </a:solidFill>
                <a:latin typeface="Arial" pitchFamily="34" charset="0"/>
                <a:ea typeface="Arial" pitchFamily="34" charset="-122"/>
                <a:cs typeface="Arial" pitchFamily="34" charset="-120"/>
              </a:rPr>
              <a:t>Call it a brokers' market</a:t>
            </a:r>
            <a:endParaRPr lang="en-US" sz="1300" dirty="0"/>
          </a:p>
        </p:txBody>
      </p:sp>
      <p:sp>
        <p:nvSpPr>
          <p:cNvPr id="20" name="Text 17"/>
          <p:cNvSpPr/>
          <p:nvPr/>
        </p:nvSpPr>
        <p:spPr>
          <a:xfrm>
            <a:off x="6104483" y="2333030"/>
            <a:ext cx="2763604" cy="363141"/>
          </a:xfrm>
          <a:prstGeom prst="rect">
            <a:avLst/>
          </a:prstGeom>
          <a:noFill/>
          <a:ln/>
        </p:spPr>
        <p:txBody>
          <a:bodyPr wrap="square" lIns="0" tIns="0" rIns="0" bIns="0" rtlCol="0" anchor="t"/>
          <a:lstStyle/>
          <a:p>
            <a:pPr algn="l" indent="0" marL="0">
              <a:lnSpc>
                <a:spcPts val="1430"/>
              </a:lnSpc>
              <a:spcBef>
                <a:spcPts val="300"/>
              </a:spcBef>
              <a:buNone/>
            </a:pPr>
            <a:r>
              <a:rPr lang="en-US" sz="1100" dirty="0">
                <a:solidFill>
                  <a:srgbClr val="5A5A5A"/>
                </a:solidFill>
                <a:latin typeface="Arial" pitchFamily="34" charset="0"/>
                <a:ea typeface="Arial" pitchFamily="34" charset="-122"/>
                <a:cs typeface="Arial" pitchFamily="34" charset="-120"/>
              </a:rPr>
              <a:t>Everest and Zywave, underwriter survey, January 2024.</a:t>
            </a:r>
            <a:endParaRPr lang="en-US" sz="1100" dirty="0"/>
          </a:p>
        </p:txBody>
      </p:sp>
      <p:sp>
        <p:nvSpPr>
          <p:cNvPr id="21" name="Text 18"/>
          <p:cNvSpPr/>
          <p:nvPr/>
        </p:nvSpPr>
        <p:spPr>
          <a:xfrm>
            <a:off x="330101" y="2848570"/>
            <a:ext cx="8483798" cy="614363"/>
          </a:xfrm>
          <a:prstGeom prst="rect">
            <a:avLst/>
          </a:prstGeom>
          <a:solidFill>
            <a:srgbClr val="F4F4F4"/>
          </a:solidFill>
          <a:ln/>
        </p:spPr>
        <p:txBody>
          <a:bodyPr wrap="square" rtlCol="0" anchor="ctr"/>
          <a:lstStyle/>
          <a:p>
            <a:pPr indent="0" marL="0">
              <a:buNone/>
            </a:pPr>
            <a:endParaRPr lang="en-US" dirty="0"/>
          </a:p>
        </p:txBody>
      </p:sp>
      <p:sp>
        <p:nvSpPr>
          <p:cNvPr id="22" name="Text 19"/>
          <p:cNvSpPr/>
          <p:nvPr/>
        </p:nvSpPr>
        <p:spPr>
          <a:xfrm>
            <a:off x="482501" y="2950071"/>
            <a:ext cx="8342578" cy="411361"/>
          </a:xfrm>
          <a:prstGeom prst="rect">
            <a:avLst/>
          </a:prstGeom>
          <a:noFill/>
          <a:ln/>
        </p:spPr>
        <p:txBody>
          <a:bodyPr wrap="square" lIns="0" tIns="0" rIns="0" bIns="0" rtlCol="0" anchor="t"/>
          <a:lstStyle/>
          <a:p>
            <a:pPr algn="l" indent="0" marL="0">
              <a:lnSpc>
                <a:spcPts val="1620"/>
              </a:lnSpc>
              <a:buNone/>
            </a:pPr>
            <a:r>
              <a:rPr lang="en-US" sz="1200" dirty="0">
                <a:solidFill>
                  <a:srgbClr val="2A2A2A"/>
                </a:solidFill>
                <a:latin typeface="Arial" pitchFamily="34" charset="0"/>
                <a:ea typeface="Arial" pitchFamily="34" charset="-122"/>
                <a:cs typeface="Arial" pitchFamily="34" charset="-120"/>
              </a:rPr>
              <a:t>In that survey, about half of primary underwriters reported flat or negative rate. Swiss Re's point is the one to hold: the concession shows up in the control, not only in the premium.</a:t>
            </a:r>
            <a:endParaRPr lang="en-US" sz="1200" dirty="0"/>
          </a:p>
        </p:txBody>
      </p:sp>
      <p:sp>
        <p:nvSpPr>
          <p:cNvPr id="23" name="Text 20"/>
          <p:cNvSpPr/>
          <p:nvPr/>
        </p:nvSpPr>
        <p:spPr>
          <a:xfrm>
            <a:off x="330101" y="3545384"/>
            <a:ext cx="1956914"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Cyber underwriting  ·  Client discussion</a:t>
            </a:r>
            <a:endParaRPr lang="en-US" sz="900" dirty="0"/>
          </a:p>
        </p:txBody>
      </p:sp>
      <p:sp>
        <p:nvSpPr>
          <p:cNvPr id="24" name="Text 21"/>
          <p:cNvSpPr/>
          <p:nvPr/>
        </p:nvSpPr>
        <p:spPr>
          <a:xfrm>
            <a:off x="8686651" y="3545384"/>
            <a:ext cx="129793"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406301"/>
          </a:xfrm>
          <a:prstGeom prst="rect">
            <a:avLst/>
          </a:prstGeom>
          <a:solidFill>
            <a:srgbClr val="FFFFFF"/>
          </a:solidFill>
          <a:ln/>
        </p:spPr>
        <p:txBody>
          <a:bodyPr wrap="square" rtlCol="0" anchor="ctr"/>
          <a:lstStyle/>
          <a:p>
            <a:pPr indent="0" marL="0">
              <a:buNone/>
            </a:pPr>
            <a:endParaRPr lang="en-US" dirty="0"/>
          </a:p>
        </p:txBody>
      </p:sp>
      <p:pic>
        <p:nvPicPr>
          <p:cNvPr id="3" name="Image 0" descr="/Users/chandansharma/Documents/cyber-uw/docs/client/deck/slides/birlasoft-logo-on-white.png">    </p:cNvPr>
          <p:cNvPicPr>
            <a:picLocks noChangeAspect="1"/>
          </p:cNvPicPr>
          <p:nvPr/>
        </p:nvPicPr>
        <p:blipFill>
          <a:blip r:embed="rId1"/>
          <a:stretch>
            <a:fillRect/>
          </a:stretch>
        </p:blipFill>
        <p:spPr>
          <a:xfrm>
            <a:off x="330101" y="95101"/>
            <a:ext cx="990600" cy="279350"/>
          </a:xfrm>
          <a:prstGeom prst="rect">
            <a:avLst/>
          </a:prstGeom>
        </p:spPr>
      </p:pic>
      <p:sp>
        <p:nvSpPr>
          <p:cNvPr id="4" name="Text 1"/>
          <p:cNvSpPr/>
          <p:nvPr/>
        </p:nvSpPr>
        <p:spPr>
          <a:xfrm>
            <a:off x="8291513" y="163413"/>
            <a:ext cx="532834" cy="142875"/>
          </a:xfrm>
          <a:prstGeom prst="rect">
            <a:avLst/>
          </a:prstGeom>
          <a:noFill/>
          <a:ln/>
        </p:spPr>
        <p:txBody>
          <a:bodyPr wrap="square" lIns="0" tIns="0" rIns="0" bIns="0" rtlCol="0" anchor="t"/>
          <a:lstStyle/>
          <a:p>
            <a:pPr algn="l" indent="0" marL="0">
              <a:buNone/>
            </a:pPr>
            <a:r>
              <a:rPr lang="en-US" sz="1000" dirty="0">
                <a:solidFill>
                  <a:srgbClr val="5A5A5A"/>
                </a:solidFill>
                <a:latin typeface="Arial" pitchFamily="34" charset="0"/>
                <a:ea typeface="Arial" pitchFamily="34" charset="-122"/>
                <a:cs typeface="Arial" pitchFamily="34" charset="-120"/>
              </a:rPr>
              <a:t>The desk</a:t>
            </a:r>
            <a:endParaRPr lang="en-US" sz="1000" dirty="0"/>
          </a:p>
        </p:txBody>
      </p:sp>
      <p:sp>
        <p:nvSpPr>
          <p:cNvPr id="5" name="Text 2"/>
          <p:cNvSpPr/>
          <p:nvPr/>
        </p:nvSpPr>
        <p:spPr>
          <a:xfrm>
            <a:off x="0" y="406301"/>
            <a:ext cx="9144000" cy="38100"/>
          </a:xfrm>
          <a:prstGeom prst="rect">
            <a:avLst/>
          </a:prstGeom>
          <a:solidFill>
            <a:srgbClr val="D0372C"/>
          </a:solidFill>
          <a:ln/>
        </p:spPr>
        <p:txBody>
          <a:bodyPr wrap="square" rtlCol="0" anchor="ctr"/>
          <a:lstStyle/>
          <a:p>
            <a:pPr indent="0" marL="0">
              <a:buNone/>
            </a:pPr>
            <a:endParaRPr lang="en-US" dirty="0"/>
          </a:p>
        </p:txBody>
      </p:sp>
      <p:sp>
        <p:nvSpPr>
          <p:cNvPr id="6" name="Text 3"/>
          <p:cNvSpPr/>
          <p:nvPr/>
        </p:nvSpPr>
        <p:spPr>
          <a:xfrm>
            <a:off x="330101" y="596801"/>
            <a:ext cx="8653474"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CONTEXT</a:t>
            </a:r>
            <a:endParaRPr lang="en-US" sz="1000" dirty="0"/>
          </a:p>
        </p:txBody>
      </p:sp>
      <p:sp>
        <p:nvSpPr>
          <p:cNvPr id="7" name="Text 4"/>
          <p:cNvSpPr/>
          <p:nvPr/>
        </p:nvSpPr>
        <p:spPr>
          <a:xfrm>
            <a:off x="330101" y="790426"/>
            <a:ext cx="8653474" cy="312837"/>
          </a:xfrm>
          <a:prstGeom prst="rect">
            <a:avLst/>
          </a:prstGeom>
          <a:noFill/>
          <a:ln/>
        </p:spPr>
        <p:txBody>
          <a:bodyPr wrap="square" lIns="0" tIns="0" rIns="0" bIns="0" rtlCol="0" anchor="t"/>
          <a:lstStyle/>
          <a:p>
            <a:pPr algn="l" indent="0" marL="0">
              <a:lnSpc>
                <a:spcPts val="2464"/>
              </a:lnSpc>
              <a:spcBef>
                <a:spcPts val="400"/>
              </a:spcBef>
              <a:buNone/>
            </a:pPr>
            <a:r>
              <a:rPr lang="en-US" sz="2200" dirty="0">
                <a:solidFill>
                  <a:srgbClr val="2A2A2A"/>
                </a:solidFill>
                <a:latin typeface="Georgia" pitchFamily="34" charset="0"/>
                <a:ea typeface="Georgia" pitchFamily="34" charset="-122"/>
                <a:cs typeface="Georgia" pitchFamily="34" charset="-120"/>
              </a:rPr>
              <a:t>Five places the day actually goes</a:t>
            </a:r>
            <a:endParaRPr lang="en-US" sz="2200" dirty="0"/>
          </a:p>
        </p:txBody>
      </p:sp>
      <p:sp>
        <p:nvSpPr>
          <p:cNvPr id="8" name="Shape 5"/>
          <p:cNvSpPr/>
          <p:nvPr/>
        </p:nvSpPr>
        <p:spPr>
          <a:xfrm>
            <a:off x="330101" y="1733401"/>
            <a:ext cx="8483798" cy="0"/>
          </a:xfrm>
          <a:prstGeom prst="line">
            <a:avLst/>
          </a:prstGeom>
          <a:noFill/>
          <a:ln w="9525">
            <a:solidFill>
              <a:srgbClr val="E2E2E2"/>
            </a:solidFill>
            <a:prstDash val="solid"/>
          </a:ln>
        </p:spPr>
      </p:sp>
      <p:sp>
        <p:nvSpPr>
          <p:cNvPr id="9" name="Text 6"/>
          <p:cNvSpPr/>
          <p:nvPr/>
        </p:nvSpPr>
        <p:spPr>
          <a:xfrm>
            <a:off x="330101" y="1334988"/>
            <a:ext cx="466344" cy="238125"/>
          </a:xfrm>
          <a:prstGeom prst="rect">
            <a:avLst/>
          </a:prstGeom>
          <a:noFill/>
          <a:ln/>
        </p:spPr>
        <p:txBody>
          <a:bodyPr wrap="square" lIns="0" tIns="0" rIns="0" bIns="0" rtlCol="0" anchor="t"/>
          <a:lstStyle/>
          <a:p>
            <a:pPr algn="l" indent="0" marL="0">
              <a:buNone/>
            </a:pPr>
            <a:r>
              <a:rPr lang="en-US" sz="1600" dirty="0">
                <a:solidFill>
                  <a:srgbClr val="D0372C"/>
                </a:solidFill>
                <a:latin typeface="Georgia" pitchFamily="34" charset="0"/>
                <a:ea typeface="Georgia" pitchFamily="34" charset="-122"/>
                <a:cs typeface="Georgia" pitchFamily="34" charset="-120"/>
              </a:rPr>
              <a:t>01</a:t>
            </a:r>
            <a:endParaRPr lang="en-US" sz="1600" dirty="0"/>
          </a:p>
        </p:txBody>
      </p:sp>
      <p:sp>
        <p:nvSpPr>
          <p:cNvPr id="10" name="Text 7"/>
          <p:cNvSpPr/>
          <p:nvPr/>
        </p:nvSpPr>
        <p:spPr>
          <a:xfrm>
            <a:off x="787301" y="1349276"/>
            <a:ext cx="3238449" cy="209550"/>
          </a:xfrm>
          <a:prstGeom prst="rect">
            <a:avLst/>
          </a:prstGeom>
          <a:noFill/>
          <a:ln/>
        </p:spPr>
        <p:txBody>
          <a:bodyPr wrap="square" lIns="0" tIns="0" rIns="0" bIns="0" rtlCol="0" anchor="t"/>
          <a:lstStyle/>
          <a:p>
            <a:pPr algn="l" indent="0" marL="0">
              <a:buNone/>
            </a:pPr>
            <a:r>
              <a:rPr lang="en-US" sz="1400" b="1" dirty="0">
                <a:solidFill>
                  <a:srgbClr val="2A2A2A"/>
                </a:solidFill>
                <a:latin typeface="Arial" pitchFamily="34" charset="0"/>
                <a:ea typeface="Arial" pitchFamily="34" charset="-122"/>
                <a:cs typeface="Arial" pitchFamily="34" charset="-120"/>
              </a:rPr>
              <a:t>The queue outruns the team</a:t>
            </a:r>
            <a:endParaRPr lang="en-US" sz="1400" dirty="0"/>
          </a:p>
        </p:txBody>
      </p:sp>
      <p:sp>
        <p:nvSpPr>
          <p:cNvPr id="11" name="Text 8"/>
          <p:cNvSpPr/>
          <p:nvPr/>
        </p:nvSpPr>
        <p:spPr>
          <a:xfrm>
            <a:off x="3962251" y="1354038"/>
            <a:ext cx="4948681" cy="200025"/>
          </a:xfrm>
          <a:prstGeom prst="rect">
            <a:avLst/>
          </a:prstGeom>
          <a:noFill/>
          <a:ln/>
        </p:spPr>
        <p:txBody>
          <a:bodyPr wrap="square" lIns="0" tIns="0" rIns="0" bIns="0" rtlCol="0" anchor="t"/>
          <a:lstStyle/>
          <a:p>
            <a:pPr algn="l" indent="0" marL="0">
              <a:buNone/>
            </a:pPr>
            <a:r>
              <a:rPr lang="en-US" sz="1300" dirty="0">
                <a:solidFill>
                  <a:srgbClr val="5A5A5A"/>
                </a:solidFill>
                <a:latin typeface="Arial" pitchFamily="34" charset="0"/>
                <a:ea typeface="Arial" pitchFamily="34" charset="-122"/>
                <a:cs typeface="Arial" pitchFamily="34" charset="-120"/>
              </a:rPr>
              <a:t>The same submission gets keyed more than once.</a:t>
            </a:r>
            <a:endParaRPr lang="en-US" sz="1300" dirty="0"/>
          </a:p>
        </p:txBody>
      </p:sp>
      <p:sp>
        <p:nvSpPr>
          <p:cNvPr id="12" name="Shape 9"/>
          <p:cNvSpPr/>
          <p:nvPr/>
        </p:nvSpPr>
        <p:spPr>
          <a:xfrm>
            <a:off x="330101" y="2292102"/>
            <a:ext cx="8483798" cy="0"/>
          </a:xfrm>
          <a:prstGeom prst="line">
            <a:avLst/>
          </a:prstGeom>
          <a:noFill/>
          <a:ln w="9525">
            <a:solidFill>
              <a:srgbClr val="E2E2E2"/>
            </a:solidFill>
            <a:prstDash val="solid"/>
          </a:ln>
        </p:spPr>
      </p:sp>
      <p:sp>
        <p:nvSpPr>
          <p:cNvPr id="13" name="Text 10"/>
          <p:cNvSpPr/>
          <p:nvPr/>
        </p:nvSpPr>
        <p:spPr>
          <a:xfrm>
            <a:off x="330101" y="1893689"/>
            <a:ext cx="466344" cy="238125"/>
          </a:xfrm>
          <a:prstGeom prst="rect">
            <a:avLst/>
          </a:prstGeom>
          <a:noFill/>
          <a:ln/>
        </p:spPr>
        <p:txBody>
          <a:bodyPr wrap="square" lIns="0" tIns="0" rIns="0" bIns="0" rtlCol="0" anchor="t"/>
          <a:lstStyle/>
          <a:p>
            <a:pPr algn="l" indent="0" marL="0">
              <a:buNone/>
            </a:pPr>
            <a:r>
              <a:rPr lang="en-US" sz="1600" dirty="0">
                <a:solidFill>
                  <a:srgbClr val="D0372C"/>
                </a:solidFill>
                <a:latin typeface="Georgia" pitchFamily="34" charset="0"/>
                <a:ea typeface="Georgia" pitchFamily="34" charset="-122"/>
                <a:cs typeface="Georgia" pitchFamily="34" charset="-120"/>
              </a:rPr>
              <a:t>02</a:t>
            </a:r>
            <a:endParaRPr lang="en-US" sz="1600" dirty="0"/>
          </a:p>
        </p:txBody>
      </p:sp>
      <p:sp>
        <p:nvSpPr>
          <p:cNvPr id="14" name="Text 11"/>
          <p:cNvSpPr/>
          <p:nvPr/>
        </p:nvSpPr>
        <p:spPr>
          <a:xfrm>
            <a:off x="787301" y="1907977"/>
            <a:ext cx="3238449" cy="209550"/>
          </a:xfrm>
          <a:prstGeom prst="rect">
            <a:avLst/>
          </a:prstGeom>
          <a:noFill/>
          <a:ln/>
        </p:spPr>
        <p:txBody>
          <a:bodyPr wrap="square" lIns="0" tIns="0" rIns="0" bIns="0" rtlCol="0" anchor="t"/>
          <a:lstStyle/>
          <a:p>
            <a:pPr algn="l" indent="0" marL="0">
              <a:buNone/>
            </a:pPr>
            <a:r>
              <a:rPr lang="en-US" sz="1400" b="1" dirty="0">
                <a:solidFill>
                  <a:srgbClr val="2A2A2A"/>
                </a:solidFill>
                <a:latin typeface="Arial" pitchFamily="34" charset="0"/>
                <a:ea typeface="Arial" pitchFamily="34" charset="-122"/>
                <a:cs typeface="Arial" pitchFamily="34" charset="-120"/>
              </a:rPr>
              <a:t>Two reviewers, two scores</a:t>
            </a:r>
            <a:endParaRPr lang="en-US" sz="1400" dirty="0"/>
          </a:p>
        </p:txBody>
      </p:sp>
      <p:sp>
        <p:nvSpPr>
          <p:cNvPr id="15" name="Text 12"/>
          <p:cNvSpPr/>
          <p:nvPr/>
        </p:nvSpPr>
        <p:spPr>
          <a:xfrm>
            <a:off x="3962251" y="1912739"/>
            <a:ext cx="4948681" cy="200025"/>
          </a:xfrm>
          <a:prstGeom prst="rect">
            <a:avLst/>
          </a:prstGeom>
          <a:noFill/>
          <a:ln/>
        </p:spPr>
        <p:txBody>
          <a:bodyPr wrap="square" lIns="0" tIns="0" rIns="0" bIns="0" rtlCol="0" anchor="t"/>
          <a:lstStyle/>
          <a:p>
            <a:pPr algn="l" indent="0" marL="0">
              <a:buNone/>
            </a:pPr>
            <a:r>
              <a:rPr lang="en-US" sz="1300" dirty="0">
                <a:solidFill>
                  <a:srgbClr val="5A5A5A"/>
                </a:solidFill>
                <a:latin typeface="Arial" pitchFamily="34" charset="0"/>
                <a:ea typeface="Arial" pitchFamily="34" charset="-122"/>
                <a:cs typeface="Arial" pitchFamily="34" charset="-120"/>
              </a:rPr>
              <a:t>Nothing forces the same file to the same standard.</a:t>
            </a:r>
            <a:endParaRPr lang="en-US" sz="1300" dirty="0"/>
          </a:p>
        </p:txBody>
      </p:sp>
      <p:sp>
        <p:nvSpPr>
          <p:cNvPr id="16" name="Shape 13"/>
          <p:cNvSpPr/>
          <p:nvPr/>
        </p:nvSpPr>
        <p:spPr>
          <a:xfrm>
            <a:off x="330101" y="2850803"/>
            <a:ext cx="8483798" cy="0"/>
          </a:xfrm>
          <a:prstGeom prst="line">
            <a:avLst/>
          </a:prstGeom>
          <a:noFill/>
          <a:ln w="9525">
            <a:solidFill>
              <a:srgbClr val="E2E2E2"/>
            </a:solidFill>
            <a:prstDash val="solid"/>
          </a:ln>
        </p:spPr>
      </p:sp>
      <p:sp>
        <p:nvSpPr>
          <p:cNvPr id="17" name="Text 14"/>
          <p:cNvSpPr/>
          <p:nvPr/>
        </p:nvSpPr>
        <p:spPr>
          <a:xfrm>
            <a:off x="330101" y="2452390"/>
            <a:ext cx="466344" cy="238125"/>
          </a:xfrm>
          <a:prstGeom prst="rect">
            <a:avLst/>
          </a:prstGeom>
          <a:noFill/>
          <a:ln/>
        </p:spPr>
        <p:txBody>
          <a:bodyPr wrap="square" lIns="0" tIns="0" rIns="0" bIns="0" rtlCol="0" anchor="t"/>
          <a:lstStyle/>
          <a:p>
            <a:pPr algn="l" indent="0" marL="0">
              <a:buNone/>
            </a:pPr>
            <a:r>
              <a:rPr lang="en-US" sz="1600" dirty="0">
                <a:solidFill>
                  <a:srgbClr val="D0372C"/>
                </a:solidFill>
                <a:latin typeface="Georgia" pitchFamily="34" charset="0"/>
                <a:ea typeface="Georgia" pitchFamily="34" charset="-122"/>
                <a:cs typeface="Georgia" pitchFamily="34" charset="-120"/>
              </a:rPr>
              <a:t>03</a:t>
            </a:r>
            <a:endParaRPr lang="en-US" sz="1600" dirty="0"/>
          </a:p>
        </p:txBody>
      </p:sp>
      <p:sp>
        <p:nvSpPr>
          <p:cNvPr id="18" name="Text 15"/>
          <p:cNvSpPr/>
          <p:nvPr/>
        </p:nvSpPr>
        <p:spPr>
          <a:xfrm>
            <a:off x="787301" y="2466677"/>
            <a:ext cx="3238449" cy="209550"/>
          </a:xfrm>
          <a:prstGeom prst="rect">
            <a:avLst/>
          </a:prstGeom>
          <a:noFill/>
          <a:ln/>
        </p:spPr>
        <p:txBody>
          <a:bodyPr wrap="square" lIns="0" tIns="0" rIns="0" bIns="0" rtlCol="0" anchor="t"/>
          <a:lstStyle/>
          <a:p>
            <a:pPr algn="l" indent="0" marL="0">
              <a:buNone/>
            </a:pPr>
            <a:r>
              <a:rPr lang="en-US" sz="1400" b="1" dirty="0">
                <a:solidFill>
                  <a:srgbClr val="2A2A2A"/>
                </a:solidFill>
                <a:latin typeface="Arial" pitchFamily="34" charset="0"/>
                <a:ea typeface="Arial" pitchFamily="34" charset="-122"/>
                <a:cs typeface="Arial" pitchFamily="34" charset="-120"/>
              </a:rPr>
              <a:t>Enrichment is a scavenger hunt</a:t>
            </a:r>
            <a:endParaRPr lang="en-US" sz="1400" dirty="0"/>
          </a:p>
        </p:txBody>
      </p:sp>
      <p:sp>
        <p:nvSpPr>
          <p:cNvPr id="19" name="Text 16"/>
          <p:cNvSpPr/>
          <p:nvPr/>
        </p:nvSpPr>
        <p:spPr>
          <a:xfrm>
            <a:off x="3962251" y="2471440"/>
            <a:ext cx="4948681" cy="200025"/>
          </a:xfrm>
          <a:prstGeom prst="rect">
            <a:avLst/>
          </a:prstGeom>
          <a:noFill/>
          <a:ln/>
        </p:spPr>
        <p:txBody>
          <a:bodyPr wrap="square" lIns="0" tIns="0" rIns="0" bIns="0" rtlCol="0" anchor="t"/>
          <a:lstStyle/>
          <a:p>
            <a:pPr algn="l" indent="0" marL="0">
              <a:buNone/>
            </a:pPr>
            <a:r>
              <a:rPr lang="en-US" sz="1300" dirty="0">
                <a:solidFill>
                  <a:srgbClr val="5A5A5A"/>
                </a:solidFill>
                <a:latin typeface="Arial" pitchFamily="34" charset="0"/>
                <a:ea typeface="Arial" pitchFamily="34" charset="-122"/>
                <a:cs typeface="Arial" pitchFamily="34" charset="-120"/>
              </a:rPr>
              <a:t>The questionnaire, the rating, and the loss run live apart.</a:t>
            </a:r>
            <a:endParaRPr lang="en-US" sz="1300" dirty="0"/>
          </a:p>
        </p:txBody>
      </p:sp>
      <p:sp>
        <p:nvSpPr>
          <p:cNvPr id="20" name="Shape 17"/>
          <p:cNvSpPr/>
          <p:nvPr/>
        </p:nvSpPr>
        <p:spPr>
          <a:xfrm>
            <a:off x="330101" y="3409504"/>
            <a:ext cx="8483798" cy="0"/>
          </a:xfrm>
          <a:prstGeom prst="line">
            <a:avLst/>
          </a:prstGeom>
          <a:noFill/>
          <a:ln w="9525">
            <a:solidFill>
              <a:srgbClr val="E2E2E2"/>
            </a:solidFill>
            <a:prstDash val="solid"/>
          </a:ln>
        </p:spPr>
      </p:sp>
      <p:sp>
        <p:nvSpPr>
          <p:cNvPr id="21" name="Text 18"/>
          <p:cNvSpPr/>
          <p:nvPr/>
        </p:nvSpPr>
        <p:spPr>
          <a:xfrm>
            <a:off x="330101" y="3011091"/>
            <a:ext cx="466344" cy="238125"/>
          </a:xfrm>
          <a:prstGeom prst="rect">
            <a:avLst/>
          </a:prstGeom>
          <a:noFill/>
          <a:ln/>
        </p:spPr>
        <p:txBody>
          <a:bodyPr wrap="square" lIns="0" tIns="0" rIns="0" bIns="0" rtlCol="0" anchor="t"/>
          <a:lstStyle/>
          <a:p>
            <a:pPr algn="l" indent="0" marL="0">
              <a:buNone/>
            </a:pPr>
            <a:r>
              <a:rPr lang="en-US" sz="1600" dirty="0">
                <a:solidFill>
                  <a:srgbClr val="D0372C"/>
                </a:solidFill>
                <a:latin typeface="Georgia" pitchFamily="34" charset="0"/>
                <a:ea typeface="Georgia" pitchFamily="34" charset="-122"/>
                <a:cs typeface="Georgia" pitchFamily="34" charset="-120"/>
              </a:rPr>
              <a:t>04</a:t>
            </a:r>
            <a:endParaRPr lang="en-US" sz="1600" dirty="0"/>
          </a:p>
        </p:txBody>
      </p:sp>
      <p:sp>
        <p:nvSpPr>
          <p:cNvPr id="22" name="Text 19"/>
          <p:cNvSpPr/>
          <p:nvPr/>
        </p:nvSpPr>
        <p:spPr>
          <a:xfrm>
            <a:off x="787301" y="3025378"/>
            <a:ext cx="3238449" cy="209550"/>
          </a:xfrm>
          <a:prstGeom prst="rect">
            <a:avLst/>
          </a:prstGeom>
          <a:noFill/>
          <a:ln/>
        </p:spPr>
        <p:txBody>
          <a:bodyPr wrap="square" lIns="0" tIns="0" rIns="0" bIns="0" rtlCol="0" anchor="t"/>
          <a:lstStyle/>
          <a:p>
            <a:pPr algn="l" indent="0" marL="0">
              <a:buNone/>
            </a:pPr>
            <a:r>
              <a:rPr lang="en-US" sz="1400" b="1" dirty="0">
                <a:solidFill>
                  <a:srgbClr val="2A2A2A"/>
                </a:solidFill>
                <a:latin typeface="Arial" pitchFamily="34" charset="0"/>
                <a:ea typeface="Arial" pitchFamily="34" charset="-122"/>
                <a:cs typeface="Arial" pitchFamily="34" charset="-120"/>
              </a:rPr>
              <a:t>The policy system hears late</a:t>
            </a:r>
            <a:endParaRPr lang="en-US" sz="1400" dirty="0"/>
          </a:p>
        </p:txBody>
      </p:sp>
      <p:sp>
        <p:nvSpPr>
          <p:cNvPr id="23" name="Text 20"/>
          <p:cNvSpPr/>
          <p:nvPr/>
        </p:nvSpPr>
        <p:spPr>
          <a:xfrm>
            <a:off x="3962251" y="3030141"/>
            <a:ext cx="4948681" cy="200025"/>
          </a:xfrm>
          <a:prstGeom prst="rect">
            <a:avLst/>
          </a:prstGeom>
          <a:noFill/>
          <a:ln/>
        </p:spPr>
        <p:txBody>
          <a:bodyPr wrap="square" lIns="0" tIns="0" rIns="0" bIns="0" rtlCol="0" anchor="t"/>
          <a:lstStyle/>
          <a:p>
            <a:pPr algn="l" indent="0" marL="0">
              <a:buNone/>
            </a:pPr>
            <a:r>
              <a:rPr lang="en-US" sz="1300" dirty="0">
                <a:solidFill>
                  <a:srgbClr val="5A5A5A"/>
                </a:solidFill>
                <a:latin typeface="Arial" pitchFamily="34" charset="0"/>
                <a:ea typeface="Arial" pitchFamily="34" charset="-122"/>
                <a:cs typeface="Arial" pitchFamily="34" charset="-120"/>
              </a:rPr>
              <a:t>Quote state and the file fall out of step.</a:t>
            </a:r>
            <a:endParaRPr lang="en-US" sz="1300" dirty="0"/>
          </a:p>
        </p:txBody>
      </p:sp>
      <p:sp>
        <p:nvSpPr>
          <p:cNvPr id="24" name="Text 21"/>
          <p:cNvSpPr/>
          <p:nvPr/>
        </p:nvSpPr>
        <p:spPr>
          <a:xfrm>
            <a:off x="330101" y="3574554"/>
            <a:ext cx="466344" cy="238125"/>
          </a:xfrm>
          <a:prstGeom prst="rect">
            <a:avLst/>
          </a:prstGeom>
          <a:noFill/>
          <a:ln/>
        </p:spPr>
        <p:txBody>
          <a:bodyPr wrap="square" lIns="0" tIns="0" rIns="0" bIns="0" rtlCol="0" anchor="t"/>
          <a:lstStyle/>
          <a:p>
            <a:pPr algn="l" indent="0" marL="0">
              <a:buNone/>
            </a:pPr>
            <a:r>
              <a:rPr lang="en-US" sz="1600" dirty="0">
                <a:solidFill>
                  <a:srgbClr val="D0372C"/>
                </a:solidFill>
                <a:latin typeface="Georgia" pitchFamily="34" charset="0"/>
                <a:ea typeface="Georgia" pitchFamily="34" charset="-122"/>
                <a:cs typeface="Georgia" pitchFamily="34" charset="-120"/>
              </a:rPr>
              <a:t>05</a:t>
            </a:r>
            <a:endParaRPr lang="en-US" sz="1600" dirty="0"/>
          </a:p>
        </p:txBody>
      </p:sp>
      <p:sp>
        <p:nvSpPr>
          <p:cNvPr id="25" name="Text 22"/>
          <p:cNvSpPr/>
          <p:nvPr/>
        </p:nvSpPr>
        <p:spPr>
          <a:xfrm>
            <a:off x="787301" y="3588841"/>
            <a:ext cx="3238449" cy="209550"/>
          </a:xfrm>
          <a:prstGeom prst="rect">
            <a:avLst/>
          </a:prstGeom>
          <a:noFill/>
          <a:ln/>
        </p:spPr>
        <p:txBody>
          <a:bodyPr wrap="square" lIns="0" tIns="0" rIns="0" bIns="0" rtlCol="0" anchor="t"/>
          <a:lstStyle/>
          <a:p>
            <a:pPr algn="l" indent="0" marL="0">
              <a:buNone/>
            </a:pPr>
            <a:r>
              <a:rPr lang="en-US" sz="1400" b="1" dirty="0">
                <a:solidFill>
                  <a:srgbClr val="2A2A2A"/>
                </a:solidFill>
                <a:latin typeface="Arial" pitchFamily="34" charset="0"/>
                <a:ea typeface="Arial" pitchFamily="34" charset="-122"/>
                <a:cs typeface="Arial" pitchFamily="34" charset="-120"/>
              </a:rPr>
              <a:t>No one picture of what is open</a:t>
            </a:r>
            <a:endParaRPr lang="en-US" sz="1400" dirty="0"/>
          </a:p>
        </p:txBody>
      </p:sp>
      <p:sp>
        <p:nvSpPr>
          <p:cNvPr id="26" name="Text 23"/>
          <p:cNvSpPr/>
          <p:nvPr/>
        </p:nvSpPr>
        <p:spPr>
          <a:xfrm>
            <a:off x="3962251" y="3593604"/>
            <a:ext cx="4948681" cy="200025"/>
          </a:xfrm>
          <a:prstGeom prst="rect">
            <a:avLst/>
          </a:prstGeom>
          <a:noFill/>
          <a:ln/>
        </p:spPr>
        <p:txBody>
          <a:bodyPr wrap="square" lIns="0" tIns="0" rIns="0" bIns="0" rtlCol="0" anchor="t"/>
          <a:lstStyle/>
          <a:p>
            <a:pPr algn="l" indent="0" marL="0">
              <a:buNone/>
            </a:pPr>
            <a:r>
              <a:rPr lang="en-US" sz="1300" dirty="0">
                <a:solidFill>
                  <a:srgbClr val="5A5A5A"/>
                </a:solidFill>
                <a:latin typeface="Arial" pitchFamily="34" charset="0"/>
                <a:ea typeface="Arial" pitchFamily="34" charset="-122"/>
                <a:cs typeface="Arial" pitchFamily="34" charset="-120"/>
              </a:rPr>
              <a:t>Missing evidence sits in a mailbox, not on the file.</a:t>
            </a:r>
            <a:endParaRPr lang="en-US" sz="1300" dirty="0"/>
          </a:p>
        </p:txBody>
      </p:sp>
      <p:sp>
        <p:nvSpPr>
          <p:cNvPr id="27" name="Text 24"/>
          <p:cNvSpPr/>
          <p:nvPr/>
        </p:nvSpPr>
        <p:spPr>
          <a:xfrm>
            <a:off x="330101" y="4055418"/>
            <a:ext cx="1956914"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Cyber underwriting  ·  Client discussion</a:t>
            </a:r>
            <a:endParaRPr lang="en-US" sz="900" dirty="0"/>
          </a:p>
        </p:txBody>
      </p:sp>
      <p:sp>
        <p:nvSpPr>
          <p:cNvPr id="28" name="Text 25"/>
          <p:cNvSpPr/>
          <p:nvPr/>
        </p:nvSpPr>
        <p:spPr>
          <a:xfrm>
            <a:off x="8686651" y="4055418"/>
            <a:ext cx="129793"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406301"/>
          </a:xfrm>
          <a:prstGeom prst="rect">
            <a:avLst/>
          </a:prstGeom>
          <a:solidFill>
            <a:srgbClr val="FFFFFF"/>
          </a:solidFill>
          <a:ln/>
        </p:spPr>
        <p:txBody>
          <a:bodyPr wrap="square" rtlCol="0" anchor="ctr"/>
          <a:lstStyle/>
          <a:p>
            <a:pPr indent="0" marL="0">
              <a:buNone/>
            </a:pPr>
            <a:endParaRPr lang="en-US" dirty="0"/>
          </a:p>
        </p:txBody>
      </p:sp>
      <p:pic>
        <p:nvPicPr>
          <p:cNvPr id="3" name="Image 0" descr="/Users/chandansharma/Documents/cyber-uw/docs/client/deck/slides/birlasoft-logo-on-white.png">    </p:cNvPr>
          <p:cNvPicPr>
            <a:picLocks noChangeAspect="1"/>
          </p:cNvPicPr>
          <p:nvPr/>
        </p:nvPicPr>
        <p:blipFill>
          <a:blip r:embed="rId1"/>
          <a:stretch>
            <a:fillRect/>
          </a:stretch>
        </p:blipFill>
        <p:spPr>
          <a:xfrm>
            <a:off x="330101" y="95101"/>
            <a:ext cx="990600" cy="279350"/>
          </a:xfrm>
          <a:prstGeom prst="rect">
            <a:avLst/>
          </a:prstGeom>
        </p:spPr>
      </p:pic>
      <p:sp>
        <p:nvSpPr>
          <p:cNvPr id="4" name="Text 1"/>
          <p:cNvSpPr/>
          <p:nvPr/>
        </p:nvSpPr>
        <p:spPr>
          <a:xfrm>
            <a:off x="8291513" y="163413"/>
            <a:ext cx="532834" cy="142875"/>
          </a:xfrm>
          <a:prstGeom prst="rect">
            <a:avLst/>
          </a:prstGeom>
          <a:noFill/>
          <a:ln/>
        </p:spPr>
        <p:txBody>
          <a:bodyPr wrap="square" lIns="0" tIns="0" rIns="0" bIns="0" rtlCol="0" anchor="t"/>
          <a:lstStyle/>
          <a:p>
            <a:pPr algn="l" indent="0" marL="0">
              <a:buNone/>
            </a:pPr>
            <a:r>
              <a:rPr lang="en-US" sz="1000" dirty="0">
                <a:solidFill>
                  <a:srgbClr val="5A5A5A"/>
                </a:solidFill>
                <a:latin typeface="Arial" pitchFamily="34" charset="0"/>
                <a:ea typeface="Arial" pitchFamily="34" charset="-122"/>
                <a:cs typeface="Arial" pitchFamily="34" charset="-120"/>
              </a:rPr>
              <a:t>The desk</a:t>
            </a:r>
            <a:endParaRPr lang="en-US" sz="1000" dirty="0"/>
          </a:p>
        </p:txBody>
      </p:sp>
      <p:sp>
        <p:nvSpPr>
          <p:cNvPr id="5" name="Text 2"/>
          <p:cNvSpPr/>
          <p:nvPr/>
        </p:nvSpPr>
        <p:spPr>
          <a:xfrm>
            <a:off x="0" y="406301"/>
            <a:ext cx="9144000" cy="38100"/>
          </a:xfrm>
          <a:prstGeom prst="rect">
            <a:avLst/>
          </a:prstGeom>
          <a:solidFill>
            <a:srgbClr val="D0372C"/>
          </a:solidFill>
          <a:ln/>
        </p:spPr>
        <p:txBody>
          <a:bodyPr wrap="square" rtlCol="0" anchor="ctr"/>
          <a:lstStyle/>
          <a:p>
            <a:pPr indent="0" marL="0">
              <a:buNone/>
            </a:pPr>
            <a:endParaRPr lang="en-US" dirty="0"/>
          </a:p>
        </p:txBody>
      </p:sp>
      <p:sp>
        <p:nvSpPr>
          <p:cNvPr id="6" name="Text 3"/>
          <p:cNvSpPr/>
          <p:nvPr/>
        </p:nvSpPr>
        <p:spPr>
          <a:xfrm>
            <a:off x="330101" y="596801"/>
            <a:ext cx="8653474"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CONTEXT</a:t>
            </a:r>
            <a:endParaRPr lang="en-US" sz="1000" dirty="0"/>
          </a:p>
        </p:txBody>
      </p:sp>
      <p:sp>
        <p:nvSpPr>
          <p:cNvPr id="7" name="Text 4"/>
          <p:cNvSpPr/>
          <p:nvPr/>
        </p:nvSpPr>
        <p:spPr>
          <a:xfrm>
            <a:off x="330101" y="790426"/>
            <a:ext cx="8653474" cy="312837"/>
          </a:xfrm>
          <a:prstGeom prst="rect">
            <a:avLst/>
          </a:prstGeom>
          <a:noFill/>
          <a:ln/>
        </p:spPr>
        <p:txBody>
          <a:bodyPr wrap="square" lIns="0" tIns="0" rIns="0" bIns="0" rtlCol="0" anchor="t"/>
          <a:lstStyle/>
          <a:p>
            <a:pPr algn="l" indent="0" marL="0">
              <a:lnSpc>
                <a:spcPts val="2464"/>
              </a:lnSpc>
              <a:spcBef>
                <a:spcPts val="400"/>
              </a:spcBef>
              <a:buNone/>
            </a:pPr>
            <a:r>
              <a:rPr lang="en-US" sz="2200" dirty="0">
                <a:solidFill>
                  <a:srgbClr val="2A2A2A"/>
                </a:solidFill>
                <a:latin typeface="Georgia" pitchFamily="34" charset="0"/>
                <a:ea typeface="Georgia" pitchFamily="34" charset="-122"/>
                <a:cs typeface="Georgia" pitchFamily="34" charset="-120"/>
              </a:rPr>
              <a:t>Four answers. None of them is the decision.</a:t>
            </a:r>
            <a:endParaRPr lang="en-US" sz="2200" dirty="0"/>
          </a:p>
        </p:txBody>
      </p:sp>
      <p:sp>
        <p:nvSpPr>
          <p:cNvPr id="8" name="Text 5"/>
          <p:cNvSpPr/>
          <p:nvPr/>
        </p:nvSpPr>
        <p:spPr>
          <a:xfrm>
            <a:off x="330101" y="1154013"/>
            <a:ext cx="8653474" cy="198090"/>
          </a:xfrm>
          <a:prstGeom prst="rect">
            <a:avLst/>
          </a:prstGeom>
          <a:noFill/>
          <a:ln/>
        </p:spPr>
        <p:txBody>
          <a:bodyPr wrap="square" lIns="0" tIns="0" rIns="0" bIns="0" rtlCol="0" anchor="t"/>
          <a:lstStyle/>
          <a:p>
            <a:pPr algn="l" indent="0" marL="0">
              <a:lnSpc>
                <a:spcPts val="1560"/>
              </a:lnSpc>
              <a:spcBef>
                <a:spcPts val="400"/>
              </a:spcBef>
              <a:buNone/>
            </a:pPr>
            <a:r>
              <a:rPr lang="en-US" sz="1200" dirty="0">
                <a:solidFill>
                  <a:srgbClr val="5A5A5A"/>
                </a:solidFill>
                <a:latin typeface="Arial" pitchFamily="34" charset="0"/>
                <a:ea typeface="Arial" pitchFamily="34" charset="-122"/>
                <a:cs typeface="Arial" pitchFamily="34" charset="-120"/>
              </a:rPr>
              <a:t>Each system is useful. None of them tells you whether to write the risk.</a:t>
            </a:r>
            <a:endParaRPr lang="en-US" sz="1200" dirty="0"/>
          </a:p>
        </p:txBody>
      </p:sp>
      <p:sp>
        <p:nvSpPr>
          <p:cNvPr id="9" name="Text 6"/>
          <p:cNvSpPr/>
          <p:nvPr/>
        </p:nvSpPr>
        <p:spPr>
          <a:xfrm>
            <a:off x="330101" y="1453604"/>
            <a:ext cx="4191149" cy="1371600"/>
          </a:xfrm>
          <a:prstGeom prst="rect">
            <a:avLst/>
          </a:prstGeom>
          <a:solidFill>
            <a:srgbClr val="F7F7F7"/>
          </a:solidFill>
          <a:ln/>
        </p:spPr>
        <p:txBody>
          <a:bodyPr wrap="square" rtlCol="0" anchor="ctr"/>
          <a:lstStyle/>
          <a:p>
            <a:pPr indent="0" marL="0">
              <a:buNone/>
            </a:pPr>
            <a:endParaRPr lang="en-US" dirty="0"/>
          </a:p>
        </p:txBody>
      </p:sp>
      <p:sp>
        <p:nvSpPr>
          <p:cNvPr id="10" name="Shape 7"/>
          <p:cNvSpPr/>
          <p:nvPr/>
        </p:nvSpPr>
        <p:spPr>
          <a:xfrm>
            <a:off x="330101" y="1477417"/>
            <a:ext cx="4191149" cy="0"/>
          </a:xfrm>
          <a:prstGeom prst="line">
            <a:avLst/>
          </a:prstGeom>
          <a:noFill/>
          <a:ln w="47625">
            <a:solidFill>
              <a:srgbClr val="D0372C"/>
            </a:solidFill>
            <a:prstDash val="solid"/>
          </a:ln>
        </p:spPr>
      </p:sp>
      <p:sp>
        <p:nvSpPr>
          <p:cNvPr id="11" name="Text 8"/>
          <p:cNvSpPr/>
          <p:nvPr/>
        </p:nvSpPr>
        <p:spPr>
          <a:xfrm>
            <a:off x="482501" y="1628180"/>
            <a:ext cx="3964076"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WHAT THEY SAY</a:t>
            </a:r>
            <a:endParaRPr lang="en-US" sz="1000" dirty="0"/>
          </a:p>
        </p:txBody>
      </p:sp>
      <p:sp>
        <p:nvSpPr>
          <p:cNvPr id="12" name="Text 9"/>
          <p:cNvSpPr/>
          <p:nvPr/>
        </p:nvSpPr>
        <p:spPr>
          <a:xfrm>
            <a:off x="482501" y="1847255"/>
            <a:ext cx="3964076" cy="209550"/>
          </a:xfrm>
          <a:prstGeom prst="rect">
            <a:avLst/>
          </a:prstGeom>
          <a:noFill/>
          <a:ln/>
        </p:spPr>
        <p:txBody>
          <a:bodyPr wrap="square" lIns="0" tIns="0" rIns="0" bIns="0" rtlCol="0" anchor="t"/>
          <a:lstStyle/>
          <a:p>
            <a:pPr algn="l" indent="0" marL="0">
              <a:spcBef>
                <a:spcPts val="600"/>
              </a:spcBef>
              <a:buNone/>
            </a:pPr>
            <a:r>
              <a:rPr lang="en-US" sz="1500" dirty="0">
                <a:solidFill>
                  <a:srgbClr val="2A2A2A"/>
                </a:solidFill>
                <a:latin typeface="Georgia" pitchFamily="34" charset="0"/>
                <a:ea typeface="Georgia" pitchFamily="34" charset="-122"/>
                <a:cs typeface="Georgia" pitchFamily="34" charset="-120"/>
              </a:rPr>
              <a:t>The application</a:t>
            </a:r>
            <a:endParaRPr lang="en-US" sz="1500" dirty="0"/>
          </a:p>
        </p:txBody>
      </p:sp>
      <p:sp>
        <p:nvSpPr>
          <p:cNvPr id="13" name="Text 10"/>
          <p:cNvSpPr/>
          <p:nvPr/>
        </p:nvSpPr>
        <p:spPr>
          <a:xfrm>
            <a:off x="482501" y="2107555"/>
            <a:ext cx="3964076" cy="171450"/>
          </a:xfrm>
          <a:prstGeom prst="rect">
            <a:avLst/>
          </a:prstGeom>
          <a:noFill/>
          <a:ln/>
        </p:spPr>
        <p:txBody>
          <a:bodyPr wrap="square" lIns="0" tIns="0" rIns="0" bIns="0" rtlCol="0" anchor="t"/>
          <a:lstStyle/>
          <a:p>
            <a:pPr algn="l" indent="0" marL="0">
              <a:spcBef>
                <a:spcPts val="400"/>
              </a:spcBef>
              <a:buNone/>
            </a:pPr>
            <a:r>
              <a:rPr lang="en-US" sz="1200" dirty="0">
                <a:solidFill>
                  <a:srgbClr val="5A5A5A"/>
                </a:solidFill>
                <a:latin typeface="Arial" pitchFamily="34" charset="0"/>
                <a:ea typeface="Arial" pitchFamily="34" charset="-122"/>
                <a:cs typeface="Arial" pitchFamily="34" charset="-120"/>
              </a:rPr>
              <a:t>MFA, EDR, backups, response. Declared, not observed.</a:t>
            </a:r>
            <a:endParaRPr lang="en-US" sz="1200" dirty="0"/>
          </a:p>
        </p:txBody>
      </p:sp>
      <p:sp>
        <p:nvSpPr>
          <p:cNvPr id="14" name="Text 11"/>
          <p:cNvSpPr/>
          <p:nvPr/>
        </p:nvSpPr>
        <p:spPr>
          <a:xfrm>
            <a:off x="4622750" y="1453604"/>
            <a:ext cx="4191149" cy="1371600"/>
          </a:xfrm>
          <a:prstGeom prst="rect">
            <a:avLst/>
          </a:prstGeom>
          <a:solidFill>
            <a:srgbClr val="F7F7F7"/>
          </a:solidFill>
          <a:ln/>
        </p:spPr>
        <p:txBody>
          <a:bodyPr wrap="square" rtlCol="0" anchor="ctr"/>
          <a:lstStyle/>
          <a:p>
            <a:pPr indent="0" marL="0">
              <a:buNone/>
            </a:pPr>
            <a:endParaRPr lang="en-US" dirty="0"/>
          </a:p>
        </p:txBody>
      </p:sp>
      <p:sp>
        <p:nvSpPr>
          <p:cNvPr id="15" name="Shape 12"/>
          <p:cNvSpPr/>
          <p:nvPr/>
        </p:nvSpPr>
        <p:spPr>
          <a:xfrm>
            <a:off x="4622750" y="1477417"/>
            <a:ext cx="4191149" cy="0"/>
          </a:xfrm>
          <a:prstGeom prst="line">
            <a:avLst/>
          </a:prstGeom>
          <a:noFill/>
          <a:ln w="47625">
            <a:solidFill>
              <a:srgbClr val="2A2A2A"/>
            </a:solidFill>
            <a:prstDash val="solid"/>
          </a:ln>
        </p:spPr>
      </p:sp>
      <p:sp>
        <p:nvSpPr>
          <p:cNvPr id="16" name="Text 13"/>
          <p:cNvSpPr/>
          <p:nvPr/>
        </p:nvSpPr>
        <p:spPr>
          <a:xfrm>
            <a:off x="4775150" y="1628180"/>
            <a:ext cx="3964076" cy="142875"/>
          </a:xfrm>
          <a:prstGeom prst="rect">
            <a:avLst/>
          </a:prstGeom>
          <a:noFill/>
          <a:ln/>
        </p:spPr>
        <p:txBody>
          <a:bodyPr wrap="square" lIns="0" tIns="0" rIns="0" bIns="0" rtlCol="0" anchor="t"/>
          <a:lstStyle/>
          <a:p>
            <a:pPr algn="l" indent="0" marL="0">
              <a:buNone/>
            </a:pPr>
            <a:r>
              <a:rPr lang="en-US" sz="1000" b="1" dirty="0">
                <a:solidFill>
                  <a:srgbClr val="2A2A2A"/>
                </a:solidFill>
                <a:latin typeface="Arial" pitchFamily="34" charset="0"/>
                <a:ea typeface="Arial" pitchFamily="34" charset="-122"/>
                <a:cs typeface="Arial" pitchFamily="34" charset="-120"/>
              </a:rPr>
              <a:t>WHAT AN OUTSIDER CAN SEE</a:t>
            </a:r>
            <a:endParaRPr lang="en-US" sz="1000" dirty="0"/>
          </a:p>
        </p:txBody>
      </p:sp>
      <p:sp>
        <p:nvSpPr>
          <p:cNvPr id="17" name="Text 14"/>
          <p:cNvSpPr/>
          <p:nvPr/>
        </p:nvSpPr>
        <p:spPr>
          <a:xfrm>
            <a:off x="4775150" y="1847255"/>
            <a:ext cx="3964076" cy="209550"/>
          </a:xfrm>
          <a:prstGeom prst="rect">
            <a:avLst/>
          </a:prstGeom>
          <a:noFill/>
          <a:ln/>
        </p:spPr>
        <p:txBody>
          <a:bodyPr wrap="square" lIns="0" tIns="0" rIns="0" bIns="0" rtlCol="0" anchor="t"/>
          <a:lstStyle/>
          <a:p>
            <a:pPr algn="l" indent="0" marL="0">
              <a:spcBef>
                <a:spcPts val="600"/>
              </a:spcBef>
              <a:buNone/>
            </a:pPr>
            <a:r>
              <a:rPr lang="en-US" sz="1500" dirty="0">
                <a:solidFill>
                  <a:srgbClr val="2A2A2A"/>
                </a:solidFill>
                <a:latin typeface="Georgia" pitchFamily="34" charset="0"/>
                <a:ea typeface="Georgia" pitchFamily="34" charset="-122"/>
                <a:cs typeface="Georgia" pitchFamily="34" charset="-120"/>
              </a:rPr>
              <a:t>A security rating</a:t>
            </a:r>
            <a:endParaRPr lang="en-US" sz="1500" dirty="0"/>
          </a:p>
        </p:txBody>
      </p:sp>
      <p:sp>
        <p:nvSpPr>
          <p:cNvPr id="18" name="Text 15"/>
          <p:cNvSpPr/>
          <p:nvPr/>
        </p:nvSpPr>
        <p:spPr>
          <a:xfrm>
            <a:off x="4775150" y="2107555"/>
            <a:ext cx="3964076" cy="171450"/>
          </a:xfrm>
          <a:prstGeom prst="rect">
            <a:avLst/>
          </a:prstGeom>
          <a:noFill/>
          <a:ln/>
        </p:spPr>
        <p:txBody>
          <a:bodyPr wrap="square" lIns="0" tIns="0" rIns="0" bIns="0" rtlCol="0" anchor="t"/>
          <a:lstStyle/>
          <a:p>
            <a:pPr algn="l" indent="0" marL="0">
              <a:spcBef>
                <a:spcPts val="400"/>
              </a:spcBef>
              <a:buNone/>
            </a:pPr>
            <a:r>
              <a:rPr lang="en-US" sz="1200" dirty="0">
                <a:solidFill>
                  <a:srgbClr val="5A5A5A"/>
                </a:solidFill>
                <a:latin typeface="Arial" pitchFamily="34" charset="0"/>
                <a:ea typeface="Arial" pitchFamily="34" charset="-122"/>
                <a:cs typeface="Arial" pitchFamily="34" charset="-120"/>
              </a:rPr>
              <a:t>Exposure and posture, from a feed you already license.</a:t>
            </a:r>
            <a:endParaRPr lang="en-US" sz="1200" dirty="0"/>
          </a:p>
        </p:txBody>
      </p:sp>
      <p:sp>
        <p:nvSpPr>
          <p:cNvPr id="19" name="Text 16"/>
          <p:cNvSpPr/>
          <p:nvPr/>
        </p:nvSpPr>
        <p:spPr>
          <a:xfrm>
            <a:off x="330101" y="2926705"/>
            <a:ext cx="4191149" cy="1371600"/>
          </a:xfrm>
          <a:prstGeom prst="rect">
            <a:avLst/>
          </a:prstGeom>
          <a:solidFill>
            <a:srgbClr val="F7F7F7"/>
          </a:solidFill>
          <a:ln/>
        </p:spPr>
        <p:txBody>
          <a:bodyPr wrap="square" rtlCol="0" anchor="ctr"/>
          <a:lstStyle/>
          <a:p>
            <a:pPr indent="0" marL="0">
              <a:buNone/>
            </a:pPr>
            <a:endParaRPr lang="en-US" dirty="0"/>
          </a:p>
        </p:txBody>
      </p:sp>
      <p:sp>
        <p:nvSpPr>
          <p:cNvPr id="20" name="Shape 17"/>
          <p:cNvSpPr/>
          <p:nvPr/>
        </p:nvSpPr>
        <p:spPr>
          <a:xfrm>
            <a:off x="330101" y="2950518"/>
            <a:ext cx="4191149" cy="0"/>
          </a:xfrm>
          <a:prstGeom prst="line">
            <a:avLst/>
          </a:prstGeom>
          <a:noFill/>
          <a:ln w="47625">
            <a:solidFill>
              <a:srgbClr val="2A2A2A"/>
            </a:solidFill>
            <a:prstDash val="solid"/>
          </a:ln>
        </p:spPr>
      </p:sp>
      <p:sp>
        <p:nvSpPr>
          <p:cNvPr id="21" name="Text 18"/>
          <p:cNvSpPr/>
          <p:nvPr/>
        </p:nvSpPr>
        <p:spPr>
          <a:xfrm>
            <a:off x="482501" y="3101280"/>
            <a:ext cx="3964076" cy="142875"/>
          </a:xfrm>
          <a:prstGeom prst="rect">
            <a:avLst/>
          </a:prstGeom>
          <a:noFill/>
          <a:ln/>
        </p:spPr>
        <p:txBody>
          <a:bodyPr wrap="square" lIns="0" tIns="0" rIns="0" bIns="0" rtlCol="0" anchor="t"/>
          <a:lstStyle/>
          <a:p>
            <a:pPr algn="l" indent="0" marL="0">
              <a:buNone/>
            </a:pPr>
            <a:r>
              <a:rPr lang="en-US" sz="1000" b="1" dirty="0">
                <a:solidFill>
                  <a:srgbClr val="2A2A2A"/>
                </a:solidFill>
                <a:latin typeface="Arial" pitchFamily="34" charset="0"/>
                <a:ea typeface="Arial" pitchFamily="34" charset="-122"/>
                <a:cs typeface="Arial" pitchFamily="34" charset="-120"/>
              </a:rPr>
              <a:t>WHAT THE BOOK DOES</a:t>
            </a:r>
            <a:endParaRPr lang="en-US" sz="1000" dirty="0"/>
          </a:p>
        </p:txBody>
      </p:sp>
      <p:sp>
        <p:nvSpPr>
          <p:cNvPr id="22" name="Text 19"/>
          <p:cNvSpPr/>
          <p:nvPr/>
        </p:nvSpPr>
        <p:spPr>
          <a:xfrm>
            <a:off x="482501" y="3320355"/>
            <a:ext cx="3964076" cy="209550"/>
          </a:xfrm>
          <a:prstGeom prst="rect">
            <a:avLst/>
          </a:prstGeom>
          <a:noFill/>
          <a:ln/>
        </p:spPr>
        <p:txBody>
          <a:bodyPr wrap="square" lIns="0" tIns="0" rIns="0" bIns="0" rtlCol="0" anchor="t"/>
          <a:lstStyle/>
          <a:p>
            <a:pPr algn="l" indent="0" marL="0">
              <a:spcBef>
                <a:spcPts val="600"/>
              </a:spcBef>
              <a:buNone/>
            </a:pPr>
            <a:r>
              <a:rPr lang="en-US" sz="1500" dirty="0">
                <a:solidFill>
                  <a:srgbClr val="2A2A2A"/>
                </a:solidFill>
                <a:latin typeface="Georgia" pitchFamily="34" charset="0"/>
                <a:ea typeface="Georgia" pitchFamily="34" charset="-122"/>
                <a:cs typeface="Georgia" pitchFamily="34" charset="-120"/>
              </a:rPr>
              <a:t>A portfolio model</a:t>
            </a:r>
            <a:endParaRPr lang="en-US" sz="1500" dirty="0"/>
          </a:p>
        </p:txBody>
      </p:sp>
      <p:sp>
        <p:nvSpPr>
          <p:cNvPr id="23" name="Text 20"/>
          <p:cNvSpPr/>
          <p:nvPr/>
        </p:nvSpPr>
        <p:spPr>
          <a:xfrm>
            <a:off x="482501" y="3580656"/>
            <a:ext cx="3964076" cy="342900"/>
          </a:xfrm>
          <a:prstGeom prst="rect">
            <a:avLst/>
          </a:prstGeom>
          <a:noFill/>
          <a:ln/>
        </p:spPr>
        <p:txBody>
          <a:bodyPr wrap="square" lIns="0" tIns="0" rIns="0" bIns="0" rtlCol="0" anchor="t"/>
          <a:lstStyle/>
          <a:p>
            <a:pPr algn="l" indent="0" marL="0">
              <a:spcBef>
                <a:spcPts val="400"/>
              </a:spcBef>
              <a:buNone/>
            </a:pPr>
            <a:r>
              <a:rPr lang="en-US" sz="1200" dirty="0">
                <a:solidFill>
                  <a:srgbClr val="5A5A5A"/>
                </a:solidFill>
                <a:latin typeface="Arial" pitchFamily="34" charset="0"/>
                <a:ea typeface="Arial" pitchFamily="34" charset="-122"/>
                <a:cs typeface="Arial" pitchFamily="34" charset="-120"/>
              </a:rPr>
              <a:t>Shared vendors and systemic scenarios. A capital question.</a:t>
            </a:r>
            <a:endParaRPr lang="en-US" sz="1200" dirty="0"/>
          </a:p>
        </p:txBody>
      </p:sp>
      <p:sp>
        <p:nvSpPr>
          <p:cNvPr id="24" name="Text 21"/>
          <p:cNvSpPr/>
          <p:nvPr/>
        </p:nvSpPr>
        <p:spPr>
          <a:xfrm>
            <a:off x="4622750" y="2926705"/>
            <a:ext cx="4191149" cy="1371600"/>
          </a:xfrm>
          <a:prstGeom prst="rect">
            <a:avLst/>
          </a:prstGeom>
          <a:solidFill>
            <a:srgbClr val="2A2A2A"/>
          </a:solidFill>
          <a:ln/>
        </p:spPr>
        <p:txBody>
          <a:bodyPr wrap="square" rtlCol="0" anchor="ctr"/>
          <a:lstStyle/>
          <a:p>
            <a:pPr indent="0" marL="0">
              <a:buNone/>
            </a:pPr>
            <a:endParaRPr lang="en-US" dirty="0"/>
          </a:p>
        </p:txBody>
      </p:sp>
      <p:sp>
        <p:nvSpPr>
          <p:cNvPr id="25" name="Shape 22"/>
          <p:cNvSpPr/>
          <p:nvPr/>
        </p:nvSpPr>
        <p:spPr>
          <a:xfrm>
            <a:off x="4622750" y="2950518"/>
            <a:ext cx="4191149" cy="0"/>
          </a:xfrm>
          <a:prstGeom prst="line">
            <a:avLst/>
          </a:prstGeom>
          <a:noFill/>
          <a:ln w="47625">
            <a:solidFill>
              <a:srgbClr val="D0372C"/>
            </a:solidFill>
            <a:prstDash val="solid"/>
          </a:ln>
        </p:spPr>
      </p:sp>
      <p:sp>
        <p:nvSpPr>
          <p:cNvPr id="26" name="Text 23"/>
          <p:cNvSpPr/>
          <p:nvPr/>
        </p:nvSpPr>
        <p:spPr>
          <a:xfrm>
            <a:off x="4775150" y="3101280"/>
            <a:ext cx="3964076"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WHAT YOU WILL WRITE</a:t>
            </a:r>
            <a:endParaRPr lang="en-US" sz="1000" dirty="0"/>
          </a:p>
        </p:txBody>
      </p:sp>
      <p:sp>
        <p:nvSpPr>
          <p:cNvPr id="27" name="Text 24"/>
          <p:cNvSpPr/>
          <p:nvPr/>
        </p:nvSpPr>
        <p:spPr>
          <a:xfrm>
            <a:off x="4775150" y="3320355"/>
            <a:ext cx="3964076" cy="209550"/>
          </a:xfrm>
          <a:prstGeom prst="rect">
            <a:avLst/>
          </a:prstGeom>
          <a:noFill/>
          <a:ln/>
        </p:spPr>
        <p:txBody>
          <a:bodyPr wrap="square" lIns="0" tIns="0" rIns="0" bIns="0" rtlCol="0" anchor="t"/>
          <a:lstStyle/>
          <a:p>
            <a:pPr algn="l" indent="0" marL="0">
              <a:spcBef>
                <a:spcPts val="600"/>
              </a:spcBef>
              <a:buNone/>
            </a:pPr>
            <a:r>
              <a:rPr lang="en-US" sz="1500" dirty="0">
                <a:solidFill>
                  <a:srgbClr val="FFFFFF"/>
                </a:solidFill>
                <a:latin typeface="Georgia" pitchFamily="34" charset="0"/>
                <a:ea typeface="Georgia" pitchFamily="34" charset="-122"/>
                <a:cs typeface="Georgia" pitchFamily="34" charset="-120"/>
              </a:rPr>
              <a:t>Your appetite</a:t>
            </a:r>
            <a:endParaRPr lang="en-US" sz="1500" dirty="0"/>
          </a:p>
        </p:txBody>
      </p:sp>
      <p:sp>
        <p:nvSpPr>
          <p:cNvPr id="28" name="Text 25"/>
          <p:cNvSpPr/>
          <p:nvPr/>
        </p:nvSpPr>
        <p:spPr>
          <a:xfrm>
            <a:off x="4775150" y="3580656"/>
            <a:ext cx="3964076" cy="171450"/>
          </a:xfrm>
          <a:prstGeom prst="rect">
            <a:avLst/>
          </a:prstGeom>
          <a:noFill/>
          <a:ln/>
        </p:spPr>
        <p:txBody>
          <a:bodyPr wrap="square" lIns="0" tIns="0" rIns="0" bIns="0" rtlCol="0" anchor="t"/>
          <a:lstStyle/>
          <a:p>
            <a:pPr algn="l" indent="0" marL="0">
              <a:spcBef>
                <a:spcPts val="400"/>
              </a:spcBef>
              <a:buNone/>
            </a:pPr>
            <a:r>
              <a:rPr lang="en-US" sz="1200" dirty="0">
                <a:solidFill>
                  <a:srgbClr val="D8D8D8"/>
                </a:solidFill>
                <a:latin typeface="Arial" pitchFamily="34" charset="0"/>
                <a:ea typeface="Arial" pitchFamily="34" charset="-122"/>
                <a:cs typeface="Arial" pitchFamily="34" charset="-120"/>
              </a:rPr>
              <a:t>The line, the floor, the sector you will actually defend.</a:t>
            </a:r>
            <a:endParaRPr lang="en-US" sz="1200" dirty="0"/>
          </a:p>
        </p:txBody>
      </p:sp>
      <p:sp>
        <p:nvSpPr>
          <p:cNvPr id="29" name="Text 26"/>
          <p:cNvSpPr/>
          <p:nvPr/>
        </p:nvSpPr>
        <p:spPr>
          <a:xfrm>
            <a:off x="330101" y="4380756"/>
            <a:ext cx="1956914"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Cyber underwriting  ·  Client discussion</a:t>
            </a:r>
            <a:endParaRPr lang="en-US" sz="900" dirty="0"/>
          </a:p>
        </p:txBody>
      </p:sp>
      <p:sp>
        <p:nvSpPr>
          <p:cNvPr id="30" name="Text 27"/>
          <p:cNvSpPr/>
          <p:nvPr/>
        </p:nvSpPr>
        <p:spPr>
          <a:xfrm>
            <a:off x="8686651" y="4380756"/>
            <a:ext cx="129793"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406301"/>
          </a:xfrm>
          <a:prstGeom prst="rect">
            <a:avLst/>
          </a:prstGeom>
          <a:solidFill>
            <a:srgbClr val="FFFFFF"/>
          </a:solidFill>
          <a:ln/>
        </p:spPr>
        <p:txBody>
          <a:bodyPr wrap="square" rtlCol="0" anchor="ctr"/>
          <a:lstStyle/>
          <a:p>
            <a:pPr indent="0" marL="0">
              <a:buNone/>
            </a:pPr>
            <a:endParaRPr lang="en-US" dirty="0"/>
          </a:p>
        </p:txBody>
      </p:sp>
      <p:pic>
        <p:nvPicPr>
          <p:cNvPr id="3" name="Image 0" descr="/Users/chandansharma/Documents/cyber-uw/docs/client/deck/slides/birlasoft-logo-on-white.png">    </p:cNvPr>
          <p:cNvPicPr>
            <a:picLocks noChangeAspect="1"/>
          </p:cNvPicPr>
          <p:nvPr/>
        </p:nvPicPr>
        <p:blipFill>
          <a:blip r:embed="rId1"/>
          <a:stretch>
            <a:fillRect/>
          </a:stretch>
        </p:blipFill>
        <p:spPr>
          <a:xfrm>
            <a:off x="330101" y="95101"/>
            <a:ext cx="990600" cy="279350"/>
          </a:xfrm>
          <a:prstGeom prst="rect">
            <a:avLst/>
          </a:prstGeom>
        </p:spPr>
      </p:pic>
      <p:sp>
        <p:nvSpPr>
          <p:cNvPr id="4" name="Text 1"/>
          <p:cNvSpPr/>
          <p:nvPr/>
        </p:nvSpPr>
        <p:spPr>
          <a:xfrm>
            <a:off x="8291661" y="163413"/>
            <a:ext cx="532683" cy="142875"/>
          </a:xfrm>
          <a:prstGeom prst="rect">
            <a:avLst/>
          </a:prstGeom>
          <a:noFill/>
          <a:ln/>
        </p:spPr>
        <p:txBody>
          <a:bodyPr wrap="square" lIns="0" tIns="0" rIns="0" bIns="0" rtlCol="0" anchor="t"/>
          <a:lstStyle/>
          <a:p>
            <a:pPr algn="l" indent="0" marL="0">
              <a:buNone/>
            </a:pPr>
            <a:r>
              <a:rPr lang="en-US" sz="1000" dirty="0">
                <a:solidFill>
                  <a:srgbClr val="5A5A5A"/>
                </a:solidFill>
                <a:latin typeface="Arial" pitchFamily="34" charset="0"/>
                <a:ea typeface="Arial" pitchFamily="34" charset="-122"/>
                <a:cs typeface="Arial" pitchFamily="34" charset="-120"/>
              </a:rPr>
              <a:t>The work</a:t>
            </a:r>
            <a:endParaRPr lang="en-US" sz="1000" dirty="0"/>
          </a:p>
        </p:txBody>
      </p:sp>
      <p:sp>
        <p:nvSpPr>
          <p:cNvPr id="5" name="Text 2"/>
          <p:cNvSpPr/>
          <p:nvPr/>
        </p:nvSpPr>
        <p:spPr>
          <a:xfrm>
            <a:off x="0" y="406301"/>
            <a:ext cx="9144000" cy="38100"/>
          </a:xfrm>
          <a:prstGeom prst="rect">
            <a:avLst/>
          </a:prstGeom>
          <a:solidFill>
            <a:srgbClr val="D0372C"/>
          </a:solidFill>
          <a:ln/>
        </p:spPr>
        <p:txBody>
          <a:bodyPr wrap="square" rtlCol="0" anchor="ctr"/>
          <a:lstStyle/>
          <a:p>
            <a:pPr indent="0" marL="0">
              <a:buNone/>
            </a:pPr>
            <a:endParaRPr lang="en-US" dirty="0"/>
          </a:p>
        </p:txBody>
      </p:sp>
      <p:sp>
        <p:nvSpPr>
          <p:cNvPr id="6" name="Text 3"/>
          <p:cNvSpPr/>
          <p:nvPr/>
        </p:nvSpPr>
        <p:spPr>
          <a:xfrm>
            <a:off x="330101" y="596801"/>
            <a:ext cx="8653474"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VALUE</a:t>
            </a:r>
            <a:endParaRPr lang="en-US" sz="1000" dirty="0"/>
          </a:p>
        </p:txBody>
      </p:sp>
      <p:sp>
        <p:nvSpPr>
          <p:cNvPr id="7" name="Text 4"/>
          <p:cNvSpPr/>
          <p:nvPr/>
        </p:nvSpPr>
        <p:spPr>
          <a:xfrm>
            <a:off x="330101" y="790426"/>
            <a:ext cx="8653474" cy="312837"/>
          </a:xfrm>
          <a:prstGeom prst="rect">
            <a:avLst/>
          </a:prstGeom>
          <a:noFill/>
          <a:ln/>
        </p:spPr>
        <p:txBody>
          <a:bodyPr wrap="square" lIns="0" tIns="0" rIns="0" bIns="0" rtlCol="0" anchor="t"/>
          <a:lstStyle/>
          <a:p>
            <a:pPr algn="l" indent="0" marL="0">
              <a:lnSpc>
                <a:spcPts val="2464"/>
              </a:lnSpc>
              <a:spcBef>
                <a:spcPts val="400"/>
              </a:spcBef>
              <a:buNone/>
            </a:pPr>
            <a:r>
              <a:rPr lang="en-US" sz="2200" dirty="0">
                <a:solidFill>
                  <a:srgbClr val="2A2A2A"/>
                </a:solidFill>
                <a:latin typeface="Georgia" pitchFamily="34" charset="0"/>
                <a:ea typeface="Georgia" pitchFamily="34" charset="-122"/>
                <a:cs typeface="Georgia" pitchFamily="34" charset="-120"/>
              </a:rPr>
              <a:t>Four jobs. Each one has to earn its place.</a:t>
            </a:r>
            <a:endParaRPr lang="en-US" sz="2200" dirty="0"/>
          </a:p>
        </p:txBody>
      </p:sp>
      <p:sp>
        <p:nvSpPr>
          <p:cNvPr id="8" name="Shape 5"/>
          <p:cNvSpPr/>
          <p:nvPr/>
        </p:nvSpPr>
        <p:spPr>
          <a:xfrm>
            <a:off x="330101" y="1449139"/>
            <a:ext cx="8483798" cy="0"/>
          </a:xfrm>
          <a:prstGeom prst="line">
            <a:avLst/>
          </a:prstGeom>
          <a:noFill/>
          <a:ln w="19050">
            <a:solidFill>
              <a:srgbClr val="2A2A2A"/>
            </a:solidFill>
            <a:prstDash val="solid"/>
          </a:ln>
        </p:spPr>
      </p:sp>
      <p:sp>
        <p:nvSpPr>
          <p:cNvPr id="9" name="Text 6"/>
          <p:cNvSpPr/>
          <p:nvPr/>
        </p:nvSpPr>
        <p:spPr>
          <a:xfrm>
            <a:off x="330101" y="1204764"/>
            <a:ext cx="2176272" cy="142875"/>
          </a:xfrm>
          <a:prstGeom prst="rect">
            <a:avLst/>
          </a:prstGeom>
          <a:noFill/>
          <a:ln/>
        </p:spPr>
        <p:txBody>
          <a:bodyPr wrap="square" lIns="0" tIns="0" rIns="0" bIns="0" rtlCol="0" anchor="t"/>
          <a:lstStyle/>
          <a:p>
            <a:pPr algn="l" indent="0" marL="0">
              <a:buNone/>
            </a:pPr>
            <a:r>
              <a:rPr lang="en-US" sz="1000" b="1" dirty="0">
                <a:solidFill>
                  <a:srgbClr val="2A2A2A"/>
                </a:solidFill>
                <a:latin typeface="Arial" pitchFamily="34" charset="0"/>
                <a:ea typeface="Arial" pitchFamily="34" charset="-122"/>
                <a:cs typeface="Arial" pitchFamily="34" charset="-120"/>
              </a:rPr>
              <a:t>JOB</a:t>
            </a:r>
            <a:endParaRPr lang="en-US" sz="1000" dirty="0"/>
          </a:p>
        </p:txBody>
      </p:sp>
      <p:sp>
        <p:nvSpPr>
          <p:cNvPr id="10" name="Text 7"/>
          <p:cNvSpPr/>
          <p:nvPr/>
        </p:nvSpPr>
        <p:spPr>
          <a:xfrm>
            <a:off x="2463701" y="1204764"/>
            <a:ext cx="4274820" cy="142875"/>
          </a:xfrm>
          <a:prstGeom prst="rect">
            <a:avLst/>
          </a:prstGeom>
          <a:noFill/>
          <a:ln/>
        </p:spPr>
        <p:txBody>
          <a:bodyPr wrap="square" lIns="0" tIns="0" rIns="0" bIns="0" rtlCol="0" anchor="t"/>
          <a:lstStyle/>
          <a:p>
            <a:pPr algn="l" indent="0" marL="0">
              <a:buNone/>
            </a:pPr>
            <a:r>
              <a:rPr lang="en-US" sz="1000" b="1" dirty="0">
                <a:solidFill>
                  <a:srgbClr val="2A2A2A"/>
                </a:solidFill>
                <a:latin typeface="Arial" pitchFamily="34" charset="0"/>
                <a:ea typeface="Arial" pitchFamily="34" charset="-122"/>
                <a:cs typeface="Arial" pitchFamily="34" charset="-120"/>
              </a:rPr>
              <a:t>ON THE FILE</a:t>
            </a:r>
            <a:endParaRPr lang="en-US" sz="1000" dirty="0"/>
          </a:p>
        </p:txBody>
      </p:sp>
      <p:sp>
        <p:nvSpPr>
          <p:cNvPr id="11" name="Text 8"/>
          <p:cNvSpPr/>
          <p:nvPr/>
        </p:nvSpPr>
        <p:spPr>
          <a:xfrm>
            <a:off x="6654701" y="1204764"/>
            <a:ext cx="2202382"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YOU SHOULD SEE</a:t>
            </a:r>
            <a:endParaRPr lang="en-US" sz="1000" dirty="0"/>
          </a:p>
        </p:txBody>
      </p:sp>
      <p:sp>
        <p:nvSpPr>
          <p:cNvPr id="12" name="Shape 9"/>
          <p:cNvSpPr/>
          <p:nvPr/>
        </p:nvSpPr>
        <p:spPr>
          <a:xfrm>
            <a:off x="330101" y="2088803"/>
            <a:ext cx="8483798" cy="0"/>
          </a:xfrm>
          <a:prstGeom prst="line">
            <a:avLst/>
          </a:prstGeom>
          <a:noFill/>
          <a:ln w="9525">
            <a:solidFill>
              <a:srgbClr val="E2E2E2"/>
            </a:solidFill>
            <a:prstDash val="solid"/>
          </a:ln>
        </p:spPr>
      </p:sp>
      <p:sp>
        <p:nvSpPr>
          <p:cNvPr id="13" name="Text 10"/>
          <p:cNvSpPr/>
          <p:nvPr/>
        </p:nvSpPr>
        <p:spPr>
          <a:xfrm>
            <a:off x="330101" y="1671340"/>
            <a:ext cx="2176272" cy="200025"/>
          </a:xfrm>
          <a:prstGeom prst="rect">
            <a:avLst/>
          </a:prstGeom>
          <a:noFill/>
          <a:ln/>
        </p:spPr>
        <p:txBody>
          <a:bodyPr wrap="square" lIns="0" tIns="0" rIns="0" bIns="0" rtlCol="0" anchor="t"/>
          <a:lstStyle/>
          <a:p>
            <a:pPr algn="l" indent="0" marL="0">
              <a:buNone/>
            </a:pPr>
            <a:r>
              <a:rPr lang="en-US" sz="1300" b="1" dirty="0">
                <a:solidFill>
                  <a:srgbClr val="2A2A2A"/>
                </a:solidFill>
                <a:latin typeface="Arial" pitchFamily="34" charset="0"/>
                <a:ea typeface="Arial" pitchFamily="34" charset="-122"/>
                <a:cs typeface="Arial" pitchFamily="34" charset="-120"/>
              </a:rPr>
              <a:t>Sort the intake</a:t>
            </a:r>
            <a:endParaRPr lang="en-US" sz="1300" dirty="0"/>
          </a:p>
        </p:txBody>
      </p:sp>
      <p:sp>
        <p:nvSpPr>
          <p:cNvPr id="14" name="Text 11"/>
          <p:cNvSpPr/>
          <p:nvPr/>
        </p:nvSpPr>
        <p:spPr>
          <a:xfrm>
            <a:off x="2463701" y="1685627"/>
            <a:ext cx="4171289" cy="171450"/>
          </a:xfrm>
          <a:prstGeom prst="rect">
            <a:avLst/>
          </a:prstGeom>
          <a:noFill/>
          <a:ln/>
        </p:spPr>
        <p:txBody>
          <a:bodyPr wrap="square" lIns="0" tIns="0" rIns="0" bIns="0" rtlCol="0" anchor="t"/>
          <a:lstStyle/>
          <a:p>
            <a:pPr algn="l" indent="0" marL="0">
              <a:buNone/>
            </a:pPr>
            <a:r>
              <a:rPr lang="en-US" sz="1200" dirty="0">
                <a:solidFill>
                  <a:srgbClr val="5A5A5A"/>
                </a:solidFill>
                <a:latin typeface="Arial" pitchFamily="34" charset="0"/>
                <a:ea typeface="Arial" pitchFamily="34" charset="-122"/>
                <a:cs typeface="Arial" pitchFamily="34" charset="-120"/>
              </a:rPr>
              <a:t>One record. Right queue. Right owner.</a:t>
            </a:r>
            <a:endParaRPr lang="en-US" sz="1200" dirty="0"/>
          </a:p>
        </p:txBody>
      </p:sp>
      <p:sp>
        <p:nvSpPr>
          <p:cNvPr id="15" name="Text 12"/>
          <p:cNvSpPr/>
          <p:nvPr/>
        </p:nvSpPr>
        <p:spPr>
          <a:xfrm>
            <a:off x="6654701" y="1671340"/>
            <a:ext cx="2202382" cy="200025"/>
          </a:xfrm>
          <a:prstGeom prst="rect">
            <a:avLst/>
          </a:prstGeom>
          <a:noFill/>
          <a:ln/>
        </p:spPr>
        <p:txBody>
          <a:bodyPr wrap="square" lIns="0" tIns="0" rIns="0" bIns="0" rtlCol="0" anchor="t"/>
          <a:lstStyle/>
          <a:p>
            <a:pPr algn="l" indent="0" marL="0">
              <a:buNone/>
            </a:pPr>
            <a:r>
              <a:rPr lang="en-US" sz="1300" b="1" dirty="0">
                <a:solidFill>
                  <a:srgbClr val="D0372C"/>
                </a:solidFill>
                <a:latin typeface="Arial" pitchFamily="34" charset="0"/>
                <a:ea typeface="Arial" pitchFamily="34" charset="-122"/>
                <a:cs typeface="Arial" pitchFamily="34" charset="-120"/>
              </a:rPr>
              <a:t>Less re-keying</a:t>
            </a:r>
            <a:endParaRPr lang="en-US" sz="1300" dirty="0"/>
          </a:p>
        </p:txBody>
      </p:sp>
      <p:sp>
        <p:nvSpPr>
          <p:cNvPr id="16" name="Shape 13"/>
          <p:cNvSpPr/>
          <p:nvPr/>
        </p:nvSpPr>
        <p:spPr>
          <a:xfrm>
            <a:off x="330101" y="2723704"/>
            <a:ext cx="8483798" cy="0"/>
          </a:xfrm>
          <a:prstGeom prst="line">
            <a:avLst/>
          </a:prstGeom>
          <a:noFill/>
          <a:ln w="9525">
            <a:solidFill>
              <a:srgbClr val="E2E2E2"/>
            </a:solidFill>
            <a:prstDash val="solid"/>
          </a:ln>
        </p:spPr>
      </p:sp>
      <p:sp>
        <p:nvSpPr>
          <p:cNvPr id="17" name="Text 14"/>
          <p:cNvSpPr/>
          <p:nvPr/>
        </p:nvSpPr>
        <p:spPr>
          <a:xfrm>
            <a:off x="330101" y="2306241"/>
            <a:ext cx="2176272" cy="200025"/>
          </a:xfrm>
          <a:prstGeom prst="rect">
            <a:avLst/>
          </a:prstGeom>
          <a:noFill/>
          <a:ln/>
        </p:spPr>
        <p:txBody>
          <a:bodyPr wrap="square" lIns="0" tIns="0" rIns="0" bIns="0" rtlCol="0" anchor="t"/>
          <a:lstStyle/>
          <a:p>
            <a:pPr algn="l" indent="0" marL="0">
              <a:buNone/>
            </a:pPr>
            <a:r>
              <a:rPr lang="en-US" sz="1300" b="1" dirty="0">
                <a:solidFill>
                  <a:srgbClr val="2A2A2A"/>
                </a:solidFill>
                <a:latin typeface="Arial" pitchFamily="34" charset="0"/>
                <a:ea typeface="Arial" pitchFamily="34" charset="-122"/>
                <a:cs typeface="Arial" pitchFamily="34" charset="-120"/>
              </a:rPr>
              <a:t>Check the extract</a:t>
            </a:r>
            <a:endParaRPr lang="en-US" sz="1300" dirty="0"/>
          </a:p>
        </p:txBody>
      </p:sp>
      <p:sp>
        <p:nvSpPr>
          <p:cNvPr id="18" name="Text 15"/>
          <p:cNvSpPr/>
          <p:nvPr/>
        </p:nvSpPr>
        <p:spPr>
          <a:xfrm>
            <a:off x="2463701" y="2320528"/>
            <a:ext cx="4171289" cy="171450"/>
          </a:xfrm>
          <a:prstGeom prst="rect">
            <a:avLst/>
          </a:prstGeom>
          <a:noFill/>
          <a:ln/>
        </p:spPr>
        <p:txBody>
          <a:bodyPr wrap="square" lIns="0" tIns="0" rIns="0" bIns="0" rtlCol="0" anchor="t"/>
          <a:lstStyle/>
          <a:p>
            <a:pPr algn="l" indent="0" marL="0">
              <a:buNone/>
            </a:pPr>
            <a:r>
              <a:rPr lang="en-US" sz="1200" dirty="0">
                <a:solidFill>
                  <a:srgbClr val="5A5A5A"/>
                </a:solidFill>
                <a:latin typeface="Arial" pitchFamily="34" charset="0"/>
                <a:ea typeface="Arial" pitchFamily="34" charset="-122"/>
                <a:cs typeface="Arial" pitchFamily="34" charset="-120"/>
              </a:rPr>
              <a:t>Every field points back at the page it came from.</a:t>
            </a:r>
            <a:endParaRPr lang="en-US" sz="1200" dirty="0"/>
          </a:p>
        </p:txBody>
      </p:sp>
      <p:sp>
        <p:nvSpPr>
          <p:cNvPr id="19" name="Text 16"/>
          <p:cNvSpPr/>
          <p:nvPr/>
        </p:nvSpPr>
        <p:spPr>
          <a:xfrm>
            <a:off x="6654701" y="2306241"/>
            <a:ext cx="2202382" cy="200025"/>
          </a:xfrm>
          <a:prstGeom prst="rect">
            <a:avLst/>
          </a:prstGeom>
          <a:noFill/>
          <a:ln/>
        </p:spPr>
        <p:txBody>
          <a:bodyPr wrap="square" lIns="0" tIns="0" rIns="0" bIns="0" rtlCol="0" anchor="t"/>
          <a:lstStyle/>
          <a:p>
            <a:pPr algn="l" indent="0" marL="0">
              <a:buNone/>
            </a:pPr>
            <a:r>
              <a:rPr lang="en-US" sz="1300" b="1" dirty="0">
                <a:solidFill>
                  <a:srgbClr val="D0372C"/>
                </a:solidFill>
                <a:latin typeface="Arial" pitchFamily="34" charset="0"/>
                <a:ea typeface="Arial" pitchFamily="34" charset="-122"/>
                <a:cs typeface="Arial" pitchFamily="34" charset="-120"/>
              </a:rPr>
              <a:t>A field you can reject</a:t>
            </a:r>
            <a:endParaRPr lang="en-US" sz="1300" dirty="0"/>
          </a:p>
        </p:txBody>
      </p:sp>
      <p:sp>
        <p:nvSpPr>
          <p:cNvPr id="20" name="Shape 17"/>
          <p:cNvSpPr/>
          <p:nvPr/>
        </p:nvSpPr>
        <p:spPr>
          <a:xfrm>
            <a:off x="330101" y="3358604"/>
            <a:ext cx="8483798" cy="0"/>
          </a:xfrm>
          <a:prstGeom prst="line">
            <a:avLst/>
          </a:prstGeom>
          <a:noFill/>
          <a:ln w="9525">
            <a:solidFill>
              <a:srgbClr val="E2E2E2"/>
            </a:solidFill>
            <a:prstDash val="solid"/>
          </a:ln>
        </p:spPr>
      </p:sp>
      <p:sp>
        <p:nvSpPr>
          <p:cNvPr id="21" name="Text 18"/>
          <p:cNvSpPr/>
          <p:nvPr/>
        </p:nvSpPr>
        <p:spPr>
          <a:xfrm>
            <a:off x="330101" y="2941141"/>
            <a:ext cx="2176272" cy="200025"/>
          </a:xfrm>
          <a:prstGeom prst="rect">
            <a:avLst/>
          </a:prstGeom>
          <a:noFill/>
          <a:ln/>
        </p:spPr>
        <p:txBody>
          <a:bodyPr wrap="square" lIns="0" tIns="0" rIns="0" bIns="0" rtlCol="0" anchor="t"/>
          <a:lstStyle/>
          <a:p>
            <a:pPr algn="l" indent="0" marL="0">
              <a:buNone/>
            </a:pPr>
            <a:r>
              <a:rPr lang="en-US" sz="1300" b="1" dirty="0">
                <a:solidFill>
                  <a:srgbClr val="2A2A2A"/>
                </a:solidFill>
                <a:latin typeface="Arial" pitchFamily="34" charset="0"/>
                <a:ea typeface="Arial" pitchFamily="34" charset="-122"/>
                <a:cs typeface="Arial" pitchFamily="34" charset="-120"/>
              </a:rPr>
              <a:t>Hold it to a signal</a:t>
            </a:r>
            <a:endParaRPr lang="en-US" sz="1300" dirty="0"/>
          </a:p>
        </p:txBody>
      </p:sp>
      <p:sp>
        <p:nvSpPr>
          <p:cNvPr id="22" name="Text 19"/>
          <p:cNvSpPr/>
          <p:nvPr/>
        </p:nvSpPr>
        <p:spPr>
          <a:xfrm>
            <a:off x="2463701" y="2955429"/>
            <a:ext cx="4171289" cy="171450"/>
          </a:xfrm>
          <a:prstGeom prst="rect">
            <a:avLst/>
          </a:prstGeom>
          <a:noFill/>
          <a:ln/>
        </p:spPr>
        <p:txBody>
          <a:bodyPr wrap="square" lIns="0" tIns="0" rIns="0" bIns="0" rtlCol="0" anchor="t"/>
          <a:lstStyle/>
          <a:p>
            <a:pPr algn="l" indent="0" marL="0">
              <a:buNone/>
            </a:pPr>
            <a:r>
              <a:rPr lang="en-US" sz="1200" dirty="0">
                <a:solidFill>
                  <a:srgbClr val="5A5A5A"/>
                </a:solidFill>
                <a:latin typeface="Arial" pitchFamily="34" charset="0"/>
                <a:ea typeface="Arial" pitchFamily="34" charset="-122"/>
                <a:cs typeface="Arial" pitchFamily="34" charset="-120"/>
              </a:rPr>
              <a:t>Missing or conflicting evidence, before anyone prices.</a:t>
            </a:r>
            <a:endParaRPr lang="en-US" sz="1200" dirty="0"/>
          </a:p>
        </p:txBody>
      </p:sp>
      <p:sp>
        <p:nvSpPr>
          <p:cNvPr id="23" name="Text 20"/>
          <p:cNvSpPr/>
          <p:nvPr/>
        </p:nvSpPr>
        <p:spPr>
          <a:xfrm>
            <a:off x="6654701" y="2941141"/>
            <a:ext cx="2202382" cy="200025"/>
          </a:xfrm>
          <a:prstGeom prst="rect">
            <a:avLst/>
          </a:prstGeom>
          <a:noFill/>
          <a:ln/>
        </p:spPr>
        <p:txBody>
          <a:bodyPr wrap="square" lIns="0" tIns="0" rIns="0" bIns="0" rtlCol="0" anchor="t"/>
          <a:lstStyle/>
          <a:p>
            <a:pPr algn="l" indent="0" marL="0">
              <a:buNone/>
            </a:pPr>
            <a:r>
              <a:rPr lang="en-US" sz="1300" b="1" dirty="0">
                <a:solidFill>
                  <a:srgbClr val="D0372C"/>
                </a:solidFill>
                <a:latin typeface="Arial" pitchFamily="34" charset="0"/>
                <a:ea typeface="Arial" pitchFamily="34" charset="-122"/>
                <a:cs typeface="Arial" pitchFamily="34" charset="-120"/>
              </a:rPr>
              <a:t>A question sent early</a:t>
            </a:r>
            <a:endParaRPr lang="en-US" sz="1300" dirty="0"/>
          </a:p>
        </p:txBody>
      </p:sp>
      <p:sp>
        <p:nvSpPr>
          <p:cNvPr id="24" name="Text 21"/>
          <p:cNvSpPr/>
          <p:nvPr/>
        </p:nvSpPr>
        <p:spPr>
          <a:xfrm>
            <a:off x="330101" y="3580805"/>
            <a:ext cx="2176272" cy="200025"/>
          </a:xfrm>
          <a:prstGeom prst="rect">
            <a:avLst/>
          </a:prstGeom>
          <a:noFill/>
          <a:ln/>
        </p:spPr>
        <p:txBody>
          <a:bodyPr wrap="square" lIns="0" tIns="0" rIns="0" bIns="0" rtlCol="0" anchor="t"/>
          <a:lstStyle/>
          <a:p>
            <a:pPr algn="l" indent="0" marL="0">
              <a:buNone/>
            </a:pPr>
            <a:r>
              <a:rPr lang="en-US" sz="1300" b="1" dirty="0">
                <a:solidFill>
                  <a:srgbClr val="2A2A2A"/>
                </a:solidFill>
                <a:latin typeface="Arial" pitchFamily="34" charset="0"/>
                <a:ea typeface="Arial" pitchFamily="34" charset="-122"/>
                <a:cs typeface="Arial" pitchFamily="34" charset="-120"/>
              </a:rPr>
              <a:t>Write the reason</a:t>
            </a:r>
            <a:endParaRPr lang="en-US" sz="1300" dirty="0"/>
          </a:p>
        </p:txBody>
      </p:sp>
      <p:sp>
        <p:nvSpPr>
          <p:cNvPr id="25" name="Text 22"/>
          <p:cNvSpPr/>
          <p:nvPr/>
        </p:nvSpPr>
        <p:spPr>
          <a:xfrm>
            <a:off x="2463701" y="3595092"/>
            <a:ext cx="4171289" cy="171450"/>
          </a:xfrm>
          <a:prstGeom prst="rect">
            <a:avLst/>
          </a:prstGeom>
          <a:noFill/>
          <a:ln/>
        </p:spPr>
        <p:txBody>
          <a:bodyPr wrap="square" lIns="0" tIns="0" rIns="0" bIns="0" rtlCol="0" anchor="t"/>
          <a:lstStyle/>
          <a:p>
            <a:pPr algn="l" indent="0" marL="0">
              <a:buNone/>
            </a:pPr>
            <a:r>
              <a:rPr lang="en-US" sz="1200" dirty="0">
                <a:solidFill>
                  <a:srgbClr val="5A5A5A"/>
                </a:solidFill>
                <a:latin typeface="Arial" pitchFamily="34" charset="0"/>
                <a:ea typeface="Arial" pitchFamily="34" charset="-122"/>
                <a:cs typeface="Arial" pitchFamily="34" charset="-120"/>
              </a:rPr>
              <a:t>Rationale, open items, and the next action.</a:t>
            </a:r>
            <a:endParaRPr lang="en-US" sz="1200" dirty="0"/>
          </a:p>
        </p:txBody>
      </p:sp>
      <p:sp>
        <p:nvSpPr>
          <p:cNvPr id="26" name="Text 23"/>
          <p:cNvSpPr/>
          <p:nvPr/>
        </p:nvSpPr>
        <p:spPr>
          <a:xfrm>
            <a:off x="6654701" y="3580805"/>
            <a:ext cx="2202382" cy="200025"/>
          </a:xfrm>
          <a:prstGeom prst="rect">
            <a:avLst/>
          </a:prstGeom>
          <a:noFill/>
          <a:ln/>
        </p:spPr>
        <p:txBody>
          <a:bodyPr wrap="square" lIns="0" tIns="0" rIns="0" bIns="0" rtlCol="0" anchor="t"/>
          <a:lstStyle/>
          <a:p>
            <a:pPr algn="l" indent="0" marL="0">
              <a:buNone/>
            </a:pPr>
            <a:r>
              <a:rPr lang="en-US" sz="1300" b="1" dirty="0">
                <a:solidFill>
                  <a:srgbClr val="D0372C"/>
                </a:solidFill>
                <a:latin typeface="Arial" pitchFamily="34" charset="0"/>
                <a:ea typeface="Arial" pitchFamily="34" charset="-122"/>
                <a:cs typeface="Arial" pitchFamily="34" charset="-120"/>
              </a:rPr>
              <a:t>A referral that travels</a:t>
            </a:r>
            <a:endParaRPr lang="en-US" sz="1300" dirty="0"/>
          </a:p>
        </p:txBody>
      </p:sp>
      <p:sp>
        <p:nvSpPr>
          <p:cNvPr id="27" name="Text 24"/>
          <p:cNvSpPr/>
          <p:nvPr/>
        </p:nvSpPr>
        <p:spPr>
          <a:xfrm>
            <a:off x="330101" y="4080718"/>
            <a:ext cx="1956914"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Cyber underwriting  ·  Client discussion</a:t>
            </a:r>
            <a:endParaRPr lang="en-US" sz="900" dirty="0"/>
          </a:p>
        </p:txBody>
      </p:sp>
      <p:sp>
        <p:nvSpPr>
          <p:cNvPr id="28" name="Text 25"/>
          <p:cNvSpPr/>
          <p:nvPr/>
        </p:nvSpPr>
        <p:spPr>
          <a:xfrm>
            <a:off x="8686651" y="4080718"/>
            <a:ext cx="129793"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406301"/>
          </a:xfrm>
          <a:prstGeom prst="rect">
            <a:avLst/>
          </a:prstGeom>
          <a:solidFill>
            <a:srgbClr val="FFFFFF"/>
          </a:solidFill>
          <a:ln/>
        </p:spPr>
        <p:txBody>
          <a:bodyPr wrap="square" rtlCol="0" anchor="ctr"/>
          <a:lstStyle/>
          <a:p>
            <a:pPr indent="0" marL="0">
              <a:buNone/>
            </a:pPr>
            <a:endParaRPr lang="en-US" dirty="0"/>
          </a:p>
        </p:txBody>
      </p:sp>
      <p:pic>
        <p:nvPicPr>
          <p:cNvPr id="3" name="Image 0" descr="/Users/chandansharma/Documents/cyber-uw/docs/client/deck/slides/birlasoft-logo-on-white.png">    </p:cNvPr>
          <p:cNvPicPr>
            <a:picLocks noChangeAspect="1"/>
          </p:cNvPicPr>
          <p:nvPr/>
        </p:nvPicPr>
        <p:blipFill>
          <a:blip r:embed="rId1"/>
          <a:stretch>
            <a:fillRect/>
          </a:stretch>
        </p:blipFill>
        <p:spPr>
          <a:xfrm>
            <a:off x="330101" y="95101"/>
            <a:ext cx="990600" cy="279350"/>
          </a:xfrm>
          <a:prstGeom prst="rect">
            <a:avLst/>
          </a:prstGeom>
        </p:spPr>
      </p:pic>
      <p:sp>
        <p:nvSpPr>
          <p:cNvPr id="4" name="Text 1"/>
          <p:cNvSpPr/>
          <p:nvPr/>
        </p:nvSpPr>
        <p:spPr>
          <a:xfrm>
            <a:off x="8291661" y="163413"/>
            <a:ext cx="532683" cy="142875"/>
          </a:xfrm>
          <a:prstGeom prst="rect">
            <a:avLst/>
          </a:prstGeom>
          <a:noFill/>
          <a:ln/>
        </p:spPr>
        <p:txBody>
          <a:bodyPr wrap="square" lIns="0" tIns="0" rIns="0" bIns="0" rtlCol="0" anchor="t"/>
          <a:lstStyle/>
          <a:p>
            <a:pPr algn="l" indent="0" marL="0">
              <a:buNone/>
            </a:pPr>
            <a:r>
              <a:rPr lang="en-US" sz="1000" dirty="0">
                <a:solidFill>
                  <a:srgbClr val="5A5A5A"/>
                </a:solidFill>
                <a:latin typeface="Arial" pitchFamily="34" charset="0"/>
                <a:ea typeface="Arial" pitchFamily="34" charset="-122"/>
                <a:cs typeface="Arial" pitchFamily="34" charset="-120"/>
              </a:rPr>
              <a:t>The work</a:t>
            </a:r>
            <a:endParaRPr lang="en-US" sz="1000" dirty="0"/>
          </a:p>
        </p:txBody>
      </p:sp>
      <p:sp>
        <p:nvSpPr>
          <p:cNvPr id="5" name="Text 2"/>
          <p:cNvSpPr/>
          <p:nvPr/>
        </p:nvSpPr>
        <p:spPr>
          <a:xfrm>
            <a:off x="0" y="406301"/>
            <a:ext cx="9144000" cy="38100"/>
          </a:xfrm>
          <a:prstGeom prst="rect">
            <a:avLst/>
          </a:prstGeom>
          <a:solidFill>
            <a:srgbClr val="D0372C"/>
          </a:solidFill>
          <a:ln/>
        </p:spPr>
        <p:txBody>
          <a:bodyPr wrap="square" rtlCol="0" anchor="ctr"/>
          <a:lstStyle/>
          <a:p>
            <a:pPr indent="0" marL="0">
              <a:buNone/>
            </a:pPr>
            <a:endParaRPr lang="en-US" dirty="0"/>
          </a:p>
        </p:txBody>
      </p:sp>
      <p:sp>
        <p:nvSpPr>
          <p:cNvPr id="6" name="Text 3"/>
          <p:cNvSpPr/>
          <p:nvPr/>
        </p:nvSpPr>
        <p:spPr>
          <a:xfrm>
            <a:off x="330101" y="596801"/>
            <a:ext cx="8653474"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VALUE</a:t>
            </a:r>
            <a:endParaRPr lang="en-US" sz="1000" dirty="0"/>
          </a:p>
        </p:txBody>
      </p:sp>
      <p:sp>
        <p:nvSpPr>
          <p:cNvPr id="7" name="Text 4"/>
          <p:cNvSpPr/>
          <p:nvPr/>
        </p:nvSpPr>
        <p:spPr>
          <a:xfrm>
            <a:off x="330101" y="790426"/>
            <a:ext cx="8653474" cy="312837"/>
          </a:xfrm>
          <a:prstGeom prst="rect">
            <a:avLst/>
          </a:prstGeom>
          <a:noFill/>
          <a:ln/>
        </p:spPr>
        <p:txBody>
          <a:bodyPr wrap="square" lIns="0" tIns="0" rIns="0" bIns="0" rtlCol="0" anchor="t"/>
          <a:lstStyle/>
          <a:p>
            <a:pPr algn="l" indent="0" marL="0">
              <a:lnSpc>
                <a:spcPts val="2464"/>
              </a:lnSpc>
              <a:spcBef>
                <a:spcPts val="400"/>
              </a:spcBef>
              <a:buNone/>
            </a:pPr>
            <a:r>
              <a:rPr lang="en-US" sz="2200" dirty="0">
                <a:solidFill>
                  <a:srgbClr val="2A2A2A"/>
                </a:solidFill>
                <a:latin typeface="Georgia" pitchFamily="34" charset="0"/>
                <a:ea typeface="Georgia" pitchFamily="34" charset="-122"/>
                <a:cs typeface="Georgia" pitchFamily="34" charset="-120"/>
              </a:rPr>
              <a:t>The question you will get in the room</a:t>
            </a:r>
            <a:endParaRPr lang="en-US" sz="2200" dirty="0"/>
          </a:p>
        </p:txBody>
      </p:sp>
      <p:sp>
        <p:nvSpPr>
          <p:cNvPr id="8" name="Shape 5"/>
          <p:cNvSpPr/>
          <p:nvPr/>
        </p:nvSpPr>
        <p:spPr>
          <a:xfrm>
            <a:off x="353913" y="1204764"/>
            <a:ext cx="0" cy="355402"/>
          </a:xfrm>
          <a:prstGeom prst="line">
            <a:avLst/>
          </a:prstGeom>
          <a:noFill/>
          <a:ln w="47625">
            <a:solidFill>
              <a:srgbClr val="D0372C"/>
            </a:solidFill>
            <a:prstDash val="solid"/>
          </a:ln>
        </p:spPr>
      </p:sp>
      <p:sp>
        <p:nvSpPr>
          <p:cNvPr id="9" name="Text 6"/>
          <p:cNvSpPr/>
          <p:nvPr/>
        </p:nvSpPr>
        <p:spPr>
          <a:xfrm>
            <a:off x="530126" y="1230064"/>
            <a:ext cx="8449449" cy="304800"/>
          </a:xfrm>
          <a:prstGeom prst="rect">
            <a:avLst/>
          </a:prstGeom>
          <a:noFill/>
          <a:ln/>
        </p:spPr>
        <p:txBody>
          <a:bodyPr wrap="square" lIns="0" tIns="0" rIns="0" bIns="0" rtlCol="0" anchor="t"/>
          <a:lstStyle/>
          <a:p>
            <a:pPr algn="l" indent="0" marL="0">
              <a:lnSpc>
                <a:spcPts val="2400"/>
              </a:lnSpc>
              <a:buNone/>
            </a:pPr>
            <a:r>
              <a:rPr lang="en-US" sz="2000" dirty="0">
                <a:solidFill>
                  <a:srgbClr val="2A2A2A"/>
                </a:solidFill>
                <a:latin typeface="Georgia" pitchFamily="34" charset="0"/>
                <a:ea typeface="Georgia" pitchFamily="34" charset="-122"/>
                <a:cs typeface="Georgia" pitchFamily="34" charset="-120"/>
              </a:rPr>
              <a:t>Did we get faster, and did we give a control away to do it?</a:t>
            </a:r>
            <a:endParaRPr lang="en-US" sz="2000" dirty="0"/>
          </a:p>
        </p:txBody>
      </p:sp>
      <p:sp>
        <p:nvSpPr>
          <p:cNvPr id="10" name="Text 7"/>
          <p:cNvSpPr/>
          <p:nvPr/>
        </p:nvSpPr>
        <p:spPr>
          <a:xfrm>
            <a:off x="330101" y="1712565"/>
            <a:ext cx="2670700"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OPERATIONS</a:t>
            </a:r>
            <a:endParaRPr lang="en-US" sz="1000" dirty="0"/>
          </a:p>
        </p:txBody>
      </p:sp>
      <p:sp>
        <p:nvSpPr>
          <p:cNvPr id="11" name="Text 8"/>
          <p:cNvSpPr/>
          <p:nvPr/>
        </p:nvSpPr>
        <p:spPr>
          <a:xfrm>
            <a:off x="330101" y="1906191"/>
            <a:ext cx="2670700" cy="209550"/>
          </a:xfrm>
          <a:prstGeom prst="rect">
            <a:avLst/>
          </a:prstGeom>
          <a:noFill/>
          <a:ln/>
        </p:spPr>
        <p:txBody>
          <a:bodyPr wrap="square" lIns="0" tIns="0" rIns="0" bIns="0" rtlCol="0" anchor="t"/>
          <a:lstStyle/>
          <a:p>
            <a:pPr algn="l" indent="0" marL="0">
              <a:spcBef>
                <a:spcPts val="400"/>
              </a:spcBef>
              <a:buNone/>
            </a:pPr>
            <a:r>
              <a:rPr lang="en-US" sz="1400" b="1" dirty="0">
                <a:solidFill>
                  <a:srgbClr val="2A2A2A"/>
                </a:solidFill>
                <a:latin typeface="Arial" pitchFamily="34" charset="0"/>
                <a:ea typeface="Arial" pitchFamily="34" charset="-122"/>
                <a:cs typeface="Arial" pitchFamily="34" charset="-120"/>
              </a:rPr>
              <a:t>Fewer touches</a:t>
            </a:r>
            <a:endParaRPr lang="en-US" sz="1400" dirty="0"/>
          </a:p>
        </p:txBody>
      </p:sp>
      <p:sp>
        <p:nvSpPr>
          <p:cNvPr id="12" name="Text 9"/>
          <p:cNvSpPr/>
          <p:nvPr/>
        </p:nvSpPr>
        <p:spPr>
          <a:xfrm>
            <a:off x="330101" y="2166491"/>
            <a:ext cx="2670700" cy="396180"/>
          </a:xfrm>
          <a:prstGeom prst="rect">
            <a:avLst/>
          </a:prstGeom>
          <a:noFill/>
          <a:ln/>
        </p:spPr>
        <p:txBody>
          <a:bodyPr wrap="square" lIns="0" tIns="0" rIns="0" bIns="0" rtlCol="0" anchor="t"/>
          <a:lstStyle/>
          <a:p>
            <a:pPr algn="l" indent="0" marL="0">
              <a:lnSpc>
                <a:spcPts val="1560"/>
              </a:lnSpc>
              <a:spcBef>
                <a:spcPts val="400"/>
              </a:spcBef>
              <a:buNone/>
            </a:pPr>
            <a:r>
              <a:rPr lang="en-US" sz="1200" dirty="0">
                <a:solidFill>
                  <a:srgbClr val="5A5A5A"/>
                </a:solidFill>
                <a:latin typeface="Arial" pitchFamily="34" charset="0"/>
                <a:ea typeface="Arial" pitchFamily="34" charset="-122"/>
                <a:cs typeface="Arial" pitchFamily="34" charset="-120"/>
              </a:rPr>
              <a:t>Triage, re-entry, and the chase for a missing page.</a:t>
            </a:r>
            <a:endParaRPr lang="en-US" sz="1200" dirty="0"/>
          </a:p>
        </p:txBody>
      </p:sp>
      <p:sp>
        <p:nvSpPr>
          <p:cNvPr id="13" name="Shape 10"/>
          <p:cNvSpPr/>
          <p:nvPr/>
        </p:nvSpPr>
        <p:spPr>
          <a:xfrm>
            <a:off x="3105596" y="1712565"/>
            <a:ext cx="0" cy="850106"/>
          </a:xfrm>
          <a:prstGeom prst="line">
            <a:avLst/>
          </a:prstGeom>
          <a:noFill/>
          <a:ln w="9525">
            <a:solidFill>
              <a:srgbClr val="E2E2E2"/>
            </a:solidFill>
            <a:prstDash val="solid"/>
          </a:ln>
        </p:spPr>
      </p:sp>
      <p:sp>
        <p:nvSpPr>
          <p:cNvPr id="14" name="Text 11"/>
          <p:cNvSpPr/>
          <p:nvPr/>
        </p:nvSpPr>
        <p:spPr>
          <a:xfrm>
            <a:off x="3262759" y="1712565"/>
            <a:ext cx="2670852"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UNDERWRITERS</a:t>
            </a:r>
            <a:endParaRPr lang="en-US" sz="1000" dirty="0"/>
          </a:p>
        </p:txBody>
      </p:sp>
      <p:sp>
        <p:nvSpPr>
          <p:cNvPr id="15" name="Text 12"/>
          <p:cNvSpPr/>
          <p:nvPr/>
        </p:nvSpPr>
        <p:spPr>
          <a:xfrm>
            <a:off x="3262759" y="1906191"/>
            <a:ext cx="2670852" cy="209550"/>
          </a:xfrm>
          <a:prstGeom prst="rect">
            <a:avLst/>
          </a:prstGeom>
          <a:noFill/>
          <a:ln/>
        </p:spPr>
        <p:txBody>
          <a:bodyPr wrap="square" lIns="0" tIns="0" rIns="0" bIns="0" rtlCol="0" anchor="t"/>
          <a:lstStyle/>
          <a:p>
            <a:pPr algn="l" indent="0" marL="0">
              <a:spcBef>
                <a:spcPts val="400"/>
              </a:spcBef>
              <a:buNone/>
            </a:pPr>
            <a:r>
              <a:rPr lang="en-US" sz="1400" b="1" dirty="0">
                <a:solidFill>
                  <a:srgbClr val="2A2A2A"/>
                </a:solidFill>
                <a:latin typeface="Arial" pitchFamily="34" charset="0"/>
                <a:ea typeface="Arial" pitchFamily="34" charset="-122"/>
                <a:cs typeface="Arial" pitchFamily="34" charset="-120"/>
              </a:rPr>
              <a:t>The hour back</a:t>
            </a:r>
            <a:endParaRPr lang="en-US" sz="1400" dirty="0"/>
          </a:p>
        </p:txBody>
      </p:sp>
      <p:sp>
        <p:nvSpPr>
          <p:cNvPr id="16" name="Text 13"/>
          <p:cNvSpPr/>
          <p:nvPr/>
        </p:nvSpPr>
        <p:spPr>
          <a:xfrm>
            <a:off x="3262759" y="2166491"/>
            <a:ext cx="2670852" cy="396180"/>
          </a:xfrm>
          <a:prstGeom prst="rect">
            <a:avLst/>
          </a:prstGeom>
          <a:noFill/>
          <a:ln/>
        </p:spPr>
        <p:txBody>
          <a:bodyPr wrap="square" lIns="0" tIns="0" rIns="0" bIns="0" rtlCol="0" anchor="t"/>
          <a:lstStyle/>
          <a:p>
            <a:pPr algn="l" indent="0" marL="0">
              <a:lnSpc>
                <a:spcPts val="1560"/>
              </a:lnSpc>
              <a:spcBef>
                <a:spcPts val="400"/>
              </a:spcBef>
              <a:buNone/>
            </a:pPr>
            <a:r>
              <a:rPr lang="en-US" sz="1200" dirty="0">
                <a:solidFill>
                  <a:srgbClr val="5A5A5A"/>
                </a:solidFill>
                <a:latin typeface="Arial" pitchFamily="34" charset="0"/>
                <a:ea typeface="Arial" pitchFamily="34" charset="-122"/>
                <a:cs typeface="Arial" pitchFamily="34" charset="-120"/>
              </a:rPr>
              <a:t>Judgment, on evidence, with a reason they can send.</a:t>
            </a:r>
            <a:endParaRPr lang="en-US" sz="1200" dirty="0"/>
          </a:p>
        </p:txBody>
      </p:sp>
      <p:sp>
        <p:nvSpPr>
          <p:cNvPr id="17" name="Shape 14"/>
          <p:cNvSpPr/>
          <p:nvPr/>
        </p:nvSpPr>
        <p:spPr>
          <a:xfrm>
            <a:off x="6038404" y="1712565"/>
            <a:ext cx="0" cy="850106"/>
          </a:xfrm>
          <a:prstGeom prst="line">
            <a:avLst/>
          </a:prstGeom>
          <a:noFill/>
          <a:ln w="9525">
            <a:solidFill>
              <a:srgbClr val="E2E2E2"/>
            </a:solidFill>
            <a:prstDash val="solid"/>
          </a:ln>
        </p:spPr>
      </p:sp>
      <p:sp>
        <p:nvSpPr>
          <p:cNvPr id="18" name="Text 15"/>
          <p:cNvSpPr/>
          <p:nvPr/>
        </p:nvSpPr>
        <p:spPr>
          <a:xfrm>
            <a:off x="6195566" y="1712565"/>
            <a:ext cx="2670700"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COMPLIANCE</a:t>
            </a:r>
            <a:endParaRPr lang="en-US" sz="1000" dirty="0"/>
          </a:p>
        </p:txBody>
      </p:sp>
      <p:sp>
        <p:nvSpPr>
          <p:cNvPr id="19" name="Text 16"/>
          <p:cNvSpPr/>
          <p:nvPr/>
        </p:nvSpPr>
        <p:spPr>
          <a:xfrm>
            <a:off x="6195566" y="1906191"/>
            <a:ext cx="2670700" cy="209550"/>
          </a:xfrm>
          <a:prstGeom prst="rect">
            <a:avLst/>
          </a:prstGeom>
          <a:noFill/>
          <a:ln/>
        </p:spPr>
        <p:txBody>
          <a:bodyPr wrap="square" lIns="0" tIns="0" rIns="0" bIns="0" rtlCol="0" anchor="t"/>
          <a:lstStyle/>
          <a:p>
            <a:pPr algn="l" indent="0" marL="0">
              <a:spcBef>
                <a:spcPts val="400"/>
              </a:spcBef>
              <a:buNone/>
            </a:pPr>
            <a:r>
              <a:rPr lang="en-US" sz="1400" b="1" dirty="0">
                <a:solidFill>
                  <a:srgbClr val="2A2A2A"/>
                </a:solidFill>
                <a:latin typeface="Arial" pitchFamily="34" charset="0"/>
                <a:ea typeface="Arial" pitchFamily="34" charset="-122"/>
                <a:cs typeface="Arial" pitchFamily="34" charset="-120"/>
              </a:rPr>
              <a:t>The override</a:t>
            </a:r>
            <a:endParaRPr lang="en-US" sz="1400" dirty="0"/>
          </a:p>
        </p:txBody>
      </p:sp>
      <p:sp>
        <p:nvSpPr>
          <p:cNvPr id="20" name="Text 17"/>
          <p:cNvSpPr/>
          <p:nvPr/>
        </p:nvSpPr>
        <p:spPr>
          <a:xfrm>
            <a:off x="6195566" y="2166491"/>
            <a:ext cx="2670700" cy="396180"/>
          </a:xfrm>
          <a:prstGeom prst="rect">
            <a:avLst/>
          </a:prstGeom>
          <a:noFill/>
          <a:ln/>
        </p:spPr>
        <p:txBody>
          <a:bodyPr wrap="square" lIns="0" tIns="0" rIns="0" bIns="0" rtlCol="0" anchor="t"/>
          <a:lstStyle/>
          <a:p>
            <a:pPr algn="l" indent="0" marL="0">
              <a:lnSpc>
                <a:spcPts val="1560"/>
              </a:lnSpc>
              <a:spcBef>
                <a:spcPts val="400"/>
              </a:spcBef>
              <a:buNone/>
            </a:pPr>
            <a:r>
              <a:rPr lang="en-US" sz="1200" dirty="0">
                <a:solidFill>
                  <a:srgbClr val="5A5A5A"/>
                </a:solidFill>
                <a:latin typeface="Arial" pitchFamily="34" charset="0"/>
                <a:ea typeface="Arial" pitchFamily="34" charset="-122"/>
                <a:cs typeface="Arial" pitchFamily="34" charset="-120"/>
              </a:rPr>
              <a:t>Who changed the call, when, and against which rule.</a:t>
            </a:r>
            <a:endParaRPr lang="en-US" sz="1200" dirty="0"/>
          </a:p>
        </p:txBody>
      </p:sp>
      <p:sp>
        <p:nvSpPr>
          <p:cNvPr id="21" name="Text 18"/>
          <p:cNvSpPr/>
          <p:nvPr/>
        </p:nvSpPr>
        <p:spPr>
          <a:xfrm>
            <a:off x="330101" y="2645122"/>
            <a:ext cx="1956914"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Cyber underwriting  ·  Client discussion</a:t>
            </a:r>
            <a:endParaRPr lang="en-US" sz="900" dirty="0"/>
          </a:p>
        </p:txBody>
      </p:sp>
      <p:sp>
        <p:nvSpPr>
          <p:cNvPr id="22" name="Text 19"/>
          <p:cNvSpPr/>
          <p:nvPr/>
        </p:nvSpPr>
        <p:spPr>
          <a:xfrm>
            <a:off x="8686651" y="2645122"/>
            <a:ext cx="129793"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406301"/>
          </a:xfrm>
          <a:prstGeom prst="rect">
            <a:avLst/>
          </a:prstGeom>
          <a:solidFill>
            <a:srgbClr val="FFFFFF"/>
          </a:solidFill>
          <a:ln/>
        </p:spPr>
        <p:txBody>
          <a:bodyPr wrap="square" rtlCol="0" anchor="ctr"/>
          <a:lstStyle/>
          <a:p>
            <a:pPr indent="0" marL="0">
              <a:buNone/>
            </a:pPr>
            <a:endParaRPr lang="en-US" dirty="0"/>
          </a:p>
        </p:txBody>
      </p:sp>
      <p:pic>
        <p:nvPicPr>
          <p:cNvPr id="3" name="Image 0" descr="/Users/chandansharma/Documents/cyber-uw/docs/client/deck/slides/birlasoft-logo-on-white.png">    </p:cNvPr>
          <p:cNvPicPr>
            <a:picLocks noChangeAspect="1"/>
          </p:cNvPicPr>
          <p:nvPr/>
        </p:nvPicPr>
        <p:blipFill>
          <a:blip r:embed="rId1"/>
          <a:stretch>
            <a:fillRect/>
          </a:stretch>
        </p:blipFill>
        <p:spPr>
          <a:xfrm>
            <a:off x="330101" y="95101"/>
            <a:ext cx="990600" cy="279350"/>
          </a:xfrm>
          <a:prstGeom prst="rect">
            <a:avLst/>
          </a:prstGeom>
        </p:spPr>
      </p:pic>
      <p:sp>
        <p:nvSpPr>
          <p:cNvPr id="4" name="Text 1"/>
          <p:cNvSpPr/>
          <p:nvPr/>
        </p:nvSpPr>
        <p:spPr>
          <a:xfrm>
            <a:off x="8291661" y="163413"/>
            <a:ext cx="532683" cy="142875"/>
          </a:xfrm>
          <a:prstGeom prst="rect">
            <a:avLst/>
          </a:prstGeom>
          <a:noFill/>
          <a:ln/>
        </p:spPr>
        <p:txBody>
          <a:bodyPr wrap="square" lIns="0" tIns="0" rIns="0" bIns="0" rtlCol="0" anchor="t"/>
          <a:lstStyle/>
          <a:p>
            <a:pPr algn="l" indent="0" marL="0">
              <a:buNone/>
            </a:pPr>
            <a:r>
              <a:rPr lang="en-US" sz="1000" dirty="0">
                <a:solidFill>
                  <a:srgbClr val="5A5A5A"/>
                </a:solidFill>
                <a:latin typeface="Arial" pitchFamily="34" charset="0"/>
                <a:ea typeface="Arial" pitchFamily="34" charset="-122"/>
                <a:cs typeface="Arial" pitchFamily="34" charset="-120"/>
              </a:rPr>
              <a:t>The work</a:t>
            </a:r>
            <a:endParaRPr lang="en-US" sz="1000" dirty="0"/>
          </a:p>
        </p:txBody>
      </p:sp>
      <p:sp>
        <p:nvSpPr>
          <p:cNvPr id="5" name="Text 2"/>
          <p:cNvSpPr/>
          <p:nvPr/>
        </p:nvSpPr>
        <p:spPr>
          <a:xfrm>
            <a:off x="0" y="406301"/>
            <a:ext cx="9144000" cy="38100"/>
          </a:xfrm>
          <a:prstGeom prst="rect">
            <a:avLst/>
          </a:prstGeom>
          <a:solidFill>
            <a:srgbClr val="D0372C"/>
          </a:solidFill>
          <a:ln/>
        </p:spPr>
        <p:txBody>
          <a:bodyPr wrap="square" rtlCol="0" anchor="ctr"/>
          <a:lstStyle/>
          <a:p>
            <a:pPr indent="0" marL="0">
              <a:buNone/>
            </a:pPr>
            <a:endParaRPr lang="en-US" dirty="0"/>
          </a:p>
        </p:txBody>
      </p:sp>
      <p:sp>
        <p:nvSpPr>
          <p:cNvPr id="6" name="Text 3"/>
          <p:cNvSpPr/>
          <p:nvPr/>
        </p:nvSpPr>
        <p:spPr>
          <a:xfrm>
            <a:off x="330101" y="596801"/>
            <a:ext cx="8653474"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VALUE</a:t>
            </a:r>
            <a:endParaRPr lang="en-US" sz="1000" dirty="0"/>
          </a:p>
        </p:txBody>
      </p:sp>
      <p:sp>
        <p:nvSpPr>
          <p:cNvPr id="7" name="Text 4"/>
          <p:cNvSpPr/>
          <p:nvPr/>
        </p:nvSpPr>
        <p:spPr>
          <a:xfrm>
            <a:off x="330101" y="790426"/>
            <a:ext cx="8653474" cy="312837"/>
          </a:xfrm>
          <a:prstGeom prst="rect">
            <a:avLst/>
          </a:prstGeom>
          <a:noFill/>
          <a:ln/>
        </p:spPr>
        <p:txBody>
          <a:bodyPr wrap="square" lIns="0" tIns="0" rIns="0" bIns="0" rtlCol="0" anchor="t"/>
          <a:lstStyle/>
          <a:p>
            <a:pPr algn="l" indent="0" marL="0">
              <a:lnSpc>
                <a:spcPts val="2464"/>
              </a:lnSpc>
              <a:spcBef>
                <a:spcPts val="400"/>
              </a:spcBef>
              <a:buNone/>
            </a:pPr>
            <a:r>
              <a:rPr lang="en-US" sz="2200" dirty="0">
                <a:solidFill>
                  <a:srgbClr val="2A2A2A"/>
                </a:solidFill>
                <a:latin typeface="Georgia" pitchFamily="34" charset="0"/>
                <a:ea typeface="Georgia" pitchFamily="34" charset="-122"/>
                <a:cs typeface="Georgia" pitchFamily="34" charset="-120"/>
              </a:rPr>
              <a:t>Four numbers a pilot has to earn</a:t>
            </a:r>
            <a:endParaRPr lang="en-US" sz="2200" dirty="0"/>
          </a:p>
        </p:txBody>
      </p:sp>
      <p:sp>
        <p:nvSpPr>
          <p:cNvPr id="8" name="Text 5"/>
          <p:cNvSpPr/>
          <p:nvPr/>
        </p:nvSpPr>
        <p:spPr>
          <a:xfrm>
            <a:off x="330101" y="1154013"/>
            <a:ext cx="8653474" cy="198090"/>
          </a:xfrm>
          <a:prstGeom prst="rect">
            <a:avLst/>
          </a:prstGeom>
          <a:noFill/>
          <a:ln/>
        </p:spPr>
        <p:txBody>
          <a:bodyPr wrap="square" lIns="0" tIns="0" rIns="0" bIns="0" rtlCol="0" anchor="t"/>
          <a:lstStyle/>
          <a:p>
            <a:pPr algn="l" indent="0" marL="0">
              <a:lnSpc>
                <a:spcPts val="1560"/>
              </a:lnSpc>
              <a:spcBef>
                <a:spcPts val="400"/>
              </a:spcBef>
              <a:buNone/>
            </a:pPr>
            <a:r>
              <a:rPr lang="en-US" sz="1200" dirty="0">
                <a:solidFill>
                  <a:srgbClr val="5A5A5A"/>
                </a:solidFill>
                <a:latin typeface="Arial" pitchFamily="34" charset="0"/>
                <a:ea typeface="Arial" pitchFamily="34" charset="-122"/>
                <a:cs typeface="Arial" pitchFamily="34" charset="-120"/>
              </a:rPr>
              <a:t>Not a case study. Your baseline is the denominator. We will not borrow someone else's.</a:t>
            </a:r>
            <a:endParaRPr lang="en-US" sz="1200" dirty="0"/>
          </a:p>
        </p:txBody>
      </p:sp>
      <p:sp>
        <p:nvSpPr>
          <p:cNvPr id="9" name="Text 6"/>
          <p:cNvSpPr/>
          <p:nvPr/>
        </p:nvSpPr>
        <p:spPr>
          <a:xfrm>
            <a:off x="330101" y="1479054"/>
            <a:ext cx="8483798" cy="609302"/>
          </a:xfrm>
          <a:prstGeom prst="rect">
            <a:avLst/>
          </a:prstGeom>
          <a:solidFill>
            <a:srgbClr val="2A2A2A"/>
          </a:solidFill>
          <a:ln/>
        </p:spPr>
        <p:txBody>
          <a:bodyPr wrap="square" rtlCol="0" anchor="ctr"/>
          <a:lstStyle/>
          <a:p>
            <a:pPr indent="0" marL="0">
              <a:buNone/>
            </a:pPr>
            <a:endParaRPr lang="en-US" dirty="0"/>
          </a:p>
        </p:txBody>
      </p:sp>
      <p:sp>
        <p:nvSpPr>
          <p:cNvPr id="10" name="Text 7"/>
          <p:cNvSpPr/>
          <p:nvPr/>
        </p:nvSpPr>
        <p:spPr>
          <a:xfrm>
            <a:off x="482501" y="1580555"/>
            <a:ext cx="8342578"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WHAT THE PILOT IS FOR</a:t>
            </a:r>
            <a:endParaRPr lang="en-US" sz="1000" dirty="0"/>
          </a:p>
        </p:txBody>
      </p:sp>
      <p:sp>
        <p:nvSpPr>
          <p:cNvPr id="11" name="Text 8"/>
          <p:cNvSpPr/>
          <p:nvPr/>
        </p:nvSpPr>
        <p:spPr>
          <a:xfrm>
            <a:off x="482501" y="1748730"/>
            <a:ext cx="8342578" cy="238125"/>
          </a:xfrm>
          <a:prstGeom prst="rect">
            <a:avLst/>
          </a:prstGeom>
          <a:noFill/>
          <a:ln/>
        </p:spPr>
        <p:txBody>
          <a:bodyPr wrap="square" lIns="0" tIns="0" rIns="0" bIns="0" rtlCol="0" anchor="t"/>
          <a:lstStyle/>
          <a:p>
            <a:pPr algn="l" indent="0" marL="0">
              <a:spcBef>
                <a:spcPts val="200"/>
              </a:spcBef>
              <a:buNone/>
            </a:pPr>
            <a:r>
              <a:rPr lang="en-US" sz="1600" dirty="0">
                <a:solidFill>
                  <a:srgbClr val="FFFFFF"/>
                </a:solidFill>
                <a:latin typeface="Georgia" pitchFamily="34" charset="0"/>
                <a:ea typeface="Georgia" pitchFamily="34" charset="-122"/>
                <a:cs typeface="Georgia" pitchFamily="34" charset="-120"/>
              </a:rPr>
              <a:t>A decision-ready submission, measured on your book</a:t>
            </a:r>
            <a:endParaRPr lang="en-US" sz="1600" dirty="0"/>
          </a:p>
        </p:txBody>
      </p:sp>
      <p:sp>
        <p:nvSpPr>
          <p:cNvPr id="12" name="Text 9"/>
          <p:cNvSpPr/>
          <p:nvPr/>
        </p:nvSpPr>
        <p:spPr>
          <a:xfrm>
            <a:off x="330101" y="2088356"/>
            <a:ext cx="8483798" cy="38100"/>
          </a:xfrm>
          <a:prstGeom prst="rect">
            <a:avLst/>
          </a:prstGeom>
          <a:solidFill>
            <a:srgbClr val="D0372C"/>
          </a:solidFill>
          <a:ln/>
        </p:spPr>
        <p:txBody>
          <a:bodyPr wrap="square" rtlCol="0" anchor="ctr"/>
          <a:lstStyle/>
          <a:p>
            <a:pPr indent="0" marL="0">
              <a:buNone/>
            </a:pPr>
            <a:endParaRPr lang="en-US" dirty="0"/>
          </a:p>
        </p:txBody>
      </p:sp>
      <p:sp>
        <p:nvSpPr>
          <p:cNvPr id="13" name="Shape 10"/>
          <p:cNvSpPr/>
          <p:nvPr/>
        </p:nvSpPr>
        <p:spPr>
          <a:xfrm>
            <a:off x="2448669" y="2126456"/>
            <a:ext cx="0" cy="1063228"/>
          </a:xfrm>
          <a:prstGeom prst="line">
            <a:avLst/>
          </a:prstGeom>
          <a:noFill/>
          <a:ln w="9525">
            <a:solidFill>
              <a:srgbClr val="E2E2E2"/>
            </a:solidFill>
            <a:prstDash val="solid"/>
          </a:ln>
        </p:spPr>
      </p:sp>
      <p:sp>
        <p:nvSpPr>
          <p:cNvPr id="14" name="Text 11"/>
          <p:cNvSpPr/>
          <p:nvPr/>
        </p:nvSpPr>
        <p:spPr>
          <a:xfrm>
            <a:off x="1374279" y="2126456"/>
            <a:ext cx="25301" cy="152400"/>
          </a:xfrm>
          <a:prstGeom prst="rect">
            <a:avLst/>
          </a:prstGeom>
          <a:solidFill>
            <a:srgbClr val="D0372C"/>
          </a:solidFill>
          <a:ln/>
        </p:spPr>
        <p:txBody>
          <a:bodyPr wrap="square" rtlCol="0" anchor="ctr"/>
          <a:lstStyle/>
          <a:p>
            <a:pPr indent="0" marL="0">
              <a:buNone/>
            </a:pPr>
            <a:endParaRPr lang="en-US" dirty="0"/>
          </a:p>
        </p:txBody>
      </p:sp>
      <p:sp>
        <p:nvSpPr>
          <p:cNvPr id="15" name="Text 12"/>
          <p:cNvSpPr/>
          <p:nvPr/>
        </p:nvSpPr>
        <p:spPr>
          <a:xfrm>
            <a:off x="457051" y="2304157"/>
            <a:ext cx="1897103" cy="314325"/>
          </a:xfrm>
          <a:prstGeom prst="rect">
            <a:avLst/>
          </a:prstGeom>
          <a:noFill/>
          <a:ln/>
        </p:spPr>
        <p:txBody>
          <a:bodyPr wrap="square" lIns="0" tIns="0" rIns="0" bIns="0" rtlCol="0" anchor="t"/>
          <a:lstStyle/>
          <a:p>
            <a:pPr algn="l" indent="0" marL="0">
              <a:buNone/>
            </a:pPr>
            <a:r>
              <a:rPr lang="en-US" sz="2200" dirty="0">
                <a:solidFill>
                  <a:srgbClr val="2A2A2A"/>
                </a:solidFill>
                <a:latin typeface="Georgia" pitchFamily="34" charset="0"/>
                <a:ea typeface="Georgia" pitchFamily="34" charset="-122"/>
                <a:cs typeface="Georgia" pitchFamily="34" charset="-120"/>
              </a:rPr>
              <a:t>50–60%</a:t>
            </a:r>
            <a:endParaRPr lang="en-US" sz="2200" dirty="0"/>
          </a:p>
        </p:txBody>
      </p:sp>
      <p:sp>
        <p:nvSpPr>
          <p:cNvPr id="16" name="Text 13"/>
          <p:cNvSpPr/>
          <p:nvPr/>
        </p:nvSpPr>
        <p:spPr>
          <a:xfrm>
            <a:off x="457051" y="2643783"/>
            <a:ext cx="1897103" cy="171450"/>
          </a:xfrm>
          <a:prstGeom prst="rect">
            <a:avLst/>
          </a:prstGeom>
          <a:noFill/>
          <a:ln/>
        </p:spPr>
        <p:txBody>
          <a:bodyPr wrap="square" lIns="0" tIns="0" rIns="0" bIns="0" rtlCol="0" anchor="t"/>
          <a:lstStyle/>
          <a:p>
            <a:pPr algn="l" indent="0" marL="0">
              <a:spcBef>
                <a:spcPts val="200"/>
              </a:spcBef>
              <a:buNone/>
            </a:pPr>
            <a:r>
              <a:rPr lang="en-US" sz="1200" b="1" dirty="0">
                <a:solidFill>
                  <a:srgbClr val="2A2A2A"/>
                </a:solidFill>
                <a:latin typeface="Arial" pitchFamily="34" charset="0"/>
                <a:ea typeface="Arial" pitchFamily="34" charset="-122"/>
                <a:cs typeface="Arial" pitchFamily="34" charset="-120"/>
              </a:rPr>
              <a:t>Speed</a:t>
            </a:r>
            <a:endParaRPr lang="en-US" sz="1200" dirty="0"/>
          </a:p>
        </p:txBody>
      </p:sp>
      <p:sp>
        <p:nvSpPr>
          <p:cNvPr id="17" name="Text 14"/>
          <p:cNvSpPr/>
          <p:nvPr/>
        </p:nvSpPr>
        <p:spPr>
          <a:xfrm>
            <a:off x="457051" y="2840534"/>
            <a:ext cx="1897103" cy="349151"/>
          </a:xfrm>
          <a:prstGeom prst="rect">
            <a:avLst/>
          </a:prstGeom>
          <a:noFill/>
          <a:ln/>
        </p:spPr>
        <p:txBody>
          <a:bodyPr wrap="square" lIns="0" tIns="0" rIns="0" bIns="0" rtlCol="0" anchor="t"/>
          <a:lstStyle/>
          <a:p>
            <a:pPr algn="l" indent="0" marL="0">
              <a:lnSpc>
                <a:spcPts val="1375"/>
              </a:lnSpc>
              <a:spcBef>
                <a:spcPts val="200"/>
              </a:spcBef>
              <a:buNone/>
            </a:pPr>
            <a:r>
              <a:rPr lang="en-US" sz="1100" dirty="0">
                <a:solidFill>
                  <a:srgbClr val="5A5A5A"/>
                </a:solidFill>
                <a:latin typeface="Arial" pitchFamily="34" charset="0"/>
                <a:ea typeface="Arial" pitchFamily="34" charset="-122"/>
                <a:cs typeface="Arial" pitchFamily="34" charset="-120"/>
              </a:rPr>
              <a:t>Receipt to a file someone can act on.</a:t>
            </a:r>
            <a:endParaRPr lang="en-US" sz="1100" dirty="0"/>
          </a:p>
        </p:txBody>
      </p:sp>
      <p:sp>
        <p:nvSpPr>
          <p:cNvPr id="18" name="Shape 15"/>
          <p:cNvSpPr/>
          <p:nvPr/>
        </p:nvSpPr>
        <p:spPr>
          <a:xfrm>
            <a:off x="4572000" y="2126456"/>
            <a:ext cx="0" cy="1063228"/>
          </a:xfrm>
          <a:prstGeom prst="line">
            <a:avLst/>
          </a:prstGeom>
          <a:noFill/>
          <a:ln w="9525">
            <a:solidFill>
              <a:srgbClr val="E2E2E2"/>
            </a:solidFill>
            <a:prstDash val="solid"/>
          </a:ln>
        </p:spPr>
      </p:sp>
      <p:sp>
        <p:nvSpPr>
          <p:cNvPr id="19" name="Text 16"/>
          <p:cNvSpPr/>
          <p:nvPr/>
        </p:nvSpPr>
        <p:spPr>
          <a:xfrm>
            <a:off x="3497610" y="2126456"/>
            <a:ext cx="25301" cy="152400"/>
          </a:xfrm>
          <a:prstGeom prst="rect">
            <a:avLst/>
          </a:prstGeom>
          <a:solidFill>
            <a:srgbClr val="D0372C"/>
          </a:solidFill>
          <a:ln/>
        </p:spPr>
        <p:txBody>
          <a:bodyPr wrap="square" rtlCol="0" anchor="ctr"/>
          <a:lstStyle/>
          <a:p>
            <a:pPr indent="0" marL="0">
              <a:buNone/>
            </a:pPr>
            <a:endParaRPr lang="en-US" dirty="0"/>
          </a:p>
        </p:txBody>
      </p:sp>
      <p:sp>
        <p:nvSpPr>
          <p:cNvPr id="20" name="Text 17"/>
          <p:cNvSpPr/>
          <p:nvPr/>
        </p:nvSpPr>
        <p:spPr>
          <a:xfrm>
            <a:off x="2580382" y="2304157"/>
            <a:ext cx="1897103" cy="314325"/>
          </a:xfrm>
          <a:prstGeom prst="rect">
            <a:avLst/>
          </a:prstGeom>
          <a:noFill/>
          <a:ln/>
        </p:spPr>
        <p:txBody>
          <a:bodyPr wrap="square" lIns="0" tIns="0" rIns="0" bIns="0" rtlCol="0" anchor="t"/>
          <a:lstStyle/>
          <a:p>
            <a:pPr algn="l" indent="0" marL="0">
              <a:buNone/>
            </a:pPr>
            <a:r>
              <a:rPr lang="en-US" sz="2200" dirty="0">
                <a:solidFill>
                  <a:srgbClr val="2A2A2A"/>
                </a:solidFill>
                <a:latin typeface="Georgia" pitchFamily="34" charset="0"/>
                <a:ea typeface="Georgia" pitchFamily="34" charset="-122"/>
                <a:cs typeface="Georgia" pitchFamily="34" charset="-120"/>
              </a:rPr>
              <a:t>&gt;90%</a:t>
            </a:r>
            <a:endParaRPr lang="en-US" sz="2200" dirty="0"/>
          </a:p>
        </p:txBody>
      </p:sp>
      <p:sp>
        <p:nvSpPr>
          <p:cNvPr id="21" name="Text 18"/>
          <p:cNvSpPr/>
          <p:nvPr/>
        </p:nvSpPr>
        <p:spPr>
          <a:xfrm>
            <a:off x="2580382" y="2643783"/>
            <a:ext cx="1897103" cy="171450"/>
          </a:xfrm>
          <a:prstGeom prst="rect">
            <a:avLst/>
          </a:prstGeom>
          <a:noFill/>
          <a:ln/>
        </p:spPr>
        <p:txBody>
          <a:bodyPr wrap="square" lIns="0" tIns="0" rIns="0" bIns="0" rtlCol="0" anchor="t"/>
          <a:lstStyle/>
          <a:p>
            <a:pPr algn="l" indent="0" marL="0">
              <a:spcBef>
                <a:spcPts val="200"/>
              </a:spcBef>
              <a:buNone/>
            </a:pPr>
            <a:r>
              <a:rPr lang="en-US" sz="1200" b="1" dirty="0">
                <a:solidFill>
                  <a:srgbClr val="2A2A2A"/>
                </a:solidFill>
                <a:latin typeface="Arial" pitchFamily="34" charset="0"/>
                <a:ea typeface="Arial" pitchFamily="34" charset="-122"/>
                <a:cs typeface="Arial" pitchFamily="34" charset="-120"/>
              </a:rPr>
              <a:t>Checks</a:t>
            </a:r>
            <a:endParaRPr lang="en-US" sz="1200" dirty="0"/>
          </a:p>
        </p:txBody>
      </p:sp>
      <p:sp>
        <p:nvSpPr>
          <p:cNvPr id="22" name="Text 19"/>
          <p:cNvSpPr/>
          <p:nvPr/>
        </p:nvSpPr>
        <p:spPr>
          <a:xfrm>
            <a:off x="2580382" y="2840534"/>
            <a:ext cx="1897103" cy="349151"/>
          </a:xfrm>
          <a:prstGeom prst="rect">
            <a:avLst/>
          </a:prstGeom>
          <a:noFill/>
          <a:ln/>
        </p:spPr>
        <p:txBody>
          <a:bodyPr wrap="square" lIns="0" tIns="0" rIns="0" bIns="0" rtlCol="0" anchor="t"/>
          <a:lstStyle/>
          <a:p>
            <a:pPr algn="l" indent="0" marL="0">
              <a:lnSpc>
                <a:spcPts val="1375"/>
              </a:lnSpc>
              <a:spcBef>
                <a:spcPts val="200"/>
              </a:spcBef>
              <a:buNone/>
            </a:pPr>
            <a:r>
              <a:rPr lang="en-US" sz="1100" dirty="0">
                <a:solidFill>
                  <a:srgbClr val="5A5A5A"/>
                </a:solidFill>
                <a:latin typeface="Arial" pitchFamily="34" charset="0"/>
                <a:ea typeface="Arial" pitchFamily="34" charset="-122"/>
                <a:cs typeface="Arial" pitchFamily="34" charset="-120"/>
              </a:rPr>
              <a:t>Fields and rules, tested against the page.</a:t>
            </a:r>
            <a:endParaRPr lang="en-US" sz="1100" dirty="0"/>
          </a:p>
        </p:txBody>
      </p:sp>
      <p:sp>
        <p:nvSpPr>
          <p:cNvPr id="23" name="Shape 20"/>
          <p:cNvSpPr/>
          <p:nvPr/>
        </p:nvSpPr>
        <p:spPr>
          <a:xfrm>
            <a:off x="6695331" y="2126456"/>
            <a:ext cx="0" cy="1063228"/>
          </a:xfrm>
          <a:prstGeom prst="line">
            <a:avLst/>
          </a:prstGeom>
          <a:noFill/>
          <a:ln w="9525">
            <a:solidFill>
              <a:srgbClr val="E2E2E2"/>
            </a:solidFill>
            <a:prstDash val="solid"/>
          </a:ln>
        </p:spPr>
      </p:sp>
      <p:sp>
        <p:nvSpPr>
          <p:cNvPr id="24" name="Text 21"/>
          <p:cNvSpPr/>
          <p:nvPr/>
        </p:nvSpPr>
        <p:spPr>
          <a:xfrm>
            <a:off x="5620941" y="2126456"/>
            <a:ext cx="25301" cy="152400"/>
          </a:xfrm>
          <a:prstGeom prst="rect">
            <a:avLst/>
          </a:prstGeom>
          <a:solidFill>
            <a:srgbClr val="D0372C"/>
          </a:solidFill>
          <a:ln/>
        </p:spPr>
        <p:txBody>
          <a:bodyPr wrap="square" rtlCol="0" anchor="ctr"/>
          <a:lstStyle/>
          <a:p>
            <a:pPr indent="0" marL="0">
              <a:buNone/>
            </a:pPr>
            <a:endParaRPr lang="en-US" dirty="0"/>
          </a:p>
        </p:txBody>
      </p:sp>
      <p:sp>
        <p:nvSpPr>
          <p:cNvPr id="25" name="Text 22"/>
          <p:cNvSpPr/>
          <p:nvPr/>
        </p:nvSpPr>
        <p:spPr>
          <a:xfrm>
            <a:off x="4703713" y="2304157"/>
            <a:ext cx="1897103" cy="314325"/>
          </a:xfrm>
          <a:prstGeom prst="rect">
            <a:avLst/>
          </a:prstGeom>
          <a:noFill/>
          <a:ln/>
        </p:spPr>
        <p:txBody>
          <a:bodyPr wrap="square" lIns="0" tIns="0" rIns="0" bIns="0" rtlCol="0" anchor="t"/>
          <a:lstStyle/>
          <a:p>
            <a:pPr algn="l" indent="0" marL="0">
              <a:buNone/>
            </a:pPr>
            <a:r>
              <a:rPr lang="en-US" sz="2200" dirty="0">
                <a:solidFill>
                  <a:srgbClr val="2A2A2A"/>
                </a:solidFill>
                <a:latin typeface="Georgia" pitchFamily="34" charset="0"/>
                <a:ea typeface="Georgia" pitchFamily="34" charset="-122"/>
                <a:cs typeface="Georgia" pitchFamily="34" charset="-120"/>
              </a:rPr>
              <a:t>30–40%</a:t>
            </a:r>
            <a:endParaRPr lang="en-US" sz="2200" dirty="0"/>
          </a:p>
        </p:txBody>
      </p:sp>
      <p:sp>
        <p:nvSpPr>
          <p:cNvPr id="26" name="Text 23"/>
          <p:cNvSpPr/>
          <p:nvPr/>
        </p:nvSpPr>
        <p:spPr>
          <a:xfrm>
            <a:off x="4703713" y="2643783"/>
            <a:ext cx="1897103" cy="171450"/>
          </a:xfrm>
          <a:prstGeom prst="rect">
            <a:avLst/>
          </a:prstGeom>
          <a:noFill/>
          <a:ln/>
        </p:spPr>
        <p:txBody>
          <a:bodyPr wrap="square" lIns="0" tIns="0" rIns="0" bIns="0" rtlCol="0" anchor="t"/>
          <a:lstStyle/>
          <a:p>
            <a:pPr algn="l" indent="0" marL="0">
              <a:spcBef>
                <a:spcPts val="200"/>
              </a:spcBef>
              <a:buNone/>
            </a:pPr>
            <a:r>
              <a:rPr lang="en-US" sz="1200" b="1" dirty="0">
                <a:solidFill>
                  <a:srgbClr val="2A2A2A"/>
                </a:solidFill>
                <a:latin typeface="Arial" pitchFamily="34" charset="0"/>
                <a:ea typeface="Arial" pitchFamily="34" charset="-122"/>
                <a:cs typeface="Arial" pitchFamily="34" charset="-120"/>
              </a:rPr>
              <a:t>Cost</a:t>
            </a:r>
            <a:endParaRPr lang="en-US" sz="1200" dirty="0"/>
          </a:p>
        </p:txBody>
      </p:sp>
      <p:sp>
        <p:nvSpPr>
          <p:cNvPr id="27" name="Text 24"/>
          <p:cNvSpPr/>
          <p:nvPr/>
        </p:nvSpPr>
        <p:spPr>
          <a:xfrm>
            <a:off x="4703713" y="2840534"/>
            <a:ext cx="1897103" cy="349151"/>
          </a:xfrm>
          <a:prstGeom prst="rect">
            <a:avLst/>
          </a:prstGeom>
          <a:noFill/>
          <a:ln/>
        </p:spPr>
        <p:txBody>
          <a:bodyPr wrap="square" lIns="0" tIns="0" rIns="0" bIns="0" rtlCol="0" anchor="t"/>
          <a:lstStyle/>
          <a:p>
            <a:pPr algn="l" indent="0" marL="0">
              <a:lnSpc>
                <a:spcPts val="1375"/>
              </a:lnSpc>
              <a:spcBef>
                <a:spcPts val="200"/>
              </a:spcBef>
              <a:buNone/>
            </a:pPr>
            <a:r>
              <a:rPr lang="en-US" sz="1100" dirty="0">
                <a:solidFill>
                  <a:srgbClr val="5A5A5A"/>
                </a:solidFill>
                <a:latin typeface="Arial" pitchFamily="34" charset="0"/>
                <a:ea typeface="Arial" pitchFamily="34" charset="-122"/>
                <a:cs typeface="Arial" pitchFamily="34" charset="-120"/>
              </a:rPr>
              <a:t>Cost per submission, once re-keying falls.</a:t>
            </a:r>
            <a:endParaRPr lang="en-US" sz="1100" dirty="0"/>
          </a:p>
        </p:txBody>
      </p:sp>
      <p:sp>
        <p:nvSpPr>
          <p:cNvPr id="28" name="Text 25"/>
          <p:cNvSpPr/>
          <p:nvPr/>
        </p:nvSpPr>
        <p:spPr>
          <a:xfrm>
            <a:off x="7744271" y="2126456"/>
            <a:ext cx="25301" cy="152400"/>
          </a:xfrm>
          <a:prstGeom prst="rect">
            <a:avLst/>
          </a:prstGeom>
          <a:solidFill>
            <a:srgbClr val="D0372C"/>
          </a:solidFill>
          <a:ln/>
        </p:spPr>
        <p:txBody>
          <a:bodyPr wrap="square" rtlCol="0" anchor="ctr"/>
          <a:lstStyle/>
          <a:p>
            <a:pPr indent="0" marL="0">
              <a:buNone/>
            </a:pPr>
            <a:endParaRPr lang="en-US" dirty="0"/>
          </a:p>
        </p:txBody>
      </p:sp>
      <p:sp>
        <p:nvSpPr>
          <p:cNvPr id="29" name="Text 26"/>
          <p:cNvSpPr/>
          <p:nvPr/>
        </p:nvSpPr>
        <p:spPr>
          <a:xfrm>
            <a:off x="6827044" y="2304157"/>
            <a:ext cx="1897103" cy="314325"/>
          </a:xfrm>
          <a:prstGeom prst="rect">
            <a:avLst/>
          </a:prstGeom>
          <a:noFill/>
          <a:ln/>
        </p:spPr>
        <p:txBody>
          <a:bodyPr wrap="square" lIns="0" tIns="0" rIns="0" bIns="0" rtlCol="0" anchor="t"/>
          <a:lstStyle/>
          <a:p>
            <a:pPr algn="l" indent="0" marL="0">
              <a:buNone/>
            </a:pPr>
            <a:r>
              <a:rPr lang="en-US" sz="2200" dirty="0">
                <a:solidFill>
                  <a:srgbClr val="2A2A2A"/>
                </a:solidFill>
                <a:latin typeface="Georgia" pitchFamily="34" charset="0"/>
                <a:ea typeface="Georgia" pitchFamily="34" charset="-122"/>
                <a:cs typeface="Georgia" pitchFamily="34" charset="-120"/>
              </a:rPr>
              <a:t>2–4 hrs</a:t>
            </a:r>
            <a:endParaRPr lang="en-US" sz="2200" dirty="0"/>
          </a:p>
        </p:txBody>
      </p:sp>
      <p:sp>
        <p:nvSpPr>
          <p:cNvPr id="30" name="Text 27"/>
          <p:cNvSpPr/>
          <p:nvPr/>
        </p:nvSpPr>
        <p:spPr>
          <a:xfrm>
            <a:off x="6827044" y="2643783"/>
            <a:ext cx="1897103" cy="171450"/>
          </a:xfrm>
          <a:prstGeom prst="rect">
            <a:avLst/>
          </a:prstGeom>
          <a:noFill/>
          <a:ln/>
        </p:spPr>
        <p:txBody>
          <a:bodyPr wrap="square" lIns="0" tIns="0" rIns="0" bIns="0" rtlCol="0" anchor="t"/>
          <a:lstStyle/>
          <a:p>
            <a:pPr algn="l" indent="0" marL="0">
              <a:spcBef>
                <a:spcPts val="200"/>
              </a:spcBef>
              <a:buNone/>
            </a:pPr>
            <a:r>
              <a:rPr lang="en-US" sz="1200" b="1" dirty="0">
                <a:solidFill>
                  <a:srgbClr val="2A2A2A"/>
                </a:solidFill>
                <a:latin typeface="Arial" pitchFamily="34" charset="0"/>
                <a:ea typeface="Arial" pitchFamily="34" charset="-122"/>
                <a:cs typeface="Arial" pitchFamily="34" charset="-120"/>
              </a:rPr>
              <a:t>Time</a:t>
            </a:r>
            <a:endParaRPr lang="en-US" sz="1200" dirty="0"/>
          </a:p>
        </p:txBody>
      </p:sp>
      <p:sp>
        <p:nvSpPr>
          <p:cNvPr id="31" name="Text 28"/>
          <p:cNvSpPr/>
          <p:nvPr/>
        </p:nvSpPr>
        <p:spPr>
          <a:xfrm>
            <a:off x="6827044" y="2840534"/>
            <a:ext cx="1897103" cy="349151"/>
          </a:xfrm>
          <a:prstGeom prst="rect">
            <a:avLst/>
          </a:prstGeom>
          <a:noFill/>
          <a:ln/>
        </p:spPr>
        <p:txBody>
          <a:bodyPr wrap="square" lIns="0" tIns="0" rIns="0" bIns="0" rtlCol="0" anchor="t"/>
          <a:lstStyle/>
          <a:p>
            <a:pPr algn="l" indent="0" marL="0">
              <a:lnSpc>
                <a:spcPts val="1375"/>
              </a:lnSpc>
              <a:spcBef>
                <a:spcPts val="200"/>
              </a:spcBef>
              <a:buNone/>
            </a:pPr>
            <a:r>
              <a:rPr lang="en-US" sz="1100" dirty="0">
                <a:solidFill>
                  <a:srgbClr val="5A5A5A"/>
                </a:solidFill>
                <a:latin typeface="Arial" pitchFamily="34" charset="0"/>
                <a:ea typeface="Arial" pitchFamily="34" charset="-122"/>
                <a:cs typeface="Arial" pitchFamily="34" charset="-120"/>
              </a:rPr>
              <a:t>A day returned from search to judgment.</a:t>
            </a:r>
            <a:endParaRPr lang="en-US" sz="1100" dirty="0"/>
          </a:p>
        </p:txBody>
      </p:sp>
      <p:sp>
        <p:nvSpPr>
          <p:cNvPr id="32" name="Text 29"/>
          <p:cNvSpPr/>
          <p:nvPr/>
        </p:nvSpPr>
        <p:spPr>
          <a:xfrm>
            <a:off x="330101" y="3373636"/>
            <a:ext cx="1956914"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Cyber underwriting  ·  Client discussion</a:t>
            </a:r>
            <a:endParaRPr lang="en-US" sz="900" dirty="0"/>
          </a:p>
        </p:txBody>
      </p:sp>
      <p:sp>
        <p:nvSpPr>
          <p:cNvPr id="33" name="Text 30"/>
          <p:cNvSpPr/>
          <p:nvPr/>
        </p:nvSpPr>
        <p:spPr>
          <a:xfrm>
            <a:off x="8686651" y="3373636"/>
            <a:ext cx="129793"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406301"/>
          </a:xfrm>
          <a:prstGeom prst="rect">
            <a:avLst/>
          </a:prstGeom>
          <a:solidFill>
            <a:srgbClr val="FFFFFF"/>
          </a:solidFill>
          <a:ln/>
        </p:spPr>
        <p:txBody>
          <a:bodyPr wrap="square" rtlCol="0" anchor="ctr"/>
          <a:lstStyle/>
          <a:p>
            <a:pPr indent="0" marL="0">
              <a:buNone/>
            </a:pPr>
            <a:endParaRPr lang="en-US" dirty="0"/>
          </a:p>
        </p:txBody>
      </p:sp>
      <p:pic>
        <p:nvPicPr>
          <p:cNvPr id="3" name="Image 0" descr="/Users/chandansharma/Documents/cyber-uw/docs/client/deck/slides/birlasoft-logo-on-white.png">    </p:cNvPr>
          <p:cNvPicPr>
            <a:picLocks noChangeAspect="1"/>
          </p:cNvPicPr>
          <p:nvPr/>
        </p:nvPicPr>
        <p:blipFill>
          <a:blip r:embed="rId1"/>
          <a:stretch>
            <a:fillRect/>
          </a:stretch>
        </p:blipFill>
        <p:spPr>
          <a:xfrm>
            <a:off x="330101" y="95101"/>
            <a:ext cx="990600" cy="279350"/>
          </a:xfrm>
          <a:prstGeom prst="rect">
            <a:avLst/>
          </a:prstGeom>
        </p:spPr>
      </p:pic>
      <p:sp>
        <p:nvSpPr>
          <p:cNvPr id="4" name="Text 1"/>
          <p:cNvSpPr/>
          <p:nvPr/>
        </p:nvSpPr>
        <p:spPr>
          <a:xfrm>
            <a:off x="8178850" y="163413"/>
            <a:ext cx="647751" cy="142875"/>
          </a:xfrm>
          <a:prstGeom prst="rect">
            <a:avLst/>
          </a:prstGeom>
          <a:noFill/>
          <a:ln/>
        </p:spPr>
        <p:txBody>
          <a:bodyPr wrap="square" lIns="0" tIns="0" rIns="0" bIns="0" rtlCol="0" anchor="t"/>
          <a:lstStyle/>
          <a:p>
            <a:pPr algn="l" indent="0" marL="0">
              <a:buNone/>
            </a:pPr>
            <a:r>
              <a:rPr lang="en-US" sz="1000" dirty="0">
                <a:solidFill>
                  <a:srgbClr val="5A5A5A"/>
                </a:solidFill>
                <a:latin typeface="Arial" pitchFamily="34" charset="0"/>
                <a:ea typeface="Arial" pitchFamily="34" charset="-122"/>
                <a:cs typeface="Arial" pitchFamily="34" charset="-120"/>
              </a:rPr>
              <a:t>How it runs</a:t>
            </a:r>
            <a:endParaRPr lang="en-US" sz="1000" dirty="0"/>
          </a:p>
        </p:txBody>
      </p:sp>
      <p:sp>
        <p:nvSpPr>
          <p:cNvPr id="5" name="Text 2"/>
          <p:cNvSpPr/>
          <p:nvPr/>
        </p:nvSpPr>
        <p:spPr>
          <a:xfrm>
            <a:off x="0" y="406301"/>
            <a:ext cx="9144000" cy="38100"/>
          </a:xfrm>
          <a:prstGeom prst="rect">
            <a:avLst/>
          </a:prstGeom>
          <a:solidFill>
            <a:srgbClr val="D0372C"/>
          </a:solidFill>
          <a:ln/>
        </p:spPr>
        <p:txBody>
          <a:bodyPr wrap="square" rtlCol="0" anchor="ctr"/>
          <a:lstStyle/>
          <a:p>
            <a:pPr indent="0" marL="0">
              <a:buNone/>
            </a:pPr>
            <a:endParaRPr lang="en-US" dirty="0"/>
          </a:p>
        </p:txBody>
      </p:sp>
      <p:sp>
        <p:nvSpPr>
          <p:cNvPr id="6" name="Text 3"/>
          <p:cNvSpPr/>
          <p:nvPr/>
        </p:nvSpPr>
        <p:spPr>
          <a:xfrm>
            <a:off x="330101" y="596801"/>
            <a:ext cx="8653474"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SOLUTION</a:t>
            </a:r>
            <a:endParaRPr lang="en-US" sz="1000" dirty="0"/>
          </a:p>
        </p:txBody>
      </p:sp>
      <p:sp>
        <p:nvSpPr>
          <p:cNvPr id="7" name="Text 4"/>
          <p:cNvSpPr/>
          <p:nvPr/>
        </p:nvSpPr>
        <p:spPr>
          <a:xfrm>
            <a:off x="330101" y="790426"/>
            <a:ext cx="8653474" cy="312837"/>
          </a:xfrm>
          <a:prstGeom prst="rect">
            <a:avLst/>
          </a:prstGeom>
          <a:noFill/>
          <a:ln/>
        </p:spPr>
        <p:txBody>
          <a:bodyPr wrap="square" lIns="0" tIns="0" rIns="0" bIns="0" rtlCol="0" anchor="t"/>
          <a:lstStyle/>
          <a:p>
            <a:pPr algn="l" indent="0" marL="0">
              <a:lnSpc>
                <a:spcPts val="2464"/>
              </a:lnSpc>
              <a:spcBef>
                <a:spcPts val="400"/>
              </a:spcBef>
              <a:buNone/>
            </a:pPr>
            <a:r>
              <a:rPr lang="en-US" sz="2200" dirty="0">
                <a:solidFill>
                  <a:srgbClr val="2A2A2A"/>
                </a:solidFill>
                <a:latin typeface="Georgia" pitchFamily="34" charset="0"/>
                <a:ea typeface="Georgia" pitchFamily="34" charset="-122"/>
                <a:cs typeface="Georgia" pitchFamily="34" charset="-120"/>
              </a:rPr>
              <a:t>Six steps. A person at the fifth.</a:t>
            </a:r>
            <a:endParaRPr lang="en-US" sz="2200" dirty="0"/>
          </a:p>
        </p:txBody>
      </p:sp>
      <p:sp>
        <p:nvSpPr>
          <p:cNvPr id="8" name="Text 5"/>
          <p:cNvSpPr/>
          <p:nvPr/>
        </p:nvSpPr>
        <p:spPr>
          <a:xfrm>
            <a:off x="507950" y="1420564"/>
            <a:ext cx="8128099" cy="25301"/>
          </a:xfrm>
          <a:prstGeom prst="rect">
            <a:avLst/>
          </a:prstGeom>
          <a:solidFill>
            <a:srgbClr val="2A2A2A"/>
          </a:solidFill>
          <a:ln/>
        </p:spPr>
        <p:txBody>
          <a:bodyPr wrap="square" rtlCol="0" anchor="ctr"/>
          <a:lstStyle/>
          <a:p>
            <a:pPr indent="0" marL="0">
              <a:buNone/>
            </a:pPr>
            <a:endParaRPr lang="en-US" dirty="0"/>
          </a:p>
        </p:txBody>
      </p:sp>
      <p:sp>
        <p:nvSpPr>
          <p:cNvPr id="9" name="Text 6"/>
          <p:cNvSpPr/>
          <p:nvPr/>
        </p:nvSpPr>
        <p:spPr>
          <a:xfrm>
            <a:off x="800100" y="1280815"/>
            <a:ext cx="304800" cy="304800"/>
          </a:xfrm>
          <a:prstGeom prst="roundRect">
            <a:avLst>
              <a:gd name="adj" fmla="val 300000"/>
            </a:avLst>
          </a:prstGeom>
          <a:solidFill>
            <a:srgbClr val="2A2A2A"/>
          </a:solidFill>
          <a:ln w="38100">
            <a:solidFill>
              <a:srgbClr val="FFFFFF"/>
            </a:solidFill>
          </a:ln>
        </p:spPr>
        <p:txBody>
          <a:bodyPr wrap="square" rtlCol="0" anchor="ctr"/>
          <a:lstStyle/>
          <a:p>
            <a:pPr indent="0" marL="0">
              <a:buNone/>
            </a:pPr>
            <a:endParaRPr lang="en-US" dirty="0"/>
          </a:p>
        </p:txBody>
      </p:sp>
      <p:sp>
        <p:nvSpPr>
          <p:cNvPr id="10" name="Text 7"/>
          <p:cNvSpPr/>
          <p:nvPr/>
        </p:nvSpPr>
        <p:spPr>
          <a:xfrm>
            <a:off x="835914" y="1318915"/>
            <a:ext cx="233172" cy="180975"/>
          </a:xfrm>
          <a:prstGeom prst="rect">
            <a:avLst/>
          </a:prstGeom>
          <a:noFill/>
          <a:ln/>
        </p:spPr>
        <p:txBody>
          <a:bodyPr wrap="square" lIns="0" tIns="3810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Text 8"/>
          <p:cNvSpPr/>
          <p:nvPr/>
        </p:nvSpPr>
        <p:spPr>
          <a:xfrm>
            <a:off x="252984" y="1687116"/>
            <a:ext cx="1399032" cy="171450"/>
          </a:xfrm>
          <a:prstGeom prst="rect">
            <a:avLst/>
          </a:prstGeom>
          <a:noFill/>
          <a:ln/>
        </p:spPr>
        <p:txBody>
          <a:bodyPr wrap="square" lIns="0" tIns="0" rIns="0" bIns="0" rtlCol="0" anchor="t"/>
          <a:lstStyle/>
          <a:p>
            <a:pPr algn="ctr" indent="0" marL="0">
              <a:spcBef>
                <a:spcPts val="800"/>
              </a:spcBef>
              <a:buNone/>
            </a:pPr>
            <a:r>
              <a:rPr lang="en-US" sz="1200" b="1" dirty="0">
                <a:solidFill>
                  <a:srgbClr val="2A2A2A"/>
                </a:solidFill>
                <a:latin typeface="Arial" pitchFamily="34" charset="0"/>
                <a:ea typeface="Arial" pitchFamily="34" charset="-122"/>
                <a:cs typeface="Arial" pitchFamily="34" charset="-120"/>
              </a:rPr>
              <a:t>Receive</a:t>
            </a:r>
            <a:endParaRPr lang="en-US" sz="1200" dirty="0"/>
          </a:p>
        </p:txBody>
      </p:sp>
      <p:sp>
        <p:nvSpPr>
          <p:cNvPr id="12" name="Text 9"/>
          <p:cNvSpPr/>
          <p:nvPr/>
        </p:nvSpPr>
        <p:spPr>
          <a:xfrm>
            <a:off x="252984" y="1883866"/>
            <a:ext cx="1399032" cy="317302"/>
          </a:xfrm>
          <a:prstGeom prst="rect">
            <a:avLst/>
          </a:prstGeom>
          <a:noFill/>
          <a:ln/>
        </p:spPr>
        <p:txBody>
          <a:bodyPr wrap="square" lIns="0" tIns="0" rIns="0" bIns="0" rtlCol="0" anchor="t"/>
          <a:lstStyle/>
          <a:p>
            <a:pPr algn="ctr" indent="0" marL="0">
              <a:lnSpc>
                <a:spcPts val="1250"/>
              </a:lnSpc>
              <a:spcBef>
                <a:spcPts val="200"/>
              </a:spcBef>
              <a:buNone/>
            </a:pPr>
            <a:r>
              <a:rPr lang="en-US" sz="1000" dirty="0">
                <a:solidFill>
                  <a:srgbClr val="5A5A5A"/>
                </a:solidFill>
                <a:latin typeface="Arial" pitchFamily="34" charset="0"/>
                <a:ea typeface="Arial" pitchFamily="34" charset="-122"/>
                <a:cs typeface="Arial" pitchFamily="34" charset="-120"/>
              </a:rPr>
              <a:t>Email, forms, attachments</a:t>
            </a:r>
            <a:endParaRPr lang="en-US" sz="1000" dirty="0"/>
          </a:p>
        </p:txBody>
      </p:sp>
      <p:sp>
        <p:nvSpPr>
          <p:cNvPr id="13" name="Text 10"/>
          <p:cNvSpPr/>
          <p:nvPr/>
        </p:nvSpPr>
        <p:spPr>
          <a:xfrm>
            <a:off x="2247900" y="1280815"/>
            <a:ext cx="304800" cy="304800"/>
          </a:xfrm>
          <a:prstGeom prst="roundRect">
            <a:avLst>
              <a:gd name="adj" fmla="val 300000"/>
            </a:avLst>
          </a:prstGeom>
          <a:solidFill>
            <a:srgbClr val="2A2A2A"/>
          </a:solidFill>
          <a:ln w="38100">
            <a:solidFill>
              <a:srgbClr val="FFFFFF"/>
            </a:solidFill>
          </a:ln>
        </p:spPr>
        <p:txBody>
          <a:bodyPr wrap="square" rtlCol="0" anchor="ctr"/>
          <a:lstStyle/>
          <a:p>
            <a:pPr indent="0" marL="0">
              <a:buNone/>
            </a:pPr>
            <a:endParaRPr lang="en-US" dirty="0"/>
          </a:p>
        </p:txBody>
      </p:sp>
      <p:sp>
        <p:nvSpPr>
          <p:cNvPr id="14" name="Text 11"/>
          <p:cNvSpPr/>
          <p:nvPr/>
        </p:nvSpPr>
        <p:spPr>
          <a:xfrm>
            <a:off x="2283714" y="1318915"/>
            <a:ext cx="233172" cy="180975"/>
          </a:xfrm>
          <a:prstGeom prst="rect">
            <a:avLst/>
          </a:prstGeom>
          <a:noFill/>
          <a:ln/>
        </p:spPr>
        <p:txBody>
          <a:bodyPr wrap="square" lIns="0" tIns="3810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5" name="Text 12"/>
          <p:cNvSpPr/>
          <p:nvPr/>
        </p:nvSpPr>
        <p:spPr>
          <a:xfrm>
            <a:off x="1700784" y="1687116"/>
            <a:ext cx="1399032" cy="171450"/>
          </a:xfrm>
          <a:prstGeom prst="rect">
            <a:avLst/>
          </a:prstGeom>
          <a:noFill/>
          <a:ln/>
        </p:spPr>
        <p:txBody>
          <a:bodyPr wrap="square" lIns="0" tIns="0" rIns="0" bIns="0" rtlCol="0" anchor="t"/>
          <a:lstStyle/>
          <a:p>
            <a:pPr algn="ctr" indent="0" marL="0">
              <a:spcBef>
                <a:spcPts val="800"/>
              </a:spcBef>
              <a:buNone/>
            </a:pPr>
            <a:r>
              <a:rPr lang="en-US" sz="1200" b="1" dirty="0">
                <a:solidFill>
                  <a:srgbClr val="2A2A2A"/>
                </a:solidFill>
                <a:latin typeface="Arial" pitchFamily="34" charset="0"/>
                <a:ea typeface="Arial" pitchFamily="34" charset="-122"/>
                <a:cs typeface="Arial" pitchFamily="34" charset="-120"/>
              </a:rPr>
              <a:t>Read</a:t>
            </a:r>
            <a:endParaRPr lang="en-US" sz="1200" dirty="0"/>
          </a:p>
        </p:txBody>
      </p:sp>
      <p:sp>
        <p:nvSpPr>
          <p:cNvPr id="16" name="Text 13"/>
          <p:cNvSpPr/>
          <p:nvPr/>
        </p:nvSpPr>
        <p:spPr>
          <a:xfrm>
            <a:off x="1700784" y="1883866"/>
            <a:ext cx="1399032" cy="158651"/>
          </a:xfrm>
          <a:prstGeom prst="rect">
            <a:avLst/>
          </a:prstGeom>
          <a:noFill/>
          <a:ln/>
        </p:spPr>
        <p:txBody>
          <a:bodyPr wrap="square" lIns="0" tIns="0" rIns="0" bIns="0" rtlCol="0" anchor="t"/>
          <a:lstStyle/>
          <a:p>
            <a:pPr algn="ctr" indent="0" marL="0">
              <a:lnSpc>
                <a:spcPts val="1250"/>
              </a:lnSpc>
              <a:spcBef>
                <a:spcPts val="200"/>
              </a:spcBef>
              <a:buNone/>
            </a:pPr>
            <a:r>
              <a:rPr lang="en-US" sz="1000" dirty="0">
                <a:solidFill>
                  <a:srgbClr val="5A5A5A"/>
                </a:solidFill>
                <a:latin typeface="Arial" pitchFamily="34" charset="0"/>
                <a:ea typeface="Arial" pitchFamily="34" charset="-122"/>
                <a:cs typeface="Arial" pitchFamily="34" charset="-120"/>
              </a:rPr>
              <a:t>Classify, extract, review</a:t>
            </a:r>
            <a:endParaRPr lang="en-US" sz="1000" dirty="0"/>
          </a:p>
        </p:txBody>
      </p:sp>
      <p:sp>
        <p:nvSpPr>
          <p:cNvPr id="17" name="Text 14"/>
          <p:cNvSpPr/>
          <p:nvPr/>
        </p:nvSpPr>
        <p:spPr>
          <a:xfrm>
            <a:off x="3695700" y="1280815"/>
            <a:ext cx="304800" cy="304800"/>
          </a:xfrm>
          <a:prstGeom prst="roundRect">
            <a:avLst>
              <a:gd name="adj" fmla="val 300000"/>
            </a:avLst>
          </a:prstGeom>
          <a:solidFill>
            <a:srgbClr val="2A2A2A"/>
          </a:solidFill>
          <a:ln w="38100">
            <a:solidFill>
              <a:srgbClr val="FFFFFF"/>
            </a:solidFill>
          </a:ln>
        </p:spPr>
        <p:txBody>
          <a:bodyPr wrap="square" rtlCol="0" anchor="ctr"/>
          <a:lstStyle/>
          <a:p>
            <a:pPr indent="0" marL="0">
              <a:buNone/>
            </a:pPr>
            <a:endParaRPr lang="en-US" dirty="0"/>
          </a:p>
        </p:txBody>
      </p:sp>
      <p:sp>
        <p:nvSpPr>
          <p:cNvPr id="18" name="Text 15"/>
          <p:cNvSpPr/>
          <p:nvPr/>
        </p:nvSpPr>
        <p:spPr>
          <a:xfrm>
            <a:off x="3731514" y="1318915"/>
            <a:ext cx="233172" cy="180975"/>
          </a:xfrm>
          <a:prstGeom prst="rect">
            <a:avLst/>
          </a:prstGeom>
          <a:noFill/>
          <a:ln/>
        </p:spPr>
        <p:txBody>
          <a:bodyPr wrap="square" lIns="0" tIns="3810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9" name="Text 16"/>
          <p:cNvSpPr/>
          <p:nvPr/>
        </p:nvSpPr>
        <p:spPr>
          <a:xfrm>
            <a:off x="3148584" y="1687116"/>
            <a:ext cx="1399032" cy="171450"/>
          </a:xfrm>
          <a:prstGeom prst="rect">
            <a:avLst/>
          </a:prstGeom>
          <a:noFill/>
          <a:ln/>
        </p:spPr>
        <p:txBody>
          <a:bodyPr wrap="square" lIns="0" tIns="0" rIns="0" bIns="0" rtlCol="0" anchor="t"/>
          <a:lstStyle/>
          <a:p>
            <a:pPr algn="ctr" indent="0" marL="0">
              <a:spcBef>
                <a:spcPts val="800"/>
              </a:spcBef>
              <a:buNone/>
            </a:pPr>
            <a:r>
              <a:rPr lang="en-US" sz="1200" b="1" dirty="0">
                <a:solidFill>
                  <a:srgbClr val="2A2A2A"/>
                </a:solidFill>
                <a:latin typeface="Arial" pitchFamily="34" charset="0"/>
                <a:ea typeface="Arial" pitchFamily="34" charset="-122"/>
                <a:cs typeface="Arial" pitchFamily="34" charset="-120"/>
              </a:rPr>
              <a:t>Check</a:t>
            </a:r>
            <a:endParaRPr lang="en-US" sz="1200" dirty="0"/>
          </a:p>
        </p:txBody>
      </p:sp>
      <p:sp>
        <p:nvSpPr>
          <p:cNvPr id="20" name="Text 17"/>
          <p:cNvSpPr/>
          <p:nvPr/>
        </p:nvSpPr>
        <p:spPr>
          <a:xfrm>
            <a:off x="3148584" y="1883866"/>
            <a:ext cx="1399032" cy="158651"/>
          </a:xfrm>
          <a:prstGeom prst="rect">
            <a:avLst/>
          </a:prstGeom>
          <a:noFill/>
          <a:ln/>
        </p:spPr>
        <p:txBody>
          <a:bodyPr wrap="square" lIns="0" tIns="0" rIns="0" bIns="0" rtlCol="0" anchor="t"/>
          <a:lstStyle/>
          <a:p>
            <a:pPr algn="ctr" indent="0" marL="0">
              <a:lnSpc>
                <a:spcPts val="1250"/>
              </a:lnSpc>
              <a:spcBef>
                <a:spcPts val="200"/>
              </a:spcBef>
              <a:buNone/>
            </a:pPr>
            <a:r>
              <a:rPr lang="en-US" sz="1000" dirty="0">
                <a:solidFill>
                  <a:srgbClr val="5A5A5A"/>
                </a:solidFill>
                <a:latin typeface="Arial" pitchFamily="34" charset="0"/>
                <a:ea typeface="Arial" pitchFamily="34" charset="-122"/>
                <a:cs typeface="Arial" pitchFamily="34" charset="-120"/>
              </a:rPr>
              <a:t>Gaps, conflicts, source</a:t>
            </a:r>
            <a:endParaRPr lang="en-US" sz="1000" dirty="0"/>
          </a:p>
        </p:txBody>
      </p:sp>
      <p:sp>
        <p:nvSpPr>
          <p:cNvPr id="21" name="Text 18"/>
          <p:cNvSpPr/>
          <p:nvPr/>
        </p:nvSpPr>
        <p:spPr>
          <a:xfrm>
            <a:off x="5143500" y="1280815"/>
            <a:ext cx="304800" cy="304800"/>
          </a:xfrm>
          <a:prstGeom prst="roundRect">
            <a:avLst>
              <a:gd name="adj" fmla="val 300000"/>
            </a:avLst>
          </a:prstGeom>
          <a:solidFill>
            <a:srgbClr val="2A2A2A"/>
          </a:solidFill>
          <a:ln w="38100">
            <a:solidFill>
              <a:srgbClr val="FFFFFF"/>
            </a:solidFill>
          </a:ln>
        </p:spPr>
        <p:txBody>
          <a:bodyPr wrap="square" rtlCol="0" anchor="ctr"/>
          <a:lstStyle/>
          <a:p>
            <a:pPr indent="0" marL="0">
              <a:buNone/>
            </a:pPr>
            <a:endParaRPr lang="en-US" dirty="0"/>
          </a:p>
        </p:txBody>
      </p:sp>
      <p:sp>
        <p:nvSpPr>
          <p:cNvPr id="22" name="Text 19"/>
          <p:cNvSpPr/>
          <p:nvPr/>
        </p:nvSpPr>
        <p:spPr>
          <a:xfrm>
            <a:off x="5179314" y="1318915"/>
            <a:ext cx="233172" cy="180975"/>
          </a:xfrm>
          <a:prstGeom prst="rect">
            <a:avLst/>
          </a:prstGeom>
          <a:noFill/>
          <a:ln/>
        </p:spPr>
        <p:txBody>
          <a:bodyPr wrap="square" lIns="0" tIns="3810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3" name="Text 20"/>
          <p:cNvSpPr/>
          <p:nvPr/>
        </p:nvSpPr>
        <p:spPr>
          <a:xfrm>
            <a:off x="4596384" y="1687116"/>
            <a:ext cx="1399032" cy="171450"/>
          </a:xfrm>
          <a:prstGeom prst="rect">
            <a:avLst/>
          </a:prstGeom>
          <a:noFill/>
          <a:ln/>
        </p:spPr>
        <p:txBody>
          <a:bodyPr wrap="square" lIns="0" tIns="0" rIns="0" bIns="0" rtlCol="0" anchor="t"/>
          <a:lstStyle/>
          <a:p>
            <a:pPr algn="ctr" indent="0" marL="0">
              <a:spcBef>
                <a:spcPts val="800"/>
              </a:spcBef>
              <a:buNone/>
            </a:pPr>
            <a:r>
              <a:rPr lang="en-US" sz="1200" b="1" dirty="0">
                <a:solidFill>
                  <a:srgbClr val="2A2A2A"/>
                </a:solidFill>
                <a:latin typeface="Arial" pitchFamily="34" charset="0"/>
                <a:ea typeface="Arial" pitchFamily="34" charset="-122"/>
                <a:cs typeface="Arial" pitchFamily="34" charset="-120"/>
              </a:rPr>
              <a:t>Enrich</a:t>
            </a:r>
            <a:endParaRPr lang="en-US" sz="1200" dirty="0"/>
          </a:p>
        </p:txBody>
      </p:sp>
      <p:sp>
        <p:nvSpPr>
          <p:cNvPr id="24" name="Text 21"/>
          <p:cNvSpPr/>
          <p:nvPr/>
        </p:nvSpPr>
        <p:spPr>
          <a:xfrm>
            <a:off x="4596384" y="1883866"/>
            <a:ext cx="1399032" cy="317302"/>
          </a:xfrm>
          <a:prstGeom prst="rect">
            <a:avLst/>
          </a:prstGeom>
          <a:noFill/>
          <a:ln/>
        </p:spPr>
        <p:txBody>
          <a:bodyPr wrap="square" lIns="0" tIns="0" rIns="0" bIns="0" rtlCol="0" anchor="t"/>
          <a:lstStyle/>
          <a:p>
            <a:pPr algn="ctr" indent="0" marL="0">
              <a:lnSpc>
                <a:spcPts val="1250"/>
              </a:lnSpc>
              <a:spcBef>
                <a:spcPts val="200"/>
              </a:spcBef>
              <a:buNone/>
            </a:pPr>
            <a:r>
              <a:rPr lang="en-US" sz="1000" dirty="0">
                <a:solidFill>
                  <a:srgbClr val="5A5A5A"/>
                </a:solidFill>
                <a:latin typeface="Arial" pitchFamily="34" charset="0"/>
                <a:ea typeface="Arial" pitchFamily="34" charset="-122"/>
                <a:cs typeface="Arial" pitchFamily="34" charset="-120"/>
              </a:rPr>
              <a:t>Ratings and outside signals</a:t>
            </a:r>
            <a:endParaRPr lang="en-US" sz="1000" dirty="0"/>
          </a:p>
        </p:txBody>
      </p:sp>
      <p:sp>
        <p:nvSpPr>
          <p:cNvPr id="25" name="Text 22"/>
          <p:cNvSpPr/>
          <p:nvPr/>
        </p:nvSpPr>
        <p:spPr>
          <a:xfrm>
            <a:off x="6591300" y="1280815"/>
            <a:ext cx="304800" cy="304800"/>
          </a:xfrm>
          <a:prstGeom prst="roundRect">
            <a:avLst>
              <a:gd name="adj" fmla="val 300000"/>
            </a:avLst>
          </a:prstGeom>
          <a:solidFill>
            <a:srgbClr val="D0372C"/>
          </a:solidFill>
          <a:ln w="38100">
            <a:solidFill>
              <a:srgbClr val="FFFFFF"/>
            </a:solidFill>
          </a:ln>
        </p:spPr>
        <p:txBody>
          <a:bodyPr wrap="square" rtlCol="0" anchor="ctr"/>
          <a:lstStyle/>
          <a:p>
            <a:pPr indent="0" marL="0">
              <a:buNone/>
            </a:pPr>
            <a:endParaRPr lang="en-US" dirty="0"/>
          </a:p>
        </p:txBody>
      </p:sp>
      <p:sp>
        <p:nvSpPr>
          <p:cNvPr id="26" name="Text 23"/>
          <p:cNvSpPr/>
          <p:nvPr/>
        </p:nvSpPr>
        <p:spPr>
          <a:xfrm>
            <a:off x="6627114" y="1318915"/>
            <a:ext cx="233172" cy="180975"/>
          </a:xfrm>
          <a:prstGeom prst="rect">
            <a:avLst/>
          </a:prstGeom>
          <a:noFill/>
          <a:ln/>
        </p:spPr>
        <p:txBody>
          <a:bodyPr wrap="square" lIns="0" tIns="3810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7" name="Text 24"/>
          <p:cNvSpPr/>
          <p:nvPr/>
        </p:nvSpPr>
        <p:spPr>
          <a:xfrm>
            <a:off x="6044184" y="1687116"/>
            <a:ext cx="1399032" cy="171450"/>
          </a:xfrm>
          <a:prstGeom prst="rect">
            <a:avLst/>
          </a:prstGeom>
          <a:noFill/>
          <a:ln/>
        </p:spPr>
        <p:txBody>
          <a:bodyPr wrap="square" lIns="0" tIns="0" rIns="0" bIns="0" rtlCol="0" anchor="t"/>
          <a:lstStyle/>
          <a:p>
            <a:pPr algn="ctr" indent="0" marL="0">
              <a:spcBef>
                <a:spcPts val="800"/>
              </a:spcBef>
              <a:buNone/>
            </a:pPr>
            <a:r>
              <a:rPr lang="en-US" sz="1200" b="1" dirty="0">
                <a:solidFill>
                  <a:srgbClr val="2A2A2A"/>
                </a:solidFill>
                <a:latin typeface="Arial" pitchFamily="34" charset="0"/>
                <a:ea typeface="Arial" pitchFamily="34" charset="-122"/>
                <a:cs typeface="Arial" pitchFamily="34" charset="-120"/>
              </a:rPr>
              <a:t>Decide</a:t>
            </a:r>
            <a:endParaRPr lang="en-US" sz="1200" dirty="0"/>
          </a:p>
        </p:txBody>
      </p:sp>
      <p:sp>
        <p:nvSpPr>
          <p:cNvPr id="28" name="Text 25"/>
          <p:cNvSpPr/>
          <p:nvPr/>
        </p:nvSpPr>
        <p:spPr>
          <a:xfrm>
            <a:off x="6044184" y="1883866"/>
            <a:ext cx="1399032" cy="317302"/>
          </a:xfrm>
          <a:prstGeom prst="rect">
            <a:avLst/>
          </a:prstGeom>
          <a:noFill/>
          <a:ln/>
        </p:spPr>
        <p:txBody>
          <a:bodyPr wrap="square" lIns="0" tIns="0" rIns="0" bIns="0" rtlCol="0" anchor="t"/>
          <a:lstStyle/>
          <a:p>
            <a:pPr algn="ctr" indent="0" marL="0">
              <a:lnSpc>
                <a:spcPts val="1250"/>
              </a:lnSpc>
              <a:spcBef>
                <a:spcPts val="200"/>
              </a:spcBef>
              <a:buNone/>
            </a:pPr>
            <a:r>
              <a:rPr lang="en-US" sz="1000" dirty="0">
                <a:solidFill>
                  <a:srgbClr val="5A5A5A"/>
                </a:solidFill>
                <a:latin typeface="Arial" pitchFamily="34" charset="0"/>
                <a:ea typeface="Arial" pitchFamily="34" charset="-122"/>
                <a:cs typeface="Arial" pitchFamily="34" charset="-120"/>
              </a:rPr>
              <a:t>Appetite, referral, a person</a:t>
            </a:r>
            <a:endParaRPr lang="en-US" sz="1000" dirty="0"/>
          </a:p>
        </p:txBody>
      </p:sp>
      <p:sp>
        <p:nvSpPr>
          <p:cNvPr id="29" name="Text 26"/>
          <p:cNvSpPr/>
          <p:nvPr/>
        </p:nvSpPr>
        <p:spPr>
          <a:xfrm>
            <a:off x="8039100" y="1280815"/>
            <a:ext cx="304800" cy="304800"/>
          </a:xfrm>
          <a:prstGeom prst="roundRect">
            <a:avLst>
              <a:gd name="adj" fmla="val 300000"/>
            </a:avLst>
          </a:prstGeom>
          <a:solidFill>
            <a:srgbClr val="2A2A2A"/>
          </a:solidFill>
          <a:ln w="38100">
            <a:solidFill>
              <a:srgbClr val="FFFFFF"/>
            </a:solidFill>
          </a:ln>
        </p:spPr>
        <p:txBody>
          <a:bodyPr wrap="square" rtlCol="0" anchor="ctr"/>
          <a:lstStyle/>
          <a:p>
            <a:pPr indent="0" marL="0">
              <a:buNone/>
            </a:pPr>
            <a:endParaRPr lang="en-US" dirty="0"/>
          </a:p>
        </p:txBody>
      </p:sp>
      <p:sp>
        <p:nvSpPr>
          <p:cNvPr id="30" name="Text 27"/>
          <p:cNvSpPr/>
          <p:nvPr/>
        </p:nvSpPr>
        <p:spPr>
          <a:xfrm>
            <a:off x="8074914" y="1318915"/>
            <a:ext cx="233172" cy="180975"/>
          </a:xfrm>
          <a:prstGeom prst="rect">
            <a:avLst/>
          </a:prstGeom>
          <a:noFill/>
          <a:ln/>
        </p:spPr>
        <p:txBody>
          <a:bodyPr wrap="square" lIns="0" tIns="3810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31" name="Text 28"/>
          <p:cNvSpPr/>
          <p:nvPr/>
        </p:nvSpPr>
        <p:spPr>
          <a:xfrm>
            <a:off x="7491984" y="1687116"/>
            <a:ext cx="1399032" cy="171450"/>
          </a:xfrm>
          <a:prstGeom prst="rect">
            <a:avLst/>
          </a:prstGeom>
          <a:noFill/>
          <a:ln/>
        </p:spPr>
        <p:txBody>
          <a:bodyPr wrap="square" lIns="0" tIns="0" rIns="0" bIns="0" rtlCol="0" anchor="t"/>
          <a:lstStyle/>
          <a:p>
            <a:pPr algn="ctr" indent="0" marL="0">
              <a:spcBef>
                <a:spcPts val="800"/>
              </a:spcBef>
              <a:buNone/>
            </a:pPr>
            <a:r>
              <a:rPr lang="en-US" sz="1200" b="1" dirty="0">
                <a:solidFill>
                  <a:srgbClr val="2A2A2A"/>
                </a:solidFill>
                <a:latin typeface="Arial" pitchFamily="34" charset="0"/>
                <a:ea typeface="Arial" pitchFamily="34" charset="-122"/>
                <a:cs typeface="Arial" pitchFamily="34" charset="-120"/>
              </a:rPr>
              <a:t>Hand off</a:t>
            </a:r>
            <a:endParaRPr lang="en-US" sz="1200" dirty="0"/>
          </a:p>
        </p:txBody>
      </p:sp>
      <p:sp>
        <p:nvSpPr>
          <p:cNvPr id="32" name="Text 29"/>
          <p:cNvSpPr/>
          <p:nvPr/>
        </p:nvSpPr>
        <p:spPr>
          <a:xfrm>
            <a:off x="7491984" y="1883866"/>
            <a:ext cx="1399032" cy="317302"/>
          </a:xfrm>
          <a:prstGeom prst="rect">
            <a:avLst/>
          </a:prstGeom>
          <a:noFill/>
          <a:ln/>
        </p:spPr>
        <p:txBody>
          <a:bodyPr wrap="square" lIns="0" tIns="0" rIns="0" bIns="0" rtlCol="0" anchor="t"/>
          <a:lstStyle/>
          <a:p>
            <a:pPr algn="ctr" indent="0" marL="0">
              <a:lnSpc>
                <a:spcPts val="1250"/>
              </a:lnSpc>
              <a:spcBef>
                <a:spcPts val="200"/>
              </a:spcBef>
              <a:buNone/>
            </a:pPr>
            <a:r>
              <a:rPr lang="en-US" sz="1000" dirty="0">
                <a:solidFill>
                  <a:srgbClr val="5A5A5A"/>
                </a:solidFill>
                <a:latin typeface="Arial" pitchFamily="34" charset="0"/>
                <a:ea typeface="Arial" pitchFamily="34" charset="-122"/>
                <a:cs typeface="Arial" pitchFamily="34" charset="-120"/>
              </a:rPr>
              <a:t>Brief, action, policy system</a:t>
            </a:r>
            <a:endParaRPr lang="en-US" sz="1000" dirty="0"/>
          </a:p>
        </p:txBody>
      </p:sp>
      <p:sp>
        <p:nvSpPr>
          <p:cNvPr id="33" name="Text 30"/>
          <p:cNvSpPr/>
          <p:nvPr/>
        </p:nvSpPr>
        <p:spPr>
          <a:xfrm>
            <a:off x="228600" y="2378869"/>
            <a:ext cx="8686800" cy="374452"/>
          </a:xfrm>
          <a:prstGeom prst="rect">
            <a:avLst/>
          </a:prstGeom>
          <a:solidFill>
            <a:srgbClr val="F4F4F4"/>
          </a:solidFill>
          <a:ln/>
        </p:spPr>
        <p:txBody>
          <a:bodyPr wrap="square" rtlCol="0" anchor="ctr"/>
          <a:lstStyle/>
          <a:p>
            <a:pPr indent="0" marL="0">
              <a:buNone/>
            </a:pPr>
            <a:endParaRPr lang="en-US" dirty="0"/>
          </a:p>
        </p:txBody>
      </p:sp>
      <p:sp>
        <p:nvSpPr>
          <p:cNvPr id="34" name="Text 31"/>
          <p:cNvSpPr/>
          <p:nvPr/>
        </p:nvSpPr>
        <p:spPr>
          <a:xfrm>
            <a:off x="381000" y="2480370"/>
            <a:ext cx="8549640" cy="171450"/>
          </a:xfrm>
          <a:prstGeom prst="rect">
            <a:avLst/>
          </a:prstGeom>
          <a:noFill/>
          <a:ln/>
        </p:spPr>
        <p:txBody>
          <a:bodyPr wrap="square" lIns="0" tIns="0" rIns="0" bIns="0" rtlCol="0" anchor="t"/>
          <a:lstStyle/>
          <a:p>
            <a:pPr algn="l" indent="0" marL="0">
              <a:buNone/>
            </a:pPr>
            <a:r>
              <a:rPr lang="en-US" sz="1200" b="1" dirty="0">
                <a:solidFill>
                  <a:srgbClr val="2A2A2A"/>
                </a:solidFill>
                <a:latin typeface="Arial" pitchFamily="34" charset="0"/>
                <a:ea typeface="Arial" pitchFamily="34" charset="-122"/>
                <a:cs typeface="Arial" pitchFamily="34" charset="-120"/>
              </a:rPr>
              <a:t>Decide is the gate.</a:t>
            </a:r>
            <a:pPr algn="l" indent="0" marL="0">
              <a:buNone/>
            </a:pPr>
            <a:r>
              <a:rPr lang="en-US" sz="1200" dirty="0">
                <a:solidFill>
                  <a:srgbClr val="2A2A2A"/>
                </a:solidFill>
                <a:latin typeface="Arial" pitchFamily="34" charset="0"/>
                <a:ea typeface="Arial" pitchFamily="34" charset="-122"/>
                <a:cs typeface="Arial" pitchFamily="34" charset="-120"/>
              </a:rPr>
              <a:t> An outside signal is a clue. It does not prove the control works, and it does not bind the policy.</a:t>
            </a:r>
            <a:endParaRPr lang="en-US" sz="1200" dirty="0"/>
          </a:p>
        </p:txBody>
      </p:sp>
      <p:sp>
        <p:nvSpPr>
          <p:cNvPr id="35" name="Text 32"/>
          <p:cNvSpPr/>
          <p:nvPr/>
        </p:nvSpPr>
        <p:spPr>
          <a:xfrm>
            <a:off x="330101" y="2835771"/>
            <a:ext cx="1956914"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Cyber underwriting  ·  Client discussion</a:t>
            </a:r>
            <a:endParaRPr lang="en-US" sz="900" dirty="0"/>
          </a:p>
        </p:txBody>
      </p:sp>
      <p:sp>
        <p:nvSpPr>
          <p:cNvPr id="36" name="Text 33"/>
          <p:cNvSpPr/>
          <p:nvPr/>
        </p:nvSpPr>
        <p:spPr>
          <a:xfrm>
            <a:off x="8686651" y="2835771"/>
            <a:ext cx="129793"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406301"/>
          </a:xfrm>
          <a:prstGeom prst="rect">
            <a:avLst/>
          </a:prstGeom>
          <a:solidFill>
            <a:srgbClr val="FFFFFF"/>
          </a:solidFill>
          <a:ln/>
        </p:spPr>
        <p:txBody>
          <a:bodyPr wrap="square" rtlCol="0" anchor="ctr"/>
          <a:lstStyle/>
          <a:p>
            <a:pPr indent="0" marL="0">
              <a:buNone/>
            </a:pPr>
            <a:endParaRPr lang="en-US" dirty="0"/>
          </a:p>
        </p:txBody>
      </p:sp>
      <p:pic>
        <p:nvPicPr>
          <p:cNvPr id="3" name="Image 0" descr="/Users/chandansharma/Documents/cyber-uw/docs/client/deck/slides/birlasoft-logo-on-white.png">    </p:cNvPr>
          <p:cNvPicPr>
            <a:picLocks noChangeAspect="1"/>
          </p:cNvPicPr>
          <p:nvPr/>
        </p:nvPicPr>
        <p:blipFill>
          <a:blip r:embed="rId1"/>
          <a:stretch>
            <a:fillRect/>
          </a:stretch>
        </p:blipFill>
        <p:spPr>
          <a:xfrm>
            <a:off x="330101" y="95101"/>
            <a:ext cx="990600" cy="279350"/>
          </a:xfrm>
          <a:prstGeom prst="rect">
            <a:avLst/>
          </a:prstGeom>
        </p:spPr>
      </p:pic>
      <p:sp>
        <p:nvSpPr>
          <p:cNvPr id="4" name="Text 1"/>
          <p:cNvSpPr/>
          <p:nvPr/>
        </p:nvSpPr>
        <p:spPr>
          <a:xfrm>
            <a:off x="8178850" y="163413"/>
            <a:ext cx="647751" cy="142875"/>
          </a:xfrm>
          <a:prstGeom prst="rect">
            <a:avLst/>
          </a:prstGeom>
          <a:noFill/>
          <a:ln/>
        </p:spPr>
        <p:txBody>
          <a:bodyPr wrap="square" lIns="0" tIns="0" rIns="0" bIns="0" rtlCol="0" anchor="t"/>
          <a:lstStyle/>
          <a:p>
            <a:pPr algn="l" indent="0" marL="0">
              <a:buNone/>
            </a:pPr>
            <a:r>
              <a:rPr lang="en-US" sz="1000" dirty="0">
                <a:solidFill>
                  <a:srgbClr val="5A5A5A"/>
                </a:solidFill>
                <a:latin typeface="Arial" pitchFamily="34" charset="0"/>
                <a:ea typeface="Arial" pitchFamily="34" charset="-122"/>
                <a:cs typeface="Arial" pitchFamily="34" charset="-120"/>
              </a:rPr>
              <a:t>How it runs</a:t>
            </a:r>
            <a:endParaRPr lang="en-US" sz="1000" dirty="0"/>
          </a:p>
        </p:txBody>
      </p:sp>
      <p:sp>
        <p:nvSpPr>
          <p:cNvPr id="5" name="Text 2"/>
          <p:cNvSpPr/>
          <p:nvPr/>
        </p:nvSpPr>
        <p:spPr>
          <a:xfrm>
            <a:off x="0" y="406301"/>
            <a:ext cx="9144000" cy="38100"/>
          </a:xfrm>
          <a:prstGeom prst="rect">
            <a:avLst/>
          </a:prstGeom>
          <a:solidFill>
            <a:srgbClr val="D0372C"/>
          </a:solidFill>
          <a:ln/>
        </p:spPr>
        <p:txBody>
          <a:bodyPr wrap="square" rtlCol="0" anchor="ctr"/>
          <a:lstStyle/>
          <a:p>
            <a:pPr indent="0" marL="0">
              <a:buNone/>
            </a:pPr>
            <a:endParaRPr lang="en-US" dirty="0"/>
          </a:p>
        </p:txBody>
      </p:sp>
      <p:sp>
        <p:nvSpPr>
          <p:cNvPr id="6" name="Text 3"/>
          <p:cNvSpPr/>
          <p:nvPr/>
        </p:nvSpPr>
        <p:spPr>
          <a:xfrm>
            <a:off x="330101" y="596801"/>
            <a:ext cx="8653474"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ARCHITECTURE</a:t>
            </a:r>
            <a:endParaRPr lang="en-US" sz="1000" dirty="0"/>
          </a:p>
        </p:txBody>
      </p:sp>
      <p:sp>
        <p:nvSpPr>
          <p:cNvPr id="7" name="Text 4"/>
          <p:cNvSpPr/>
          <p:nvPr/>
        </p:nvSpPr>
        <p:spPr>
          <a:xfrm>
            <a:off x="330101" y="790426"/>
            <a:ext cx="8653474" cy="312837"/>
          </a:xfrm>
          <a:prstGeom prst="rect">
            <a:avLst/>
          </a:prstGeom>
          <a:noFill/>
          <a:ln/>
        </p:spPr>
        <p:txBody>
          <a:bodyPr wrap="square" lIns="0" tIns="0" rIns="0" bIns="0" rtlCol="0" anchor="t"/>
          <a:lstStyle/>
          <a:p>
            <a:pPr algn="l" indent="0" marL="0">
              <a:lnSpc>
                <a:spcPts val="2464"/>
              </a:lnSpc>
              <a:spcBef>
                <a:spcPts val="400"/>
              </a:spcBef>
              <a:buNone/>
            </a:pPr>
            <a:r>
              <a:rPr lang="en-US" sz="2200" dirty="0">
                <a:solidFill>
                  <a:srgbClr val="2A2A2A"/>
                </a:solidFill>
                <a:latin typeface="Georgia" pitchFamily="34" charset="0"/>
                <a:ea typeface="Georgia" pitchFamily="34" charset="-122"/>
                <a:cs typeface="Georgia" pitchFamily="34" charset="-120"/>
              </a:rPr>
              <a:t>Where each piece sits</a:t>
            </a:r>
            <a:endParaRPr lang="en-US" sz="2200" dirty="0"/>
          </a:p>
        </p:txBody>
      </p:sp>
      <p:sp>
        <p:nvSpPr>
          <p:cNvPr id="8" name="Text 5"/>
          <p:cNvSpPr/>
          <p:nvPr/>
        </p:nvSpPr>
        <p:spPr>
          <a:xfrm>
            <a:off x="330101" y="1154013"/>
            <a:ext cx="8653474" cy="198090"/>
          </a:xfrm>
          <a:prstGeom prst="rect">
            <a:avLst/>
          </a:prstGeom>
          <a:noFill/>
          <a:ln/>
        </p:spPr>
        <p:txBody>
          <a:bodyPr wrap="square" lIns="0" tIns="0" rIns="0" bIns="0" rtlCol="0" anchor="t"/>
          <a:lstStyle/>
          <a:p>
            <a:pPr algn="l" indent="0" marL="0">
              <a:lnSpc>
                <a:spcPts val="1560"/>
              </a:lnSpc>
              <a:spcBef>
                <a:spcPts val="400"/>
              </a:spcBef>
              <a:buNone/>
            </a:pPr>
            <a:r>
              <a:rPr lang="en-US" sz="1200" dirty="0">
                <a:solidFill>
                  <a:srgbClr val="5A5A5A"/>
                </a:solidFill>
                <a:latin typeface="Arial" pitchFamily="34" charset="0"/>
                <a:ea typeface="Arial" pitchFamily="34" charset="-122"/>
                <a:cs typeface="Arial" pitchFamily="34" charset="-120"/>
              </a:rPr>
              <a:t>Feeds and the policy connector are named in the work. They are not assumed.</a:t>
            </a:r>
            <a:endParaRPr lang="en-US" sz="1200" dirty="0"/>
          </a:p>
        </p:txBody>
      </p:sp>
      <p:sp>
        <p:nvSpPr>
          <p:cNvPr id="9" name="Text 6"/>
          <p:cNvSpPr/>
          <p:nvPr/>
        </p:nvSpPr>
        <p:spPr>
          <a:xfrm>
            <a:off x="330101" y="1428304"/>
            <a:ext cx="1498550" cy="431750"/>
          </a:xfrm>
          <a:prstGeom prst="rect">
            <a:avLst/>
          </a:prstGeom>
          <a:solidFill>
            <a:srgbClr val="2A2A2A"/>
          </a:solidFill>
          <a:ln/>
        </p:spPr>
        <p:txBody>
          <a:bodyPr wrap="square" rtlCol="0" anchor="ctr"/>
          <a:lstStyle/>
          <a:p>
            <a:pPr indent="0" marL="0">
              <a:buNone/>
            </a:pPr>
            <a:endParaRPr lang="en-US" dirty="0"/>
          </a:p>
        </p:txBody>
      </p:sp>
      <p:sp>
        <p:nvSpPr>
          <p:cNvPr id="10" name="Text 7"/>
          <p:cNvSpPr/>
          <p:nvPr/>
        </p:nvSpPr>
        <p:spPr>
          <a:xfrm>
            <a:off x="431602" y="1542604"/>
            <a:ext cx="1424991"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EXPERIENCE</a:t>
            </a:r>
            <a:endParaRPr lang="en-US" sz="1000" dirty="0"/>
          </a:p>
        </p:txBody>
      </p:sp>
      <p:sp>
        <p:nvSpPr>
          <p:cNvPr id="11" name="Text 8"/>
          <p:cNvSpPr/>
          <p:nvPr/>
        </p:nvSpPr>
        <p:spPr>
          <a:xfrm>
            <a:off x="1828651" y="1428304"/>
            <a:ext cx="6985248" cy="431750"/>
          </a:xfrm>
          <a:prstGeom prst="rect">
            <a:avLst/>
          </a:prstGeom>
          <a:solidFill>
            <a:srgbClr val="F7F7F7"/>
          </a:solidFill>
          <a:ln/>
        </p:spPr>
        <p:txBody>
          <a:bodyPr wrap="square" rtlCol="0" anchor="ctr"/>
          <a:lstStyle/>
          <a:p>
            <a:pPr indent="0" marL="0">
              <a:buNone/>
            </a:pPr>
            <a:endParaRPr lang="en-US" dirty="0"/>
          </a:p>
        </p:txBody>
      </p:sp>
      <p:sp>
        <p:nvSpPr>
          <p:cNvPr id="12" name="Text 9"/>
          <p:cNvSpPr/>
          <p:nvPr/>
        </p:nvSpPr>
        <p:spPr>
          <a:xfrm>
            <a:off x="1955602" y="1542604"/>
            <a:ext cx="6995464" cy="171450"/>
          </a:xfrm>
          <a:prstGeom prst="rect">
            <a:avLst/>
          </a:prstGeom>
          <a:noFill/>
          <a:ln/>
        </p:spPr>
        <p:txBody>
          <a:bodyPr wrap="square" lIns="0" tIns="0" rIns="0" bIns="0" rtlCol="0" anchor="t"/>
          <a:lstStyle/>
          <a:p>
            <a:pPr algn="l" indent="0" marL="0">
              <a:buNone/>
            </a:pPr>
            <a:r>
              <a:rPr lang="en-US" sz="1200" dirty="0">
                <a:solidFill>
                  <a:srgbClr val="2A2A2A"/>
                </a:solidFill>
                <a:latin typeface="Arial" pitchFamily="34" charset="0"/>
                <a:ea typeface="Arial" pitchFamily="34" charset="-122"/>
                <a:cs typeface="Arial" pitchFamily="34" charset="-120"/>
              </a:rPr>
              <a:t>Operations bench  ·  Underwriter bench  ·  What the broker sees</a:t>
            </a:r>
            <a:endParaRPr lang="en-US" sz="1200" dirty="0"/>
          </a:p>
        </p:txBody>
      </p:sp>
      <p:sp>
        <p:nvSpPr>
          <p:cNvPr id="13" name="Text 10"/>
          <p:cNvSpPr/>
          <p:nvPr/>
        </p:nvSpPr>
        <p:spPr>
          <a:xfrm>
            <a:off x="330101" y="1898154"/>
            <a:ext cx="1498550" cy="431750"/>
          </a:xfrm>
          <a:prstGeom prst="rect">
            <a:avLst/>
          </a:prstGeom>
          <a:solidFill>
            <a:srgbClr val="3A3A3A"/>
          </a:solidFill>
          <a:ln/>
        </p:spPr>
        <p:txBody>
          <a:bodyPr wrap="square" rtlCol="0" anchor="ctr"/>
          <a:lstStyle/>
          <a:p>
            <a:pPr indent="0" marL="0">
              <a:buNone/>
            </a:pPr>
            <a:endParaRPr lang="en-US" dirty="0"/>
          </a:p>
        </p:txBody>
      </p:sp>
      <p:sp>
        <p:nvSpPr>
          <p:cNvPr id="14" name="Text 11"/>
          <p:cNvSpPr/>
          <p:nvPr/>
        </p:nvSpPr>
        <p:spPr>
          <a:xfrm>
            <a:off x="431602" y="2012454"/>
            <a:ext cx="1424991"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WORKFLOW</a:t>
            </a:r>
            <a:endParaRPr lang="en-US" sz="1000" dirty="0"/>
          </a:p>
        </p:txBody>
      </p:sp>
      <p:sp>
        <p:nvSpPr>
          <p:cNvPr id="15" name="Text 12"/>
          <p:cNvSpPr/>
          <p:nvPr/>
        </p:nvSpPr>
        <p:spPr>
          <a:xfrm>
            <a:off x="1828651" y="1898154"/>
            <a:ext cx="6985248" cy="431750"/>
          </a:xfrm>
          <a:prstGeom prst="rect">
            <a:avLst/>
          </a:prstGeom>
          <a:solidFill>
            <a:srgbClr val="F7F7F7"/>
          </a:solidFill>
          <a:ln/>
        </p:spPr>
        <p:txBody>
          <a:bodyPr wrap="square" rtlCol="0" anchor="ctr"/>
          <a:lstStyle/>
          <a:p>
            <a:pPr indent="0" marL="0">
              <a:buNone/>
            </a:pPr>
            <a:endParaRPr lang="en-US" dirty="0"/>
          </a:p>
        </p:txBody>
      </p:sp>
      <p:sp>
        <p:nvSpPr>
          <p:cNvPr id="16" name="Text 13"/>
          <p:cNvSpPr/>
          <p:nvPr/>
        </p:nvSpPr>
        <p:spPr>
          <a:xfrm>
            <a:off x="1955602" y="2012454"/>
            <a:ext cx="6995464" cy="171450"/>
          </a:xfrm>
          <a:prstGeom prst="rect">
            <a:avLst/>
          </a:prstGeom>
          <a:noFill/>
          <a:ln/>
        </p:spPr>
        <p:txBody>
          <a:bodyPr wrap="square" lIns="0" tIns="0" rIns="0" bIns="0" rtlCol="0" anchor="t"/>
          <a:lstStyle/>
          <a:p>
            <a:pPr algn="l" indent="0" marL="0">
              <a:buNone/>
            </a:pPr>
            <a:r>
              <a:rPr lang="en-US" sz="1200" dirty="0">
                <a:solidFill>
                  <a:srgbClr val="2A2A2A"/>
                </a:solidFill>
                <a:latin typeface="Arial" pitchFamily="34" charset="0"/>
                <a:ea typeface="Arial" pitchFamily="34" charset="-122"/>
                <a:cs typeface="Arial" pitchFamily="34" charset="-120"/>
              </a:rPr>
              <a:t>Orchestrator  ·  Queue and exceptions  ·  A person approves</a:t>
            </a:r>
            <a:endParaRPr lang="en-US" sz="1200" dirty="0"/>
          </a:p>
        </p:txBody>
      </p:sp>
      <p:sp>
        <p:nvSpPr>
          <p:cNvPr id="17" name="Text 14"/>
          <p:cNvSpPr/>
          <p:nvPr/>
        </p:nvSpPr>
        <p:spPr>
          <a:xfrm>
            <a:off x="330101" y="2368004"/>
            <a:ext cx="1498550" cy="431750"/>
          </a:xfrm>
          <a:prstGeom prst="rect">
            <a:avLst/>
          </a:prstGeom>
          <a:solidFill>
            <a:srgbClr val="4A4A4A"/>
          </a:solidFill>
          <a:ln/>
        </p:spPr>
        <p:txBody>
          <a:bodyPr wrap="square" rtlCol="0" anchor="ctr"/>
          <a:lstStyle/>
          <a:p>
            <a:pPr indent="0" marL="0">
              <a:buNone/>
            </a:pPr>
            <a:endParaRPr lang="en-US" dirty="0"/>
          </a:p>
        </p:txBody>
      </p:sp>
      <p:sp>
        <p:nvSpPr>
          <p:cNvPr id="18" name="Text 15"/>
          <p:cNvSpPr/>
          <p:nvPr/>
        </p:nvSpPr>
        <p:spPr>
          <a:xfrm>
            <a:off x="431602" y="2482304"/>
            <a:ext cx="1424991"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INTELLIGENCE</a:t>
            </a:r>
            <a:endParaRPr lang="en-US" sz="1000" dirty="0"/>
          </a:p>
        </p:txBody>
      </p:sp>
      <p:sp>
        <p:nvSpPr>
          <p:cNvPr id="19" name="Text 16"/>
          <p:cNvSpPr/>
          <p:nvPr/>
        </p:nvSpPr>
        <p:spPr>
          <a:xfrm>
            <a:off x="1828651" y="2368004"/>
            <a:ext cx="6985248" cy="431750"/>
          </a:xfrm>
          <a:prstGeom prst="rect">
            <a:avLst/>
          </a:prstGeom>
          <a:solidFill>
            <a:srgbClr val="F7F7F7"/>
          </a:solidFill>
          <a:ln/>
        </p:spPr>
        <p:txBody>
          <a:bodyPr wrap="square" rtlCol="0" anchor="ctr"/>
          <a:lstStyle/>
          <a:p>
            <a:pPr indent="0" marL="0">
              <a:buNone/>
            </a:pPr>
            <a:endParaRPr lang="en-US" dirty="0"/>
          </a:p>
        </p:txBody>
      </p:sp>
      <p:sp>
        <p:nvSpPr>
          <p:cNvPr id="20" name="Text 17"/>
          <p:cNvSpPr/>
          <p:nvPr/>
        </p:nvSpPr>
        <p:spPr>
          <a:xfrm>
            <a:off x="1955602" y="2482304"/>
            <a:ext cx="6995464" cy="171450"/>
          </a:xfrm>
          <a:prstGeom prst="rect">
            <a:avLst/>
          </a:prstGeom>
          <a:noFill/>
          <a:ln/>
        </p:spPr>
        <p:txBody>
          <a:bodyPr wrap="square" lIns="0" tIns="0" rIns="0" bIns="0" rtlCol="0" anchor="t"/>
          <a:lstStyle/>
          <a:p>
            <a:pPr algn="l" indent="0" marL="0">
              <a:buNone/>
            </a:pPr>
            <a:r>
              <a:rPr lang="en-US" sz="1200" dirty="0">
                <a:solidFill>
                  <a:srgbClr val="2A2A2A"/>
                </a:solidFill>
                <a:latin typeface="Arial" pitchFamily="34" charset="0"/>
                <a:ea typeface="Arial" pitchFamily="34" charset="-122"/>
                <a:cs typeface="Arial" pitchFamily="34" charset="-120"/>
              </a:rPr>
              <a:t>Extraction  ·  Reconciliation  ·  Appetite rules  ·  Dossier</a:t>
            </a:r>
            <a:endParaRPr lang="en-US" sz="1200" dirty="0"/>
          </a:p>
        </p:txBody>
      </p:sp>
      <p:sp>
        <p:nvSpPr>
          <p:cNvPr id="21" name="Text 18"/>
          <p:cNvSpPr/>
          <p:nvPr/>
        </p:nvSpPr>
        <p:spPr>
          <a:xfrm>
            <a:off x="330101" y="2837855"/>
            <a:ext cx="1498550" cy="431750"/>
          </a:xfrm>
          <a:prstGeom prst="rect">
            <a:avLst/>
          </a:prstGeom>
          <a:solidFill>
            <a:srgbClr val="D0372C"/>
          </a:solidFill>
          <a:ln/>
        </p:spPr>
        <p:txBody>
          <a:bodyPr wrap="square" rtlCol="0" anchor="ctr"/>
          <a:lstStyle/>
          <a:p>
            <a:pPr indent="0" marL="0">
              <a:buNone/>
            </a:pPr>
            <a:endParaRPr lang="en-US" dirty="0"/>
          </a:p>
        </p:txBody>
      </p:sp>
      <p:sp>
        <p:nvSpPr>
          <p:cNvPr id="22" name="Text 19"/>
          <p:cNvSpPr/>
          <p:nvPr/>
        </p:nvSpPr>
        <p:spPr>
          <a:xfrm>
            <a:off x="431602" y="2952155"/>
            <a:ext cx="1424991"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OUTSIDE DATA</a:t>
            </a:r>
            <a:endParaRPr lang="en-US" sz="1000" dirty="0"/>
          </a:p>
        </p:txBody>
      </p:sp>
      <p:sp>
        <p:nvSpPr>
          <p:cNvPr id="23" name="Text 20"/>
          <p:cNvSpPr/>
          <p:nvPr/>
        </p:nvSpPr>
        <p:spPr>
          <a:xfrm>
            <a:off x="1828651" y="2837855"/>
            <a:ext cx="6985248" cy="431750"/>
          </a:xfrm>
          <a:prstGeom prst="rect">
            <a:avLst/>
          </a:prstGeom>
          <a:solidFill>
            <a:srgbClr val="FBF6F5"/>
          </a:solidFill>
          <a:ln/>
        </p:spPr>
        <p:txBody>
          <a:bodyPr wrap="square" rtlCol="0" anchor="ctr"/>
          <a:lstStyle/>
          <a:p>
            <a:pPr indent="0" marL="0">
              <a:buNone/>
            </a:pPr>
            <a:endParaRPr lang="en-US" dirty="0"/>
          </a:p>
        </p:txBody>
      </p:sp>
      <p:sp>
        <p:nvSpPr>
          <p:cNvPr id="24" name="Text 21"/>
          <p:cNvSpPr/>
          <p:nvPr/>
        </p:nvSpPr>
        <p:spPr>
          <a:xfrm>
            <a:off x="1955602" y="2952155"/>
            <a:ext cx="6995464" cy="171450"/>
          </a:xfrm>
          <a:prstGeom prst="rect">
            <a:avLst/>
          </a:prstGeom>
          <a:noFill/>
          <a:ln/>
        </p:spPr>
        <p:txBody>
          <a:bodyPr wrap="square" lIns="0" tIns="0" rIns="0" bIns="0" rtlCol="0" anchor="t"/>
          <a:lstStyle/>
          <a:p>
            <a:pPr algn="l" indent="0" marL="0">
              <a:buNone/>
            </a:pPr>
            <a:r>
              <a:rPr lang="en-US" sz="1200" dirty="0">
                <a:solidFill>
                  <a:srgbClr val="2A2A2A"/>
                </a:solidFill>
                <a:latin typeface="Arial" pitchFamily="34" charset="0"/>
                <a:ea typeface="Arial" pitchFamily="34" charset="-122"/>
                <a:cs typeface="Arial" pitchFamily="34" charset="-120"/>
              </a:rPr>
              <a:t>Security ratings  ·  Attack surface  ·  Portfolio model, when in scope</a:t>
            </a:r>
            <a:endParaRPr lang="en-US" sz="1200" dirty="0"/>
          </a:p>
        </p:txBody>
      </p:sp>
      <p:sp>
        <p:nvSpPr>
          <p:cNvPr id="25" name="Text 22"/>
          <p:cNvSpPr/>
          <p:nvPr/>
        </p:nvSpPr>
        <p:spPr>
          <a:xfrm>
            <a:off x="330101" y="3307705"/>
            <a:ext cx="1498550" cy="431750"/>
          </a:xfrm>
          <a:prstGeom prst="rect">
            <a:avLst/>
          </a:prstGeom>
          <a:solidFill>
            <a:srgbClr val="1F1F1F"/>
          </a:solidFill>
          <a:ln/>
        </p:spPr>
        <p:txBody>
          <a:bodyPr wrap="square" rtlCol="0" anchor="ctr"/>
          <a:lstStyle/>
          <a:p>
            <a:pPr indent="0" marL="0">
              <a:buNone/>
            </a:pPr>
            <a:endParaRPr lang="en-US" dirty="0"/>
          </a:p>
        </p:txBody>
      </p:sp>
      <p:sp>
        <p:nvSpPr>
          <p:cNvPr id="26" name="Text 23"/>
          <p:cNvSpPr/>
          <p:nvPr/>
        </p:nvSpPr>
        <p:spPr>
          <a:xfrm>
            <a:off x="431602" y="3422005"/>
            <a:ext cx="1424991"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YOUR SYSTEMS</a:t>
            </a:r>
            <a:endParaRPr lang="en-US" sz="1000" dirty="0"/>
          </a:p>
        </p:txBody>
      </p:sp>
      <p:sp>
        <p:nvSpPr>
          <p:cNvPr id="27" name="Text 24"/>
          <p:cNvSpPr/>
          <p:nvPr/>
        </p:nvSpPr>
        <p:spPr>
          <a:xfrm>
            <a:off x="1828651" y="3307705"/>
            <a:ext cx="6985248" cy="431750"/>
          </a:xfrm>
          <a:prstGeom prst="rect">
            <a:avLst/>
          </a:prstGeom>
          <a:solidFill>
            <a:srgbClr val="F3F3F3"/>
          </a:solidFill>
          <a:ln/>
        </p:spPr>
        <p:txBody>
          <a:bodyPr wrap="square" rtlCol="0" anchor="ctr"/>
          <a:lstStyle/>
          <a:p>
            <a:pPr indent="0" marL="0">
              <a:buNone/>
            </a:pPr>
            <a:endParaRPr lang="en-US" dirty="0"/>
          </a:p>
        </p:txBody>
      </p:sp>
      <p:sp>
        <p:nvSpPr>
          <p:cNvPr id="28" name="Text 25"/>
          <p:cNvSpPr/>
          <p:nvPr/>
        </p:nvSpPr>
        <p:spPr>
          <a:xfrm>
            <a:off x="1955602" y="3422005"/>
            <a:ext cx="6995464" cy="171450"/>
          </a:xfrm>
          <a:prstGeom prst="rect">
            <a:avLst/>
          </a:prstGeom>
          <a:noFill/>
          <a:ln/>
        </p:spPr>
        <p:txBody>
          <a:bodyPr wrap="square" lIns="0" tIns="0" rIns="0" bIns="0" rtlCol="0" anchor="t"/>
          <a:lstStyle/>
          <a:p>
            <a:pPr algn="l" indent="0" marL="0">
              <a:buNone/>
            </a:pPr>
            <a:r>
              <a:rPr lang="en-US" sz="1200" dirty="0">
                <a:solidFill>
                  <a:srgbClr val="2A2A2A"/>
                </a:solidFill>
                <a:latin typeface="Arial" pitchFamily="34" charset="0"/>
                <a:ea typeface="Arial" pitchFamily="34" charset="-122"/>
                <a:cs typeface="Arial" pitchFamily="34" charset="-120"/>
              </a:rPr>
              <a:t>Policy admin  ·  CRM  ·  Document store  ·  Identity</a:t>
            </a:r>
            <a:endParaRPr lang="en-US" sz="1200" dirty="0"/>
          </a:p>
        </p:txBody>
      </p:sp>
      <p:sp>
        <p:nvSpPr>
          <p:cNvPr id="29" name="Text 26"/>
          <p:cNvSpPr/>
          <p:nvPr/>
        </p:nvSpPr>
        <p:spPr>
          <a:xfrm>
            <a:off x="330101" y="3777555"/>
            <a:ext cx="8483798" cy="304800"/>
          </a:xfrm>
          <a:prstGeom prst="rect">
            <a:avLst/>
          </a:prstGeom>
          <a:solidFill>
            <a:srgbClr val="2A2A2A"/>
          </a:solidFill>
          <a:ln/>
        </p:spPr>
        <p:txBody>
          <a:bodyPr wrap="square" rtlCol="0" anchor="ctr"/>
          <a:lstStyle/>
          <a:p>
            <a:pPr indent="0" marL="0">
              <a:buNone/>
            </a:pPr>
            <a:endParaRPr lang="en-US" dirty="0"/>
          </a:p>
        </p:txBody>
      </p:sp>
      <p:sp>
        <p:nvSpPr>
          <p:cNvPr id="30" name="Text 27"/>
          <p:cNvSpPr/>
          <p:nvPr/>
        </p:nvSpPr>
        <p:spPr>
          <a:xfrm>
            <a:off x="457051" y="3853755"/>
            <a:ext cx="8394496" cy="152400"/>
          </a:xfrm>
          <a:prstGeom prst="rect">
            <a:avLst/>
          </a:prstGeom>
          <a:noFill/>
          <a:ln/>
        </p:spPr>
        <p:txBody>
          <a:bodyPr wrap="square" lIns="0" tIns="0" rIns="0" bIns="0" rtlCol="0" anchor="t"/>
          <a:lstStyle/>
          <a:p>
            <a:pPr algn="l" indent="0" marL="0">
              <a:buNone/>
            </a:pPr>
            <a:r>
              <a:rPr lang="en-US" sz="1100" dirty="0">
                <a:solidFill>
                  <a:srgbClr val="FFFFFF"/>
                </a:solidFill>
                <a:latin typeface="Arial" pitchFamily="34" charset="0"/>
                <a:ea typeface="Arial" pitchFamily="34" charset="-122"/>
                <a:cs typeface="Arial" pitchFamily="34" charset="-120"/>
              </a:rPr>
              <a:t>Across all of it: who can see it, where a field came from, which rule version, which model version, and the audit trail.</a:t>
            </a:r>
            <a:endParaRPr lang="en-US" sz="1100" dirty="0"/>
          </a:p>
        </p:txBody>
      </p:sp>
      <p:sp>
        <p:nvSpPr>
          <p:cNvPr id="31" name="Text 28"/>
          <p:cNvSpPr/>
          <p:nvPr/>
        </p:nvSpPr>
        <p:spPr>
          <a:xfrm>
            <a:off x="330101" y="4164806"/>
            <a:ext cx="1956914"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Cyber underwriting  ·  Client discussion</a:t>
            </a:r>
            <a:endParaRPr lang="en-US" sz="900" dirty="0"/>
          </a:p>
        </p:txBody>
      </p:sp>
      <p:sp>
        <p:nvSpPr>
          <p:cNvPr id="32" name="Text 29"/>
          <p:cNvSpPr/>
          <p:nvPr/>
        </p:nvSpPr>
        <p:spPr>
          <a:xfrm>
            <a:off x="8686651" y="4164806"/>
            <a:ext cx="129793"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406301"/>
          </a:xfrm>
          <a:prstGeom prst="rect">
            <a:avLst/>
          </a:prstGeom>
          <a:solidFill>
            <a:srgbClr val="FFFFFF"/>
          </a:solidFill>
          <a:ln/>
        </p:spPr>
        <p:txBody>
          <a:bodyPr wrap="square" rtlCol="0" anchor="ctr"/>
          <a:lstStyle/>
          <a:p>
            <a:pPr indent="0" marL="0">
              <a:buNone/>
            </a:pPr>
            <a:endParaRPr lang="en-US" dirty="0"/>
          </a:p>
        </p:txBody>
      </p:sp>
      <p:pic>
        <p:nvPicPr>
          <p:cNvPr id="3" name="Image 0" descr="/Users/chandansharma/Documents/cyber-uw/docs/client/deck/slides/birlasoft-logo-on-white.png">    </p:cNvPr>
          <p:cNvPicPr>
            <a:picLocks noChangeAspect="1"/>
          </p:cNvPicPr>
          <p:nvPr/>
        </p:nvPicPr>
        <p:blipFill>
          <a:blip r:embed="rId1"/>
          <a:stretch>
            <a:fillRect/>
          </a:stretch>
        </p:blipFill>
        <p:spPr>
          <a:xfrm>
            <a:off x="330101" y="95101"/>
            <a:ext cx="990600" cy="279350"/>
          </a:xfrm>
          <a:prstGeom prst="rect">
            <a:avLst/>
          </a:prstGeom>
        </p:spPr>
      </p:pic>
      <p:sp>
        <p:nvSpPr>
          <p:cNvPr id="4" name="Text 1"/>
          <p:cNvSpPr/>
          <p:nvPr/>
        </p:nvSpPr>
        <p:spPr>
          <a:xfrm>
            <a:off x="7832675" y="163413"/>
            <a:ext cx="1000848" cy="142875"/>
          </a:xfrm>
          <a:prstGeom prst="rect">
            <a:avLst/>
          </a:prstGeom>
          <a:noFill/>
          <a:ln/>
        </p:spPr>
        <p:txBody>
          <a:bodyPr wrap="square" lIns="0" tIns="0" rIns="0" bIns="0" rtlCol="0" anchor="t"/>
          <a:lstStyle/>
          <a:p>
            <a:pPr algn="l" indent="0" marL="0">
              <a:buNone/>
            </a:pPr>
            <a:r>
              <a:rPr lang="en-US" sz="1000" dirty="0">
                <a:solidFill>
                  <a:srgbClr val="5A5A5A"/>
                </a:solidFill>
                <a:latin typeface="Arial" pitchFamily="34" charset="0"/>
                <a:ea typeface="Arial" pitchFamily="34" charset="-122"/>
                <a:cs typeface="Arial" pitchFamily="34" charset="-120"/>
              </a:rPr>
              <a:t>Outside evidence</a:t>
            </a:r>
            <a:endParaRPr lang="en-US" sz="1000" dirty="0"/>
          </a:p>
        </p:txBody>
      </p:sp>
      <p:sp>
        <p:nvSpPr>
          <p:cNvPr id="5" name="Text 2"/>
          <p:cNvSpPr/>
          <p:nvPr/>
        </p:nvSpPr>
        <p:spPr>
          <a:xfrm>
            <a:off x="0" y="406301"/>
            <a:ext cx="9144000" cy="38100"/>
          </a:xfrm>
          <a:prstGeom prst="rect">
            <a:avLst/>
          </a:prstGeom>
          <a:solidFill>
            <a:srgbClr val="D0372C"/>
          </a:solidFill>
          <a:ln/>
        </p:spPr>
        <p:txBody>
          <a:bodyPr wrap="square" rtlCol="0" anchor="ctr"/>
          <a:lstStyle/>
          <a:p>
            <a:pPr indent="0" marL="0">
              <a:buNone/>
            </a:pPr>
            <a:endParaRPr lang="en-US" dirty="0"/>
          </a:p>
        </p:txBody>
      </p:sp>
      <p:sp>
        <p:nvSpPr>
          <p:cNvPr id="6" name="Text 3"/>
          <p:cNvSpPr/>
          <p:nvPr/>
        </p:nvSpPr>
        <p:spPr>
          <a:xfrm>
            <a:off x="330101" y="596801"/>
            <a:ext cx="8653474"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ENRICHMENT</a:t>
            </a:r>
            <a:endParaRPr lang="en-US" sz="1000" dirty="0"/>
          </a:p>
        </p:txBody>
      </p:sp>
      <p:sp>
        <p:nvSpPr>
          <p:cNvPr id="7" name="Text 4"/>
          <p:cNvSpPr/>
          <p:nvPr/>
        </p:nvSpPr>
        <p:spPr>
          <a:xfrm>
            <a:off x="330101" y="790426"/>
            <a:ext cx="8653474" cy="312837"/>
          </a:xfrm>
          <a:prstGeom prst="rect">
            <a:avLst/>
          </a:prstGeom>
          <a:noFill/>
          <a:ln/>
        </p:spPr>
        <p:txBody>
          <a:bodyPr wrap="square" lIns="0" tIns="0" rIns="0" bIns="0" rtlCol="0" anchor="t"/>
          <a:lstStyle/>
          <a:p>
            <a:pPr algn="l" indent="0" marL="0">
              <a:lnSpc>
                <a:spcPts val="2464"/>
              </a:lnSpc>
              <a:spcBef>
                <a:spcPts val="400"/>
              </a:spcBef>
              <a:buNone/>
            </a:pPr>
            <a:r>
              <a:rPr lang="en-US" sz="2200" dirty="0">
                <a:solidFill>
                  <a:srgbClr val="2A2A2A"/>
                </a:solidFill>
                <a:latin typeface="Georgia" pitchFamily="34" charset="0"/>
                <a:ea typeface="Georgia" pitchFamily="34" charset="-122"/>
                <a:cs typeface="Georgia" pitchFamily="34" charset="-120"/>
              </a:rPr>
              <a:t>Match, conflict, or we cannot see it.</a:t>
            </a:r>
            <a:endParaRPr lang="en-US" sz="2200" dirty="0"/>
          </a:p>
        </p:txBody>
      </p:sp>
      <p:sp>
        <p:nvSpPr>
          <p:cNvPr id="8" name="Text 5"/>
          <p:cNvSpPr/>
          <p:nvPr/>
        </p:nvSpPr>
        <p:spPr>
          <a:xfrm>
            <a:off x="330101" y="1154013"/>
            <a:ext cx="8653474" cy="198090"/>
          </a:xfrm>
          <a:prstGeom prst="rect">
            <a:avLst/>
          </a:prstGeom>
          <a:noFill/>
          <a:ln/>
        </p:spPr>
        <p:txBody>
          <a:bodyPr wrap="square" lIns="0" tIns="0" rIns="0" bIns="0" rtlCol="0" anchor="t"/>
          <a:lstStyle/>
          <a:p>
            <a:pPr algn="l" indent="0" marL="0">
              <a:lnSpc>
                <a:spcPts val="1560"/>
              </a:lnSpc>
              <a:spcBef>
                <a:spcPts val="400"/>
              </a:spcBef>
              <a:buNone/>
            </a:pPr>
            <a:r>
              <a:rPr lang="en-US" sz="1200" dirty="0">
                <a:solidFill>
                  <a:srgbClr val="5A5A5A"/>
                </a:solidFill>
                <a:latin typeface="Arial" pitchFamily="34" charset="0"/>
                <a:ea typeface="Arial" pitchFamily="34" charset="-122"/>
                <a:cs typeface="Arial" pitchFamily="34" charset="-120"/>
              </a:rPr>
              <a:t>A rating is a clue. It is not proof the control works inside their network.</a:t>
            </a:r>
            <a:endParaRPr lang="en-US" sz="1200" dirty="0"/>
          </a:p>
        </p:txBody>
      </p:sp>
      <p:sp>
        <p:nvSpPr>
          <p:cNvPr id="9" name="Text 6"/>
          <p:cNvSpPr/>
          <p:nvPr/>
        </p:nvSpPr>
        <p:spPr>
          <a:xfrm>
            <a:off x="330101" y="1428304"/>
            <a:ext cx="4089499" cy="660350"/>
          </a:xfrm>
          <a:prstGeom prst="rect">
            <a:avLst/>
          </a:prstGeom>
          <a:noFill/>
          <a:ln w="19050">
            <a:solidFill>
              <a:srgbClr val="2A2A2A"/>
            </a:solidFill>
          </a:ln>
        </p:spPr>
        <p:txBody>
          <a:bodyPr wrap="square" rtlCol="0" anchor="ctr"/>
          <a:lstStyle/>
          <a:p>
            <a:pPr indent="0" marL="0">
              <a:buNone/>
            </a:pPr>
            <a:endParaRPr lang="en-US" dirty="0"/>
          </a:p>
        </p:txBody>
      </p:sp>
      <p:sp>
        <p:nvSpPr>
          <p:cNvPr id="10" name="Text 7"/>
          <p:cNvSpPr/>
          <p:nvPr/>
        </p:nvSpPr>
        <p:spPr>
          <a:xfrm>
            <a:off x="476101" y="1536204"/>
            <a:ext cx="3873448" cy="142875"/>
          </a:xfrm>
          <a:prstGeom prst="rect">
            <a:avLst/>
          </a:prstGeom>
          <a:noFill/>
          <a:ln/>
        </p:spPr>
        <p:txBody>
          <a:bodyPr wrap="square" lIns="0" tIns="0" rIns="0" bIns="0" rtlCol="0" anchor="t"/>
          <a:lstStyle/>
          <a:p>
            <a:pPr algn="l" indent="0" marL="0">
              <a:buNone/>
            </a:pPr>
            <a:r>
              <a:rPr lang="en-US" sz="1000" b="1" dirty="0">
                <a:solidFill>
                  <a:srgbClr val="2A2A2A"/>
                </a:solidFill>
                <a:latin typeface="Arial" pitchFamily="34" charset="0"/>
                <a:ea typeface="Arial" pitchFamily="34" charset="-122"/>
                <a:cs typeface="Arial" pitchFamily="34" charset="-120"/>
              </a:rPr>
              <a:t>THEY DECLARE</a:t>
            </a:r>
            <a:endParaRPr lang="en-US" sz="1000" dirty="0"/>
          </a:p>
        </p:txBody>
      </p:sp>
      <p:sp>
        <p:nvSpPr>
          <p:cNvPr id="11" name="Text 8"/>
          <p:cNvSpPr/>
          <p:nvPr/>
        </p:nvSpPr>
        <p:spPr>
          <a:xfrm>
            <a:off x="476101" y="1717179"/>
            <a:ext cx="3873448" cy="200025"/>
          </a:xfrm>
          <a:prstGeom prst="rect">
            <a:avLst/>
          </a:prstGeom>
          <a:noFill/>
          <a:ln/>
        </p:spPr>
        <p:txBody>
          <a:bodyPr wrap="square" lIns="0" tIns="0" rIns="0" bIns="0" rtlCol="0" anchor="t"/>
          <a:lstStyle/>
          <a:p>
            <a:pPr algn="l" indent="0" marL="0">
              <a:spcBef>
                <a:spcPts val="300"/>
              </a:spcBef>
              <a:buNone/>
            </a:pPr>
            <a:r>
              <a:rPr lang="en-US" sz="1300" dirty="0">
                <a:solidFill>
                  <a:srgbClr val="2A2A2A"/>
                </a:solidFill>
                <a:latin typeface="Arial" pitchFamily="34" charset="0"/>
                <a:ea typeface="Arial" pitchFamily="34" charset="-122"/>
                <a:cs typeface="Arial" pitchFamily="34" charset="-120"/>
              </a:rPr>
              <a:t>MFA on. EDR covered. Backups tested.</a:t>
            </a:r>
            <a:endParaRPr lang="en-US" sz="1300" dirty="0"/>
          </a:p>
        </p:txBody>
      </p:sp>
      <p:sp>
        <p:nvSpPr>
          <p:cNvPr id="12" name="Text 9"/>
          <p:cNvSpPr/>
          <p:nvPr/>
        </p:nvSpPr>
        <p:spPr>
          <a:xfrm>
            <a:off x="4416552" y="1606004"/>
            <a:ext cx="310896" cy="209550"/>
          </a:xfrm>
          <a:prstGeom prst="rect">
            <a:avLst/>
          </a:prstGeom>
          <a:noFill/>
          <a:ln/>
        </p:spPr>
        <p:txBody>
          <a:bodyPr wrap="square" lIns="0" tIns="0" rIns="0" bIns="0" rtlCol="0" anchor="t"/>
          <a:lstStyle/>
          <a:p>
            <a:pPr algn="ctr" indent="0" marL="0">
              <a:buNone/>
            </a:pPr>
            <a:r>
              <a:rPr lang="en-US" sz="1400" b="1" dirty="0">
                <a:solidFill>
                  <a:srgbClr val="D0372C"/>
                </a:solidFill>
                <a:latin typeface="Arial" pitchFamily="34" charset="0"/>
                <a:ea typeface="Arial" pitchFamily="34" charset="-122"/>
                <a:cs typeface="Arial" pitchFamily="34" charset="-120"/>
              </a:rPr>
              <a:t>+</a:t>
            </a:r>
            <a:endParaRPr lang="en-US" sz="1400" dirty="0"/>
          </a:p>
        </p:txBody>
      </p:sp>
      <p:sp>
        <p:nvSpPr>
          <p:cNvPr id="13" name="Text 10"/>
          <p:cNvSpPr/>
          <p:nvPr/>
        </p:nvSpPr>
        <p:spPr>
          <a:xfrm>
            <a:off x="4724400" y="1428304"/>
            <a:ext cx="4089499" cy="660350"/>
          </a:xfrm>
          <a:prstGeom prst="rect">
            <a:avLst/>
          </a:prstGeom>
          <a:noFill/>
          <a:ln w="19050">
            <a:solidFill>
              <a:srgbClr val="D0372C"/>
            </a:solidFill>
          </a:ln>
        </p:spPr>
        <p:txBody>
          <a:bodyPr wrap="square" rtlCol="0" anchor="ctr"/>
          <a:lstStyle/>
          <a:p>
            <a:pPr indent="0" marL="0">
              <a:buNone/>
            </a:pPr>
            <a:endParaRPr lang="en-US" dirty="0"/>
          </a:p>
        </p:txBody>
      </p:sp>
      <p:sp>
        <p:nvSpPr>
          <p:cNvPr id="14" name="Text 11"/>
          <p:cNvSpPr/>
          <p:nvPr/>
        </p:nvSpPr>
        <p:spPr>
          <a:xfrm>
            <a:off x="4870400" y="1536204"/>
            <a:ext cx="3873448"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A FEED REPORTS</a:t>
            </a:r>
            <a:endParaRPr lang="en-US" sz="1000" dirty="0"/>
          </a:p>
        </p:txBody>
      </p:sp>
      <p:sp>
        <p:nvSpPr>
          <p:cNvPr id="15" name="Text 12"/>
          <p:cNvSpPr/>
          <p:nvPr/>
        </p:nvSpPr>
        <p:spPr>
          <a:xfrm>
            <a:off x="4870400" y="1717179"/>
            <a:ext cx="3873448" cy="200025"/>
          </a:xfrm>
          <a:prstGeom prst="rect">
            <a:avLst/>
          </a:prstGeom>
          <a:noFill/>
          <a:ln/>
        </p:spPr>
        <p:txBody>
          <a:bodyPr wrap="square" lIns="0" tIns="0" rIns="0" bIns="0" rtlCol="0" anchor="t"/>
          <a:lstStyle/>
          <a:p>
            <a:pPr algn="l" indent="0" marL="0">
              <a:spcBef>
                <a:spcPts val="300"/>
              </a:spcBef>
              <a:buNone/>
            </a:pPr>
            <a:r>
              <a:rPr lang="en-US" sz="1300" dirty="0">
                <a:solidFill>
                  <a:srgbClr val="2A2A2A"/>
                </a:solidFill>
                <a:latin typeface="Arial" pitchFamily="34" charset="0"/>
                <a:ea typeface="Arial" pitchFamily="34" charset="-122"/>
                <a:cs typeface="Arial" pitchFamily="34" charset="-120"/>
              </a:rPr>
              <a:t>Rating, exposure, or nothing usable.</a:t>
            </a:r>
            <a:endParaRPr lang="en-US" sz="1300" dirty="0"/>
          </a:p>
        </p:txBody>
      </p:sp>
      <p:sp>
        <p:nvSpPr>
          <p:cNvPr id="16" name="Text 13"/>
          <p:cNvSpPr/>
          <p:nvPr/>
        </p:nvSpPr>
        <p:spPr>
          <a:xfrm>
            <a:off x="330101" y="2190155"/>
            <a:ext cx="2760166" cy="990600"/>
          </a:xfrm>
          <a:prstGeom prst="rect">
            <a:avLst/>
          </a:prstGeom>
          <a:solidFill>
            <a:srgbClr val="F7F7F7"/>
          </a:solidFill>
          <a:ln/>
        </p:spPr>
        <p:txBody>
          <a:bodyPr wrap="square" rtlCol="0" anchor="ctr"/>
          <a:lstStyle/>
          <a:p>
            <a:pPr indent="0" marL="0">
              <a:buNone/>
            </a:pPr>
            <a:endParaRPr lang="en-US" dirty="0"/>
          </a:p>
        </p:txBody>
      </p:sp>
      <p:sp>
        <p:nvSpPr>
          <p:cNvPr id="17" name="Shape 14"/>
          <p:cNvSpPr/>
          <p:nvPr/>
        </p:nvSpPr>
        <p:spPr>
          <a:xfrm>
            <a:off x="330101" y="2213967"/>
            <a:ext cx="2760166" cy="0"/>
          </a:xfrm>
          <a:prstGeom prst="line">
            <a:avLst/>
          </a:prstGeom>
          <a:noFill/>
          <a:ln w="47625">
            <a:solidFill>
              <a:srgbClr val="2A2A2A"/>
            </a:solidFill>
            <a:prstDash val="solid"/>
          </a:ln>
        </p:spPr>
      </p:sp>
      <p:sp>
        <p:nvSpPr>
          <p:cNvPr id="18" name="Text 15"/>
          <p:cNvSpPr/>
          <p:nvPr/>
        </p:nvSpPr>
        <p:spPr>
          <a:xfrm>
            <a:off x="457051" y="2339280"/>
            <a:ext cx="2556391" cy="200025"/>
          </a:xfrm>
          <a:prstGeom prst="rect">
            <a:avLst/>
          </a:prstGeom>
          <a:noFill/>
          <a:ln/>
        </p:spPr>
        <p:txBody>
          <a:bodyPr wrap="square" lIns="0" tIns="0" rIns="0" bIns="0" rtlCol="0" anchor="t"/>
          <a:lstStyle/>
          <a:p>
            <a:pPr algn="l" indent="0" marL="0">
              <a:buNone/>
            </a:pPr>
            <a:r>
              <a:rPr lang="en-US" sz="1300" b="1" dirty="0">
                <a:solidFill>
                  <a:srgbClr val="2A2A2A"/>
                </a:solidFill>
                <a:latin typeface="Arial" pitchFamily="34" charset="0"/>
                <a:ea typeface="Arial" pitchFamily="34" charset="-122"/>
                <a:cs typeface="Arial" pitchFamily="34" charset="-120"/>
              </a:rPr>
              <a:t>They agree</a:t>
            </a:r>
            <a:endParaRPr lang="en-US" sz="1300" dirty="0"/>
          </a:p>
        </p:txBody>
      </p:sp>
      <p:sp>
        <p:nvSpPr>
          <p:cNvPr id="19" name="Text 16"/>
          <p:cNvSpPr/>
          <p:nvPr/>
        </p:nvSpPr>
        <p:spPr>
          <a:xfrm>
            <a:off x="457051" y="2590056"/>
            <a:ext cx="2556391" cy="396180"/>
          </a:xfrm>
          <a:prstGeom prst="rect">
            <a:avLst/>
          </a:prstGeom>
          <a:noFill/>
          <a:ln/>
        </p:spPr>
        <p:txBody>
          <a:bodyPr wrap="square" lIns="0" tIns="0" rIns="0" bIns="0" rtlCol="0" anchor="t"/>
          <a:lstStyle/>
          <a:p>
            <a:pPr algn="l" indent="0" marL="0">
              <a:lnSpc>
                <a:spcPts val="1560"/>
              </a:lnSpc>
              <a:spcBef>
                <a:spcPts val="400"/>
              </a:spcBef>
              <a:buNone/>
            </a:pPr>
            <a:r>
              <a:rPr lang="en-US" sz="1200" dirty="0">
                <a:solidFill>
                  <a:srgbClr val="5A5A5A"/>
                </a:solidFill>
                <a:latin typeface="Arial" pitchFamily="34" charset="0"/>
                <a:ea typeface="Arial" pitchFamily="34" charset="-122"/>
                <a:cs typeface="Arial" pitchFamily="34" charset="-120"/>
              </a:rPr>
              <a:t>Declaration and signal match. The file can move.</a:t>
            </a:r>
            <a:endParaRPr lang="en-US" sz="1200" dirty="0"/>
          </a:p>
        </p:txBody>
      </p:sp>
      <p:sp>
        <p:nvSpPr>
          <p:cNvPr id="20" name="Text 17"/>
          <p:cNvSpPr/>
          <p:nvPr/>
        </p:nvSpPr>
        <p:spPr>
          <a:xfrm>
            <a:off x="3191768" y="2190155"/>
            <a:ext cx="2760315" cy="990600"/>
          </a:xfrm>
          <a:prstGeom prst="rect">
            <a:avLst/>
          </a:prstGeom>
          <a:solidFill>
            <a:srgbClr val="FBF6F5"/>
          </a:solidFill>
          <a:ln/>
        </p:spPr>
        <p:txBody>
          <a:bodyPr wrap="square" rtlCol="0" anchor="ctr"/>
          <a:lstStyle/>
          <a:p>
            <a:pPr indent="0" marL="0">
              <a:buNone/>
            </a:pPr>
            <a:endParaRPr lang="en-US" dirty="0"/>
          </a:p>
        </p:txBody>
      </p:sp>
      <p:sp>
        <p:nvSpPr>
          <p:cNvPr id="21" name="Shape 18"/>
          <p:cNvSpPr/>
          <p:nvPr/>
        </p:nvSpPr>
        <p:spPr>
          <a:xfrm>
            <a:off x="3191768" y="2213967"/>
            <a:ext cx="2760315" cy="0"/>
          </a:xfrm>
          <a:prstGeom prst="line">
            <a:avLst/>
          </a:prstGeom>
          <a:noFill/>
          <a:ln w="47625">
            <a:solidFill>
              <a:srgbClr val="D0372C"/>
            </a:solidFill>
            <a:prstDash val="solid"/>
          </a:ln>
        </p:spPr>
      </p:sp>
      <p:sp>
        <p:nvSpPr>
          <p:cNvPr id="22" name="Text 19"/>
          <p:cNvSpPr/>
          <p:nvPr/>
        </p:nvSpPr>
        <p:spPr>
          <a:xfrm>
            <a:off x="3318718" y="2339280"/>
            <a:ext cx="2556543" cy="200025"/>
          </a:xfrm>
          <a:prstGeom prst="rect">
            <a:avLst/>
          </a:prstGeom>
          <a:noFill/>
          <a:ln/>
        </p:spPr>
        <p:txBody>
          <a:bodyPr wrap="square" lIns="0" tIns="0" rIns="0" bIns="0" rtlCol="0" anchor="t"/>
          <a:lstStyle/>
          <a:p>
            <a:pPr algn="l" indent="0" marL="0">
              <a:buNone/>
            </a:pPr>
            <a:r>
              <a:rPr lang="en-US" sz="1300" b="1" dirty="0">
                <a:solidFill>
                  <a:srgbClr val="D0372C"/>
                </a:solidFill>
                <a:latin typeface="Arial" pitchFamily="34" charset="0"/>
                <a:ea typeface="Arial" pitchFamily="34" charset="-122"/>
                <a:cs typeface="Arial" pitchFamily="34" charset="-120"/>
              </a:rPr>
              <a:t>They don't</a:t>
            </a:r>
            <a:endParaRPr lang="en-US" sz="1300" dirty="0"/>
          </a:p>
        </p:txBody>
      </p:sp>
      <p:sp>
        <p:nvSpPr>
          <p:cNvPr id="23" name="Text 20"/>
          <p:cNvSpPr/>
          <p:nvPr/>
        </p:nvSpPr>
        <p:spPr>
          <a:xfrm>
            <a:off x="3318718" y="2590056"/>
            <a:ext cx="2556543" cy="396180"/>
          </a:xfrm>
          <a:prstGeom prst="rect">
            <a:avLst/>
          </a:prstGeom>
          <a:noFill/>
          <a:ln/>
        </p:spPr>
        <p:txBody>
          <a:bodyPr wrap="square" lIns="0" tIns="0" rIns="0" bIns="0" rtlCol="0" anchor="t"/>
          <a:lstStyle/>
          <a:p>
            <a:pPr algn="l" indent="0" marL="0">
              <a:lnSpc>
                <a:spcPts val="1560"/>
              </a:lnSpc>
              <a:spcBef>
                <a:spcPts val="400"/>
              </a:spcBef>
              <a:buNone/>
            </a:pPr>
            <a:r>
              <a:rPr lang="en-US" sz="1200" dirty="0">
                <a:solidFill>
                  <a:srgbClr val="5A5A5A"/>
                </a:solidFill>
                <a:latin typeface="Arial" pitchFamily="34" charset="0"/>
                <a:ea typeface="Arial" pitchFamily="34" charset="-122"/>
                <a:cs typeface="Arial" pitchFamily="34" charset="-120"/>
              </a:rPr>
              <a:t>Ask for evidence before anyone prices it.</a:t>
            </a:r>
            <a:endParaRPr lang="en-US" sz="1200" dirty="0"/>
          </a:p>
        </p:txBody>
      </p:sp>
      <p:sp>
        <p:nvSpPr>
          <p:cNvPr id="24" name="Text 21"/>
          <p:cNvSpPr/>
          <p:nvPr/>
        </p:nvSpPr>
        <p:spPr>
          <a:xfrm>
            <a:off x="6053584" y="2190155"/>
            <a:ext cx="2760315" cy="990600"/>
          </a:xfrm>
          <a:prstGeom prst="rect">
            <a:avLst/>
          </a:prstGeom>
          <a:solidFill>
            <a:srgbClr val="F7F7F7"/>
          </a:solidFill>
          <a:ln/>
        </p:spPr>
        <p:txBody>
          <a:bodyPr wrap="square" rtlCol="0" anchor="ctr"/>
          <a:lstStyle/>
          <a:p>
            <a:pPr indent="0" marL="0">
              <a:buNone/>
            </a:pPr>
            <a:endParaRPr lang="en-US" dirty="0"/>
          </a:p>
        </p:txBody>
      </p:sp>
      <p:sp>
        <p:nvSpPr>
          <p:cNvPr id="25" name="Shape 22"/>
          <p:cNvSpPr/>
          <p:nvPr/>
        </p:nvSpPr>
        <p:spPr>
          <a:xfrm>
            <a:off x="6053584" y="2213967"/>
            <a:ext cx="2760315" cy="0"/>
          </a:xfrm>
          <a:prstGeom prst="line">
            <a:avLst/>
          </a:prstGeom>
          <a:noFill/>
          <a:ln w="47625">
            <a:solidFill>
              <a:srgbClr val="2A2A2A"/>
            </a:solidFill>
            <a:prstDash val="solid"/>
          </a:ln>
        </p:spPr>
      </p:sp>
      <p:sp>
        <p:nvSpPr>
          <p:cNvPr id="26" name="Text 23"/>
          <p:cNvSpPr/>
          <p:nvPr/>
        </p:nvSpPr>
        <p:spPr>
          <a:xfrm>
            <a:off x="6180534" y="2339280"/>
            <a:ext cx="2556543" cy="200025"/>
          </a:xfrm>
          <a:prstGeom prst="rect">
            <a:avLst/>
          </a:prstGeom>
          <a:noFill/>
          <a:ln/>
        </p:spPr>
        <p:txBody>
          <a:bodyPr wrap="square" lIns="0" tIns="0" rIns="0" bIns="0" rtlCol="0" anchor="t"/>
          <a:lstStyle/>
          <a:p>
            <a:pPr algn="l" indent="0" marL="0">
              <a:buNone/>
            </a:pPr>
            <a:r>
              <a:rPr lang="en-US" sz="1300" b="1" dirty="0">
                <a:solidFill>
                  <a:srgbClr val="2A2A2A"/>
                </a:solidFill>
                <a:latin typeface="Arial" pitchFamily="34" charset="0"/>
                <a:ea typeface="Arial" pitchFamily="34" charset="-122"/>
                <a:cs typeface="Arial" pitchFamily="34" charset="-120"/>
              </a:rPr>
              <a:t>No outside view</a:t>
            </a:r>
            <a:endParaRPr lang="en-US" sz="1300" dirty="0"/>
          </a:p>
        </p:txBody>
      </p:sp>
      <p:sp>
        <p:nvSpPr>
          <p:cNvPr id="27" name="Text 24"/>
          <p:cNvSpPr/>
          <p:nvPr/>
        </p:nvSpPr>
        <p:spPr>
          <a:xfrm>
            <a:off x="6180534" y="2590056"/>
            <a:ext cx="2556543" cy="396180"/>
          </a:xfrm>
          <a:prstGeom prst="rect">
            <a:avLst/>
          </a:prstGeom>
          <a:noFill/>
          <a:ln/>
        </p:spPr>
        <p:txBody>
          <a:bodyPr wrap="square" lIns="0" tIns="0" rIns="0" bIns="0" rtlCol="0" anchor="t"/>
          <a:lstStyle/>
          <a:p>
            <a:pPr algn="l" indent="0" marL="0">
              <a:lnSpc>
                <a:spcPts val="1560"/>
              </a:lnSpc>
              <a:spcBef>
                <a:spcPts val="400"/>
              </a:spcBef>
              <a:buNone/>
            </a:pPr>
            <a:r>
              <a:rPr lang="en-US" sz="1200" dirty="0">
                <a:solidFill>
                  <a:srgbClr val="5A5A5A"/>
                </a:solidFill>
                <a:latin typeface="Arial" pitchFamily="34" charset="0"/>
                <a:ea typeface="Arial" pitchFamily="34" charset="-122"/>
                <a:cs typeface="Arial" pitchFamily="34" charset="-120"/>
              </a:rPr>
              <a:t>Name the gap. Do not pretend the scan settled it.</a:t>
            </a:r>
            <a:endParaRPr lang="en-US" sz="1200" dirty="0"/>
          </a:p>
        </p:txBody>
      </p:sp>
      <p:sp>
        <p:nvSpPr>
          <p:cNvPr id="28" name="Text 25"/>
          <p:cNvSpPr/>
          <p:nvPr/>
        </p:nvSpPr>
        <p:spPr>
          <a:xfrm>
            <a:off x="330101" y="3282255"/>
            <a:ext cx="8483798" cy="349151"/>
          </a:xfrm>
          <a:prstGeom prst="rect">
            <a:avLst/>
          </a:prstGeom>
          <a:solidFill>
            <a:srgbClr val="2A2A2A"/>
          </a:solidFill>
          <a:ln/>
        </p:spPr>
        <p:txBody>
          <a:bodyPr wrap="square" rtlCol="0" anchor="ctr"/>
          <a:lstStyle/>
          <a:p>
            <a:pPr indent="0" marL="0">
              <a:buNone/>
            </a:pPr>
            <a:endParaRPr lang="en-US" dirty="0"/>
          </a:p>
        </p:txBody>
      </p:sp>
      <p:sp>
        <p:nvSpPr>
          <p:cNvPr id="29" name="Text 26"/>
          <p:cNvSpPr/>
          <p:nvPr/>
        </p:nvSpPr>
        <p:spPr>
          <a:xfrm>
            <a:off x="457051" y="3371106"/>
            <a:ext cx="8394496" cy="171450"/>
          </a:xfrm>
          <a:prstGeom prst="rect">
            <a:avLst/>
          </a:prstGeom>
          <a:noFill/>
          <a:ln/>
        </p:spPr>
        <p:txBody>
          <a:bodyPr wrap="square" lIns="0" tIns="0" rIns="0" bIns="0" rtlCol="0" anchor="t"/>
          <a:lstStyle/>
          <a:p>
            <a:pPr algn="l" indent="0" marL="0">
              <a:buNone/>
            </a:pPr>
            <a:r>
              <a:rPr lang="en-US" sz="1200" dirty="0">
                <a:solidFill>
                  <a:srgbClr val="FFFFFF"/>
                </a:solidFill>
                <a:latin typeface="Arial" pitchFamily="34" charset="0"/>
                <a:ea typeface="Arial" pitchFamily="34" charset="-122"/>
                <a:cs typeface="Arial" pitchFamily="34" charset="-120"/>
              </a:rPr>
              <a:t>Then a person: request evidence, apply appetite, write the reason.</a:t>
            </a:r>
            <a:endParaRPr lang="en-US" sz="1200" dirty="0"/>
          </a:p>
        </p:txBody>
      </p:sp>
      <p:sp>
        <p:nvSpPr>
          <p:cNvPr id="30" name="Text 27"/>
          <p:cNvSpPr/>
          <p:nvPr/>
        </p:nvSpPr>
        <p:spPr>
          <a:xfrm>
            <a:off x="330101" y="3713857"/>
            <a:ext cx="1956914"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Cyber underwriting  ·  Client discussion</a:t>
            </a:r>
            <a:endParaRPr lang="en-US" sz="900" dirty="0"/>
          </a:p>
        </p:txBody>
      </p:sp>
      <p:sp>
        <p:nvSpPr>
          <p:cNvPr id="31" name="Text 28"/>
          <p:cNvSpPr/>
          <p:nvPr/>
        </p:nvSpPr>
        <p:spPr>
          <a:xfrm>
            <a:off x="8686651" y="3713857"/>
            <a:ext cx="129793"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406301"/>
          </a:xfrm>
          <a:prstGeom prst="rect">
            <a:avLst/>
          </a:prstGeom>
          <a:solidFill>
            <a:srgbClr val="FFFFFF"/>
          </a:solidFill>
          <a:ln/>
        </p:spPr>
        <p:txBody>
          <a:bodyPr wrap="square" rtlCol="0" anchor="ctr"/>
          <a:lstStyle/>
          <a:p>
            <a:pPr indent="0" marL="0">
              <a:buNone/>
            </a:pPr>
            <a:endParaRPr lang="en-US" dirty="0"/>
          </a:p>
        </p:txBody>
      </p:sp>
      <p:pic>
        <p:nvPicPr>
          <p:cNvPr id="3" name="Image 0" descr="/Users/chandansharma/Documents/cyber-uw/docs/client/deck/slides/birlasoft-logo-on-white.png">    </p:cNvPr>
          <p:cNvPicPr>
            <a:picLocks noChangeAspect="1"/>
          </p:cNvPicPr>
          <p:nvPr/>
        </p:nvPicPr>
        <p:blipFill>
          <a:blip r:embed="rId1"/>
          <a:stretch>
            <a:fillRect/>
          </a:stretch>
        </p:blipFill>
        <p:spPr>
          <a:xfrm>
            <a:off x="330101" y="95101"/>
            <a:ext cx="990600" cy="279350"/>
          </a:xfrm>
          <a:prstGeom prst="rect">
            <a:avLst/>
          </a:prstGeom>
        </p:spPr>
      </p:pic>
      <p:sp>
        <p:nvSpPr>
          <p:cNvPr id="4" name="Text 1"/>
          <p:cNvSpPr/>
          <p:nvPr/>
        </p:nvSpPr>
        <p:spPr>
          <a:xfrm>
            <a:off x="7861102" y="163413"/>
            <a:ext cx="971854" cy="142875"/>
          </a:xfrm>
          <a:prstGeom prst="rect">
            <a:avLst/>
          </a:prstGeom>
          <a:noFill/>
          <a:ln/>
        </p:spPr>
        <p:txBody>
          <a:bodyPr wrap="square" lIns="0" tIns="0" rIns="0" bIns="0" rtlCol="0" anchor="t"/>
          <a:lstStyle/>
          <a:p>
            <a:pPr algn="l" indent="0" marL="0">
              <a:buNone/>
            </a:pPr>
            <a:r>
              <a:rPr lang="en-US" sz="1000" dirty="0">
                <a:solidFill>
                  <a:srgbClr val="5A5A5A"/>
                </a:solidFill>
                <a:latin typeface="Arial" pitchFamily="34" charset="0"/>
                <a:ea typeface="Arial" pitchFamily="34" charset="-122"/>
                <a:cs typeface="Arial" pitchFamily="34" charset="-120"/>
              </a:rPr>
              <a:t>What we learned</a:t>
            </a:r>
            <a:endParaRPr lang="en-US" sz="1000" dirty="0"/>
          </a:p>
        </p:txBody>
      </p:sp>
      <p:sp>
        <p:nvSpPr>
          <p:cNvPr id="5" name="Text 2"/>
          <p:cNvSpPr/>
          <p:nvPr/>
        </p:nvSpPr>
        <p:spPr>
          <a:xfrm>
            <a:off x="0" y="406301"/>
            <a:ext cx="9144000" cy="38100"/>
          </a:xfrm>
          <a:prstGeom prst="rect">
            <a:avLst/>
          </a:prstGeom>
          <a:solidFill>
            <a:srgbClr val="D0372C"/>
          </a:solidFill>
          <a:ln/>
        </p:spPr>
        <p:txBody>
          <a:bodyPr wrap="square" rtlCol="0" anchor="ctr"/>
          <a:lstStyle/>
          <a:p>
            <a:pPr indent="0" marL="0">
              <a:buNone/>
            </a:pPr>
            <a:endParaRPr lang="en-US" dirty="0"/>
          </a:p>
        </p:txBody>
      </p:sp>
      <p:sp>
        <p:nvSpPr>
          <p:cNvPr id="6" name="Text 3"/>
          <p:cNvSpPr/>
          <p:nvPr/>
        </p:nvSpPr>
        <p:spPr>
          <a:xfrm>
            <a:off x="330101" y="596801"/>
            <a:ext cx="8653474"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PRODUCT</a:t>
            </a:r>
            <a:endParaRPr lang="en-US" sz="1000" dirty="0"/>
          </a:p>
        </p:txBody>
      </p:sp>
      <p:sp>
        <p:nvSpPr>
          <p:cNvPr id="7" name="Text 4"/>
          <p:cNvSpPr/>
          <p:nvPr/>
        </p:nvSpPr>
        <p:spPr>
          <a:xfrm>
            <a:off x="330101" y="790426"/>
            <a:ext cx="8653474" cy="312837"/>
          </a:xfrm>
          <a:prstGeom prst="rect">
            <a:avLst/>
          </a:prstGeom>
          <a:noFill/>
          <a:ln/>
        </p:spPr>
        <p:txBody>
          <a:bodyPr wrap="square" lIns="0" tIns="0" rIns="0" bIns="0" rtlCol="0" anchor="t"/>
          <a:lstStyle/>
          <a:p>
            <a:pPr algn="l" indent="0" marL="0">
              <a:lnSpc>
                <a:spcPts val="2464"/>
              </a:lnSpc>
              <a:spcBef>
                <a:spcPts val="400"/>
              </a:spcBef>
              <a:buNone/>
            </a:pPr>
            <a:r>
              <a:rPr lang="en-US" sz="2200" dirty="0">
                <a:solidFill>
                  <a:srgbClr val="2A2A2A"/>
                </a:solidFill>
                <a:latin typeface="Georgia" pitchFamily="34" charset="0"/>
                <a:ea typeface="Georgia" pitchFamily="34" charset="-122"/>
                <a:cs typeface="Georgia" pitchFamily="34" charset="-120"/>
              </a:rPr>
              <a:t>What we stopped doing, after watching the work</a:t>
            </a:r>
            <a:endParaRPr lang="en-US" sz="2200" dirty="0"/>
          </a:p>
        </p:txBody>
      </p:sp>
      <p:sp>
        <p:nvSpPr>
          <p:cNvPr id="8" name="Text 5"/>
          <p:cNvSpPr/>
          <p:nvPr/>
        </p:nvSpPr>
        <p:spPr>
          <a:xfrm>
            <a:off x="330101" y="1154013"/>
            <a:ext cx="4145331" cy="142875"/>
          </a:xfrm>
          <a:prstGeom prst="rect">
            <a:avLst/>
          </a:prstGeom>
          <a:noFill/>
          <a:ln/>
        </p:spPr>
        <p:txBody>
          <a:bodyPr wrap="square" lIns="0" tIns="0" rIns="0" bIns="0" rtlCol="0" anchor="t"/>
          <a:lstStyle/>
          <a:p>
            <a:pPr algn="l" indent="0" marL="0">
              <a:buNone/>
            </a:pPr>
            <a:r>
              <a:rPr lang="en-US" sz="1000" b="1" dirty="0">
                <a:solidFill>
                  <a:srgbClr val="5A5A5A"/>
                </a:solidFill>
                <a:latin typeface="Arial" pitchFamily="34" charset="0"/>
                <a:ea typeface="Arial" pitchFamily="34" charset="-122"/>
                <a:cs typeface="Arial" pitchFamily="34" charset="-120"/>
              </a:rPr>
              <a:t>WHAT WE SAW</a:t>
            </a:r>
            <a:endParaRPr lang="en-US" sz="1000" dirty="0"/>
          </a:p>
        </p:txBody>
      </p:sp>
      <p:sp>
        <p:nvSpPr>
          <p:cNvPr id="9" name="Text 6"/>
          <p:cNvSpPr/>
          <p:nvPr/>
        </p:nvSpPr>
        <p:spPr>
          <a:xfrm>
            <a:off x="4749701" y="1154013"/>
            <a:ext cx="4145482"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WHAT WE BUILT</a:t>
            </a:r>
            <a:endParaRPr lang="en-US" sz="1000" dirty="0"/>
          </a:p>
        </p:txBody>
      </p:sp>
      <p:sp>
        <p:nvSpPr>
          <p:cNvPr id="10" name="Shape 7"/>
          <p:cNvSpPr/>
          <p:nvPr/>
        </p:nvSpPr>
        <p:spPr>
          <a:xfrm>
            <a:off x="330101" y="1361926"/>
            <a:ext cx="8483798" cy="0"/>
          </a:xfrm>
          <a:prstGeom prst="line">
            <a:avLst/>
          </a:prstGeom>
          <a:noFill/>
          <a:ln w="9525">
            <a:solidFill>
              <a:srgbClr val="E2E2E2"/>
            </a:solidFill>
            <a:prstDash val="solid"/>
          </a:ln>
        </p:spPr>
      </p:sp>
      <p:sp>
        <p:nvSpPr>
          <p:cNvPr id="11" name="Text 8"/>
          <p:cNvSpPr/>
          <p:nvPr/>
        </p:nvSpPr>
        <p:spPr>
          <a:xfrm>
            <a:off x="330101" y="1579364"/>
            <a:ext cx="4106469" cy="200025"/>
          </a:xfrm>
          <a:prstGeom prst="rect">
            <a:avLst/>
          </a:prstGeom>
          <a:noFill/>
          <a:ln/>
        </p:spPr>
        <p:txBody>
          <a:bodyPr wrap="square" lIns="0" tIns="0" rIns="0" bIns="0" rtlCol="0" anchor="t"/>
          <a:lstStyle/>
          <a:p>
            <a:pPr algn="l" indent="0" marL="0">
              <a:buNone/>
            </a:pPr>
            <a:r>
              <a:rPr lang="en-US" sz="1300" dirty="0">
                <a:solidFill>
                  <a:srgbClr val="2A2A2A"/>
                </a:solidFill>
                <a:latin typeface="Arial" pitchFamily="34" charset="0"/>
                <a:ea typeface="Arial" pitchFamily="34" charset="-122"/>
                <a:cs typeface="Arial" pitchFamily="34" charset="-120"/>
              </a:rPr>
              <a:t>Files scattered across a mailbox</a:t>
            </a:r>
            <a:endParaRPr lang="en-US" sz="1300" dirty="0"/>
          </a:p>
        </p:txBody>
      </p:sp>
      <p:sp>
        <p:nvSpPr>
          <p:cNvPr id="12" name="Text 9"/>
          <p:cNvSpPr/>
          <p:nvPr/>
        </p:nvSpPr>
        <p:spPr>
          <a:xfrm>
            <a:off x="4428695" y="1555552"/>
            <a:ext cx="362661" cy="247650"/>
          </a:xfrm>
          <a:prstGeom prst="rect">
            <a:avLst/>
          </a:prstGeom>
          <a:noFill/>
          <a:ln/>
        </p:spPr>
        <p:txBody>
          <a:bodyPr wrap="square" lIns="0" tIns="0" rIns="0" bIns="0" rtlCol="0" anchor="t"/>
          <a:lstStyle/>
          <a:p>
            <a:pPr algn="ctr" indent="0" marL="0">
              <a:buNone/>
            </a:pPr>
            <a:r>
              <a:rPr lang="en-US" sz="1600" dirty="0">
                <a:solidFill>
                  <a:srgbClr val="D0372C"/>
                </a:solidFill>
                <a:latin typeface="Georgia" pitchFamily="34" charset="0"/>
                <a:ea typeface="Georgia" pitchFamily="34" charset="-122"/>
                <a:cs typeface="Georgia" pitchFamily="34" charset="-120"/>
              </a:rPr>
              <a:t>→</a:t>
            </a:r>
            <a:endParaRPr lang="en-US" sz="1600" dirty="0"/>
          </a:p>
        </p:txBody>
      </p:sp>
      <p:sp>
        <p:nvSpPr>
          <p:cNvPr id="13" name="Text 10"/>
          <p:cNvSpPr/>
          <p:nvPr/>
        </p:nvSpPr>
        <p:spPr>
          <a:xfrm>
            <a:off x="4787801" y="1496764"/>
            <a:ext cx="4106620" cy="200025"/>
          </a:xfrm>
          <a:prstGeom prst="rect">
            <a:avLst/>
          </a:prstGeom>
          <a:noFill/>
          <a:ln/>
        </p:spPr>
        <p:txBody>
          <a:bodyPr wrap="square" lIns="0" tIns="0" rIns="0" bIns="0" rtlCol="0" anchor="t"/>
          <a:lstStyle/>
          <a:p>
            <a:pPr algn="l" indent="0" marL="0">
              <a:buNone/>
            </a:pPr>
            <a:r>
              <a:rPr lang="en-US" sz="1300" b="1" dirty="0">
                <a:solidFill>
                  <a:srgbClr val="2A2A2A"/>
                </a:solidFill>
                <a:latin typeface="Arial" pitchFamily="34" charset="0"/>
                <a:ea typeface="Arial" pitchFamily="34" charset="-122"/>
                <a:cs typeface="Arial" pitchFamily="34" charset="-120"/>
              </a:rPr>
              <a:t>One submission record</a:t>
            </a:r>
            <a:endParaRPr lang="en-US" sz="1300" dirty="0"/>
          </a:p>
        </p:txBody>
      </p:sp>
      <p:sp>
        <p:nvSpPr>
          <p:cNvPr id="14" name="Text 11"/>
          <p:cNvSpPr/>
          <p:nvPr/>
        </p:nvSpPr>
        <p:spPr>
          <a:xfrm>
            <a:off x="4787801" y="1709440"/>
            <a:ext cx="4106620" cy="152400"/>
          </a:xfrm>
          <a:prstGeom prst="rect">
            <a:avLst/>
          </a:prstGeom>
          <a:noFill/>
          <a:ln/>
        </p:spPr>
        <p:txBody>
          <a:bodyPr wrap="square" lIns="0" tIns="0" rIns="0" bIns="0" rtlCol="0" anchor="t"/>
          <a:lstStyle/>
          <a:p>
            <a:pPr algn="l" indent="0" marL="0">
              <a:spcBef>
                <a:spcPts val="100"/>
              </a:spcBef>
              <a:buNone/>
            </a:pPr>
            <a:r>
              <a:rPr lang="en-US" sz="1100" dirty="0">
                <a:solidFill>
                  <a:srgbClr val="5A5A5A"/>
                </a:solidFill>
                <a:latin typeface="Arial" pitchFamily="34" charset="0"/>
                <a:ea typeface="Arial" pitchFamily="34" charset="-122"/>
                <a:cs typeface="Arial" pitchFamily="34" charset="-120"/>
              </a:rPr>
              <a:t>Less hunting.</a:t>
            </a:r>
            <a:endParaRPr lang="en-US" sz="1100" dirty="0"/>
          </a:p>
        </p:txBody>
      </p:sp>
      <p:sp>
        <p:nvSpPr>
          <p:cNvPr id="15" name="Shape 12"/>
          <p:cNvSpPr/>
          <p:nvPr/>
        </p:nvSpPr>
        <p:spPr>
          <a:xfrm>
            <a:off x="330101" y="1996827"/>
            <a:ext cx="8483798" cy="0"/>
          </a:xfrm>
          <a:prstGeom prst="line">
            <a:avLst/>
          </a:prstGeom>
          <a:noFill/>
          <a:ln w="9525">
            <a:solidFill>
              <a:srgbClr val="E2E2E2"/>
            </a:solidFill>
            <a:prstDash val="solid"/>
          </a:ln>
        </p:spPr>
      </p:sp>
      <p:sp>
        <p:nvSpPr>
          <p:cNvPr id="16" name="Text 13"/>
          <p:cNvSpPr/>
          <p:nvPr/>
        </p:nvSpPr>
        <p:spPr>
          <a:xfrm>
            <a:off x="330101" y="2214265"/>
            <a:ext cx="4106469" cy="200025"/>
          </a:xfrm>
          <a:prstGeom prst="rect">
            <a:avLst/>
          </a:prstGeom>
          <a:noFill/>
          <a:ln/>
        </p:spPr>
        <p:txBody>
          <a:bodyPr wrap="square" lIns="0" tIns="0" rIns="0" bIns="0" rtlCol="0" anchor="t"/>
          <a:lstStyle/>
          <a:p>
            <a:pPr algn="l" indent="0" marL="0">
              <a:buNone/>
            </a:pPr>
            <a:r>
              <a:rPr lang="en-US" sz="1300" dirty="0">
                <a:solidFill>
                  <a:srgbClr val="2A2A2A"/>
                </a:solidFill>
                <a:latin typeface="Arial" pitchFamily="34" charset="0"/>
                <a:ea typeface="Arial" pitchFamily="34" charset="-122"/>
                <a:cs typeface="Arial" pitchFamily="34" charset="-120"/>
              </a:rPr>
              <a:t>An extract nobody could challenge</a:t>
            </a:r>
            <a:endParaRPr lang="en-US" sz="1300" dirty="0"/>
          </a:p>
        </p:txBody>
      </p:sp>
      <p:sp>
        <p:nvSpPr>
          <p:cNvPr id="17" name="Text 14"/>
          <p:cNvSpPr/>
          <p:nvPr/>
        </p:nvSpPr>
        <p:spPr>
          <a:xfrm>
            <a:off x="4428695" y="2190452"/>
            <a:ext cx="362661" cy="247650"/>
          </a:xfrm>
          <a:prstGeom prst="rect">
            <a:avLst/>
          </a:prstGeom>
          <a:noFill/>
          <a:ln/>
        </p:spPr>
        <p:txBody>
          <a:bodyPr wrap="square" lIns="0" tIns="0" rIns="0" bIns="0" rtlCol="0" anchor="t"/>
          <a:lstStyle/>
          <a:p>
            <a:pPr algn="ctr" indent="0" marL="0">
              <a:buNone/>
            </a:pPr>
            <a:r>
              <a:rPr lang="en-US" sz="1600" dirty="0">
                <a:solidFill>
                  <a:srgbClr val="D0372C"/>
                </a:solidFill>
                <a:latin typeface="Georgia" pitchFamily="34" charset="0"/>
                <a:ea typeface="Georgia" pitchFamily="34" charset="-122"/>
                <a:cs typeface="Georgia" pitchFamily="34" charset="-120"/>
              </a:rPr>
              <a:t>→</a:t>
            </a:r>
            <a:endParaRPr lang="en-US" sz="1600" dirty="0"/>
          </a:p>
        </p:txBody>
      </p:sp>
      <p:sp>
        <p:nvSpPr>
          <p:cNvPr id="18" name="Text 15"/>
          <p:cNvSpPr/>
          <p:nvPr/>
        </p:nvSpPr>
        <p:spPr>
          <a:xfrm>
            <a:off x="4787801" y="2131665"/>
            <a:ext cx="4106620" cy="200025"/>
          </a:xfrm>
          <a:prstGeom prst="rect">
            <a:avLst/>
          </a:prstGeom>
          <a:noFill/>
          <a:ln/>
        </p:spPr>
        <p:txBody>
          <a:bodyPr wrap="square" lIns="0" tIns="0" rIns="0" bIns="0" rtlCol="0" anchor="t"/>
          <a:lstStyle/>
          <a:p>
            <a:pPr algn="l" indent="0" marL="0">
              <a:buNone/>
            </a:pPr>
            <a:r>
              <a:rPr lang="en-US" sz="1300" b="1" dirty="0">
                <a:solidFill>
                  <a:srgbClr val="2A2A2A"/>
                </a:solidFill>
                <a:latin typeface="Arial" pitchFamily="34" charset="0"/>
                <a:ea typeface="Arial" pitchFamily="34" charset="-122"/>
                <a:cs typeface="Arial" pitchFamily="34" charset="-120"/>
              </a:rPr>
              <a:t>A field linked to its page</a:t>
            </a:r>
            <a:endParaRPr lang="en-US" sz="1300" dirty="0"/>
          </a:p>
        </p:txBody>
      </p:sp>
      <p:sp>
        <p:nvSpPr>
          <p:cNvPr id="19" name="Text 16"/>
          <p:cNvSpPr/>
          <p:nvPr/>
        </p:nvSpPr>
        <p:spPr>
          <a:xfrm>
            <a:off x="4787801" y="2344341"/>
            <a:ext cx="4106620" cy="152400"/>
          </a:xfrm>
          <a:prstGeom prst="rect">
            <a:avLst/>
          </a:prstGeom>
          <a:noFill/>
          <a:ln/>
        </p:spPr>
        <p:txBody>
          <a:bodyPr wrap="square" lIns="0" tIns="0" rIns="0" bIns="0" rtlCol="0" anchor="t"/>
          <a:lstStyle/>
          <a:p>
            <a:pPr algn="l" indent="0" marL="0">
              <a:spcBef>
                <a:spcPts val="100"/>
              </a:spcBef>
              <a:buNone/>
            </a:pPr>
            <a:r>
              <a:rPr lang="en-US" sz="1100" dirty="0">
                <a:solidFill>
                  <a:srgbClr val="5A5A5A"/>
                </a:solidFill>
                <a:latin typeface="Arial" pitchFamily="34" charset="0"/>
                <a:ea typeface="Arial" pitchFamily="34" charset="-122"/>
                <a:cs typeface="Arial" pitchFamily="34" charset="-120"/>
              </a:rPr>
              <a:t>You can reject it.</a:t>
            </a:r>
            <a:endParaRPr lang="en-US" sz="1100" dirty="0"/>
          </a:p>
        </p:txBody>
      </p:sp>
      <p:sp>
        <p:nvSpPr>
          <p:cNvPr id="20" name="Shape 17"/>
          <p:cNvSpPr/>
          <p:nvPr/>
        </p:nvSpPr>
        <p:spPr>
          <a:xfrm>
            <a:off x="330101" y="2631728"/>
            <a:ext cx="8483798" cy="0"/>
          </a:xfrm>
          <a:prstGeom prst="line">
            <a:avLst/>
          </a:prstGeom>
          <a:noFill/>
          <a:ln w="9525">
            <a:solidFill>
              <a:srgbClr val="E2E2E2"/>
            </a:solidFill>
            <a:prstDash val="solid"/>
          </a:ln>
        </p:spPr>
      </p:sp>
      <p:sp>
        <p:nvSpPr>
          <p:cNvPr id="21" name="Text 18"/>
          <p:cNvSpPr/>
          <p:nvPr/>
        </p:nvSpPr>
        <p:spPr>
          <a:xfrm>
            <a:off x="330101" y="2849166"/>
            <a:ext cx="4106469" cy="200025"/>
          </a:xfrm>
          <a:prstGeom prst="rect">
            <a:avLst/>
          </a:prstGeom>
          <a:noFill/>
          <a:ln/>
        </p:spPr>
        <p:txBody>
          <a:bodyPr wrap="square" lIns="0" tIns="0" rIns="0" bIns="0" rtlCol="0" anchor="t"/>
          <a:lstStyle/>
          <a:p>
            <a:pPr algn="l" indent="0" marL="0">
              <a:buNone/>
            </a:pPr>
            <a:r>
              <a:rPr lang="en-US" sz="1300" dirty="0">
                <a:solidFill>
                  <a:srgbClr val="2A2A2A"/>
                </a:solidFill>
                <a:latin typeface="Arial" pitchFamily="34" charset="0"/>
                <a:ea typeface="Arial" pitchFamily="34" charset="-122"/>
                <a:cs typeface="Arial" pitchFamily="34" charset="-120"/>
              </a:rPr>
              <a:t>A gap with no owner</a:t>
            </a:r>
            <a:endParaRPr lang="en-US" sz="1300" dirty="0"/>
          </a:p>
        </p:txBody>
      </p:sp>
      <p:sp>
        <p:nvSpPr>
          <p:cNvPr id="22" name="Text 19"/>
          <p:cNvSpPr/>
          <p:nvPr/>
        </p:nvSpPr>
        <p:spPr>
          <a:xfrm>
            <a:off x="4428695" y="2825353"/>
            <a:ext cx="362661" cy="247650"/>
          </a:xfrm>
          <a:prstGeom prst="rect">
            <a:avLst/>
          </a:prstGeom>
          <a:noFill/>
          <a:ln/>
        </p:spPr>
        <p:txBody>
          <a:bodyPr wrap="square" lIns="0" tIns="0" rIns="0" bIns="0" rtlCol="0" anchor="t"/>
          <a:lstStyle/>
          <a:p>
            <a:pPr algn="ctr" indent="0" marL="0">
              <a:buNone/>
            </a:pPr>
            <a:r>
              <a:rPr lang="en-US" sz="1600" dirty="0">
                <a:solidFill>
                  <a:srgbClr val="D0372C"/>
                </a:solidFill>
                <a:latin typeface="Georgia" pitchFamily="34" charset="0"/>
                <a:ea typeface="Georgia" pitchFamily="34" charset="-122"/>
                <a:cs typeface="Georgia" pitchFamily="34" charset="-120"/>
              </a:rPr>
              <a:t>→</a:t>
            </a:r>
            <a:endParaRPr lang="en-US" sz="1600" dirty="0"/>
          </a:p>
        </p:txBody>
      </p:sp>
      <p:sp>
        <p:nvSpPr>
          <p:cNvPr id="23" name="Text 20"/>
          <p:cNvSpPr/>
          <p:nvPr/>
        </p:nvSpPr>
        <p:spPr>
          <a:xfrm>
            <a:off x="4787801" y="2766566"/>
            <a:ext cx="4106620" cy="200025"/>
          </a:xfrm>
          <a:prstGeom prst="rect">
            <a:avLst/>
          </a:prstGeom>
          <a:noFill/>
          <a:ln/>
        </p:spPr>
        <p:txBody>
          <a:bodyPr wrap="square" lIns="0" tIns="0" rIns="0" bIns="0" rtlCol="0" anchor="t"/>
          <a:lstStyle/>
          <a:p>
            <a:pPr algn="l" indent="0" marL="0">
              <a:buNone/>
            </a:pPr>
            <a:r>
              <a:rPr lang="en-US" sz="1300" b="1" dirty="0">
                <a:solidFill>
                  <a:srgbClr val="2A2A2A"/>
                </a:solidFill>
                <a:latin typeface="Arial" pitchFamily="34" charset="0"/>
                <a:ea typeface="Arial" pitchFamily="34" charset="-122"/>
                <a:cs typeface="Arial" pitchFamily="34" charset="-120"/>
              </a:rPr>
              <a:t>An open item, and a chase</a:t>
            </a:r>
            <a:endParaRPr lang="en-US" sz="1300" dirty="0"/>
          </a:p>
        </p:txBody>
      </p:sp>
      <p:sp>
        <p:nvSpPr>
          <p:cNvPr id="24" name="Text 21"/>
          <p:cNvSpPr/>
          <p:nvPr/>
        </p:nvSpPr>
        <p:spPr>
          <a:xfrm>
            <a:off x="4787801" y="2979241"/>
            <a:ext cx="4106620" cy="152400"/>
          </a:xfrm>
          <a:prstGeom prst="rect">
            <a:avLst/>
          </a:prstGeom>
          <a:noFill/>
          <a:ln/>
        </p:spPr>
        <p:txBody>
          <a:bodyPr wrap="square" lIns="0" tIns="0" rIns="0" bIns="0" rtlCol="0" anchor="t"/>
          <a:lstStyle/>
          <a:p>
            <a:pPr algn="l" indent="0" marL="0">
              <a:spcBef>
                <a:spcPts val="100"/>
              </a:spcBef>
              <a:buNone/>
            </a:pPr>
            <a:r>
              <a:rPr lang="en-US" sz="1100" dirty="0">
                <a:solidFill>
                  <a:srgbClr val="5A5A5A"/>
                </a:solidFill>
                <a:latin typeface="Arial" pitchFamily="34" charset="0"/>
                <a:ea typeface="Arial" pitchFamily="34" charset="-122"/>
                <a:cs typeface="Arial" pitchFamily="34" charset="-120"/>
              </a:rPr>
              <a:t>Missing evidence is work.</a:t>
            </a:r>
            <a:endParaRPr lang="en-US" sz="1100" dirty="0"/>
          </a:p>
        </p:txBody>
      </p:sp>
      <p:sp>
        <p:nvSpPr>
          <p:cNvPr id="25" name="Shape 22"/>
          <p:cNvSpPr/>
          <p:nvPr/>
        </p:nvSpPr>
        <p:spPr>
          <a:xfrm>
            <a:off x="330101" y="3266629"/>
            <a:ext cx="8483798" cy="0"/>
          </a:xfrm>
          <a:prstGeom prst="line">
            <a:avLst/>
          </a:prstGeom>
          <a:noFill/>
          <a:ln w="9525">
            <a:solidFill>
              <a:srgbClr val="E2E2E2"/>
            </a:solidFill>
            <a:prstDash val="solid"/>
          </a:ln>
        </p:spPr>
      </p:sp>
      <p:sp>
        <p:nvSpPr>
          <p:cNvPr id="26" name="Text 23"/>
          <p:cNvSpPr/>
          <p:nvPr/>
        </p:nvSpPr>
        <p:spPr>
          <a:xfrm>
            <a:off x="330101" y="3484066"/>
            <a:ext cx="4106469" cy="200025"/>
          </a:xfrm>
          <a:prstGeom prst="rect">
            <a:avLst/>
          </a:prstGeom>
          <a:noFill/>
          <a:ln/>
        </p:spPr>
        <p:txBody>
          <a:bodyPr wrap="square" lIns="0" tIns="0" rIns="0" bIns="0" rtlCol="0" anchor="t"/>
          <a:lstStyle/>
          <a:p>
            <a:pPr algn="l" indent="0" marL="0">
              <a:buNone/>
            </a:pPr>
            <a:r>
              <a:rPr lang="en-US" sz="1300" dirty="0">
                <a:solidFill>
                  <a:srgbClr val="2A2A2A"/>
                </a:solidFill>
                <a:latin typeface="Arial" pitchFamily="34" charset="0"/>
                <a:ea typeface="Arial" pitchFamily="34" charset="-122"/>
                <a:cs typeface="Arial" pitchFamily="34" charset="-120"/>
              </a:rPr>
              <a:t>One screen for every role</a:t>
            </a:r>
            <a:endParaRPr lang="en-US" sz="1300" dirty="0"/>
          </a:p>
        </p:txBody>
      </p:sp>
      <p:sp>
        <p:nvSpPr>
          <p:cNvPr id="27" name="Text 24"/>
          <p:cNvSpPr/>
          <p:nvPr/>
        </p:nvSpPr>
        <p:spPr>
          <a:xfrm>
            <a:off x="4428695" y="3460254"/>
            <a:ext cx="362661" cy="247650"/>
          </a:xfrm>
          <a:prstGeom prst="rect">
            <a:avLst/>
          </a:prstGeom>
          <a:noFill/>
          <a:ln/>
        </p:spPr>
        <p:txBody>
          <a:bodyPr wrap="square" lIns="0" tIns="0" rIns="0" bIns="0" rtlCol="0" anchor="t"/>
          <a:lstStyle/>
          <a:p>
            <a:pPr algn="ctr" indent="0" marL="0">
              <a:buNone/>
            </a:pPr>
            <a:r>
              <a:rPr lang="en-US" sz="1600" dirty="0">
                <a:solidFill>
                  <a:srgbClr val="D0372C"/>
                </a:solidFill>
                <a:latin typeface="Georgia" pitchFamily="34" charset="0"/>
                <a:ea typeface="Georgia" pitchFamily="34" charset="-122"/>
                <a:cs typeface="Georgia" pitchFamily="34" charset="-120"/>
              </a:rPr>
              <a:t>→</a:t>
            </a:r>
            <a:endParaRPr lang="en-US" sz="1600" dirty="0"/>
          </a:p>
        </p:txBody>
      </p:sp>
      <p:sp>
        <p:nvSpPr>
          <p:cNvPr id="28" name="Text 25"/>
          <p:cNvSpPr/>
          <p:nvPr/>
        </p:nvSpPr>
        <p:spPr>
          <a:xfrm>
            <a:off x="4787801" y="3401467"/>
            <a:ext cx="4106620" cy="200025"/>
          </a:xfrm>
          <a:prstGeom prst="rect">
            <a:avLst/>
          </a:prstGeom>
          <a:noFill/>
          <a:ln/>
        </p:spPr>
        <p:txBody>
          <a:bodyPr wrap="square" lIns="0" tIns="0" rIns="0" bIns="0" rtlCol="0" anchor="t"/>
          <a:lstStyle/>
          <a:p>
            <a:pPr algn="l" indent="0" marL="0">
              <a:buNone/>
            </a:pPr>
            <a:r>
              <a:rPr lang="en-US" sz="1300" b="1" dirty="0">
                <a:solidFill>
                  <a:srgbClr val="2A2A2A"/>
                </a:solidFill>
                <a:latin typeface="Arial" pitchFamily="34" charset="0"/>
                <a:ea typeface="Arial" pitchFamily="34" charset="-122"/>
                <a:cs typeface="Arial" pitchFamily="34" charset="-120"/>
              </a:rPr>
              <a:t>A bench for ops, a bench for the underwriter</a:t>
            </a:r>
            <a:endParaRPr lang="en-US" sz="1300" dirty="0"/>
          </a:p>
        </p:txBody>
      </p:sp>
      <p:sp>
        <p:nvSpPr>
          <p:cNvPr id="29" name="Text 26"/>
          <p:cNvSpPr/>
          <p:nvPr/>
        </p:nvSpPr>
        <p:spPr>
          <a:xfrm>
            <a:off x="4787801" y="3614142"/>
            <a:ext cx="4106620" cy="152400"/>
          </a:xfrm>
          <a:prstGeom prst="rect">
            <a:avLst/>
          </a:prstGeom>
          <a:noFill/>
          <a:ln/>
        </p:spPr>
        <p:txBody>
          <a:bodyPr wrap="square" lIns="0" tIns="0" rIns="0" bIns="0" rtlCol="0" anchor="t"/>
          <a:lstStyle/>
          <a:p>
            <a:pPr algn="l" indent="0" marL="0">
              <a:spcBef>
                <a:spcPts val="100"/>
              </a:spcBef>
              <a:buNone/>
            </a:pPr>
            <a:r>
              <a:rPr lang="en-US" sz="1100" dirty="0">
                <a:solidFill>
                  <a:srgbClr val="5A5A5A"/>
                </a:solidFill>
                <a:latin typeface="Arial" pitchFamily="34" charset="0"/>
                <a:ea typeface="Arial" pitchFamily="34" charset="-122"/>
                <a:cs typeface="Arial" pitchFamily="34" charset="-120"/>
              </a:rPr>
              <a:t>The right context, not all of it.</a:t>
            </a:r>
            <a:endParaRPr lang="en-US" sz="1100" dirty="0"/>
          </a:p>
        </p:txBody>
      </p:sp>
      <p:sp>
        <p:nvSpPr>
          <p:cNvPr id="30" name="Text 27"/>
          <p:cNvSpPr/>
          <p:nvPr/>
        </p:nvSpPr>
        <p:spPr>
          <a:xfrm>
            <a:off x="330101" y="3979218"/>
            <a:ext cx="1956914"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Cyber underwriting  ·  Client discussion</a:t>
            </a:r>
            <a:endParaRPr lang="en-US" sz="900" dirty="0"/>
          </a:p>
        </p:txBody>
      </p:sp>
      <p:sp>
        <p:nvSpPr>
          <p:cNvPr id="31" name="Text 28"/>
          <p:cNvSpPr/>
          <p:nvPr/>
        </p:nvSpPr>
        <p:spPr>
          <a:xfrm>
            <a:off x="8695134" y="3979218"/>
            <a:ext cx="121140"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2793950" cy="5143500"/>
          </a:xfrm>
          <a:prstGeom prst="rect">
            <a:avLst/>
          </a:prstGeom>
          <a:solidFill>
            <a:srgbClr val="FFFFFF"/>
          </a:solidFill>
          <a:ln/>
        </p:spPr>
        <p:txBody>
          <a:bodyPr wrap="square" rtlCol="0" anchor="ctr"/>
          <a:lstStyle/>
          <a:p>
            <a:pPr indent="0" marL="0">
              <a:buNone/>
            </a:pPr>
            <a:endParaRPr lang="en-US" dirty="0"/>
          </a:p>
        </p:txBody>
      </p:sp>
      <p:pic>
        <p:nvPicPr>
          <p:cNvPr id="3" name="Image 0" descr="/Users/chandansharma/Documents/cyber-uw/docs/client/deck/slides/birlasoft-logo-on-white.png">    </p:cNvPr>
          <p:cNvPicPr>
            <a:picLocks noChangeAspect="1"/>
          </p:cNvPicPr>
          <p:nvPr/>
        </p:nvPicPr>
        <p:blipFill>
          <a:blip r:embed="rId1"/>
          <a:stretch>
            <a:fillRect/>
          </a:stretch>
        </p:blipFill>
        <p:spPr>
          <a:xfrm>
            <a:off x="203150" y="203150"/>
            <a:ext cx="1092101" cy="304800"/>
          </a:xfrm>
          <a:prstGeom prst="rect">
            <a:avLst/>
          </a:prstGeom>
        </p:spPr>
      </p:pic>
      <p:sp>
        <p:nvSpPr>
          <p:cNvPr id="4" name="Text 1"/>
          <p:cNvSpPr/>
          <p:nvPr/>
        </p:nvSpPr>
        <p:spPr>
          <a:xfrm>
            <a:off x="0" y="673001"/>
            <a:ext cx="2793950" cy="38100"/>
          </a:xfrm>
          <a:prstGeom prst="rect">
            <a:avLst/>
          </a:prstGeom>
          <a:solidFill>
            <a:srgbClr val="D0372C"/>
          </a:solidFill>
          <a:ln/>
        </p:spPr>
        <p:txBody>
          <a:bodyPr wrap="square" rtlCol="0" anchor="ctr"/>
          <a:lstStyle/>
          <a:p>
            <a:pPr indent="0" marL="0">
              <a:buNone/>
            </a:pPr>
            <a:endParaRPr lang="en-US" dirty="0"/>
          </a:p>
        </p:txBody>
      </p:sp>
      <p:sp>
        <p:nvSpPr>
          <p:cNvPr id="5" name="Text 2"/>
          <p:cNvSpPr/>
          <p:nvPr/>
        </p:nvSpPr>
        <p:spPr>
          <a:xfrm>
            <a:off x="203150" y="914251"/>
            <a:ext cx="2435403"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A WORKED EXAMPLE</a:t>
            </a:r>
            <a:endParaRPr lang="en-US" sz="1000" dirty="0"/>
          </a:p>
        </p:txBody>
      </p:sp>
      <p:sp>
        <p:nvSpPr>
          <p:cNvPr id="6" name="Text 3"/>
          <p:cNvSpPr/>
          <p:nvPr/>
        </p:nvSpPr>
        <p:spPr>
          <a:xfrm>
            <a:off x="203150" y="1158627"/>
            <a:ext cx="2435403" cy="614363"/>
          </a:xfrm>
          <a:prstGeom prst="rect">
            <a:avLst/>
          </a:prstGeom>
          <a:noFill/>
          <a:ln/>
        </p:spPr>
        <p:txBody>
          <a:bodyPr wrap="square" lIns="0" tIns="0" rIns="0" bIns="0" rtlCol="0" anchor="t"/>
          <a:lstStyle/>
          <a:p>
            <a:pPr algn="l" indent="0" marL="0">
              <a:lnSpc>
                <a:spcPts val="2420"/>
              </a:lnSpc>
              <a:spcBef>
                <a:spcPts val="800"/>
              </a:spcBef>
              <a:buNone/>
            </a:pPr>
            <a:r>
              <a:rPr lang="en-US" sz="2200" dirty="0">
                <a:solidFill>
                  <a:srgbClr val="2A2A2A"/>
                </a:solidFill>
                <a:latin typeface="Georgia" pitchFamily="34" charset="0"/>
                <a:ea typeface="Georgia" pitchFamily="34" charset="-122"/>
                <a:cs typeface="Georgia" pitchFamily="34" charset="-120"/>
              </a:rPr>
              <a:t>Not your file. Not a client.</a:t>
            </a:r>
            <a:endParaRPr lang="en-US" sz="2200" dirty="0"/>
          </a:p>
        </p:txBody>
      </p:sp>
      <p:sp>
        <p:nvSpPr>
          <p:cNvPr id="7" name="Text 4"/>
          <p:cNvSpPr/>
          <p:nvPr/>
        </p:nvSpPr>
        <p:spPr>
          <a:xfrm>
            <a:off x="203150" y="1874490"/>
            <a:ext cx="2435403" cy="617041"/>
          </a:xfrm>
          <a:prstGeom prst="rect">
            <a:avLst/>
          </a:prstGeom>
          <a:noFill/>
          <a:ln/>
        </p:spPr>
        <p:txBody>
          <a:bodyPr wrap="square" lIns="0" tIns="0" rIns="0" bIns="0" rtlCol="0" anchor="t"/>
          <a:lstStyle/>
          <a:p>
            <a:pPr algn="l" indent="0" marL="0">
              <a:lnSpc>
                <a:spcPts val="1620"/>
              </a:lnSpc>
              <a:spcBef>
                <a:spcPts val="800"/>
              </a:spcBef>
              <a:buNone/>
            </a:pPr>
            <a:r>
              <a:rPr lang="en-US" sz="1200" dirty="0">
                <a:solidFill>
                  <a:srgbClr val="5A5A5A"/>
                </a:solidFill>
                <a:latin typeface="Arial" pitchFamily="34" charset="0"/>
                <a:ea typeface="Arial" pitchFamily="34" charset="-122"/>
                <a:cs typeface="Arial" pitchFamily="34" charset="-120"/>
              </a:rPr>
              <a:t>One mid-market submission, so you can see the decision rather than the extract.</a:t>
            </a:r>
            <a:endParaRPr lang="en-US" sz="1200" dirty="0"/>
          </a:p>
        </p:txBody>
      </p:sp>
      <p:sp>
        <p:nvSpPr>
          <p:cNvPr id="8" name="Shape 5"/>
          <p:cNvSpPr/>
          <p:nvPr/>
        </p:nvSpPr>
        <p:spPr>
          <a:xfrm>
            <a:off x="203150" y="2673995"/>
            <a:ext cx="2387650" cy="0"/>
          </a:xfrm>
          <a:prstGeom prst="line">
            <a:avLst/>
          </a:prstGeom>
          <a:noFill/>
          <a:ln w="9525">
            <a:solidFill>
              <a:srgbClr val="E2E2E2"/>
            </a:solidFill>
            <a:prstDash val="solid"/>
          </a:ln>
        </p:spPr>
      </p:sp>
      <p:sp>
        <p:nvSpPr>
          <p:cNvPr id="9" name="Text 6"/>
          <p:cNvSpPr/>
          <p:nvPr/>
        </p:nvSpPr>
        <p:spPr>
          <a:xfrm>
            <a:off x="203150" y="2780258"/>
            <a:ext cx="2435403" cy="152400"/>
          </a:xfrm>
          <a:prstGeom prst="rect">
            <a:avLst/>
          </a:prstGeom>
          <a:noFill/>
          <a:ln/>
        </p:spPr>
        <p:txBody>
          <a:bodyPr wrap="square" lIns="0" tIns="0" rIns="0" bIns="0" rtlCol="0" anchor="t"/>
          <a:lstStyle/>
          <a:p>
            <a:pPr algn="l" indent="0" marL="0">
              <a:buNone/>
            </a:pPr>
            <a:r>
              <a:rPr lang="en-US" sz="1100" b="1" dirty="0">
                <a:solidFill>
                  <a:srgbClr val="2A2A2A"/>
                </a:solidFill>
                <a:latin typeface="Arial" pitchFamily="34" charset="0"/>
                <a:ea typeface="Arial" pitchFamily="34" charset="-122"/>
                <a:cs typeface="Arial" pitchFamily="34" charset="-120"/>
              </a:rPr>
              <a:t>IN THE FILE</a:t>
            </a:r>
            <a:endParaRPr lang="en-US" sz="1100" dirty="0"/>
          </a:p>
        </p:txBody>
      </p:sp>
      <p:sp>
        <p:nvSpPr>
          <p:cNvPr id="10" name="Text 7"/>
          <p:cNvSpPr/>
          <p:nvPr/>
        </p:nvSpPr>
        <p:spPr>
          <a:xfrm>
            <a:off x="203150" y="2983409"/>
            <a:ext cx="2435403" cy="171450"/>
          </a:xfrm>
          <a:prstGeom prst="rect">
            <a:avLst/>
          </a:prstGeom>
          <a:noFill/>
          <a:ln/>
        </p:spPr>
        <p:txBody>
          <a:bodyPr wrap="square" lIns="0" tIns="0" rIns="0" bIns="0" rtlCol="0" anchor="t"/>
          <a:lstStyle/>
          <a:p>
            <a:pPr algn="l" indent="0" marL="0">
              <a:spcBef>
                <a:spcPts val="400"/>
              </a:spcBef>
              <a:buNone/>
            </a:pPr>
            <a:r>
              <a:rPr lang="en-US" sz="1200" dirty="0">
                <a:solidFill>
                  <a:srgbClr val="2A2A2A"/>
                </a:solidFill>
                <a:latin typeface="Arial" pitchFamily="34" charset="0"/>
                <a:ea typeface="Arial" pitchFamily="34" charset="-122"/>
                <a:cs typeface="Arial" pitchFamily="34" charset="-120"/>
              </a:rPr>
              <a:t>Application</a:t>
            </a:r>
            <a:endParaRPr lang="en-US" sz="1200" dirty="0"/>
          </a:p>
        </p:txBody>
      </p:sp>
      <p:sp>
        <p:nvSpPr>
          <p:cNvPr id="11" name="Text 8"/>
          <p:cNvSpPr/>
          <p:nvPr/>
        </p:nvSpPr>
        <p:spPr>
          <a:xfrm>
            <a:off x="203150" y="3180159"/>
            <a:ext cx="2435403" cy="171450"/>
          </a:xfrm>
          <a:prstGeom prst="rect">
            <a:avLst/>
          </a:prstGeom>
          <a:noFill/>
          <a:ln/>
        </p:spPr>
        <p:txBody>
          <a:bodyPr wrap="square" lIns="0" tIns="0" rIns="0" bIns="0" rtlCol="0" anchor="t"/>
          <a:lstStyle/>
          <a:p>
            <a:pPr algn="l" indent="0" marL="0">
              <a:spcBef>
                <a:spcPts val="200"/>
              </a:spcBef>
              <a:buNone/>
            </a:pPr>
            <a:r>
              <a:rPr lang="en-US" sz="1200" dirty="0">
                <a:solidFill>
                  <a:srgbClr val="2A2A2A"/>
                </a:solidFill>
                <a:latin typeface="Arial" pitchFamily="34" charset="0"/>
                <a:ea typeface="Arial" pitchFamily="34" charset="-122"/>
                <a:cs typeface="Arial" pitchFamily="34" charset="-120"/>
              </a:rPr>
              <a:t>Security questionnaire</a:t>
            </a:r>
            <a:endParaRPr lang="en-US" sz="1200" dirty="0"/>
          </a:p>
        </p:txBody>
      </p:sp>
      <p:sp>
        <p:nvSpPr>
          <p:cNvPr id="12" name="Text 9"/>
          <p:cNvSpPr/>
          <p:nvPr/>
        </p:nvSpPr>
        <p:spPr>
          <a:xfrm>
            <a:off x="203150" y="3376910"/>
            <a:ext cx="2435403" cy="171450"/>
          </a:xfrm>
          <a:prstGeom prst="rect">
            <a:avLst/>
          </a:prstGeom>
          <a:noFill/>
          <a:ln/>
        </p:spPr>
        <p:txBody>
          <a:bodyPr wrap="square" lIns="0" tIns="0" rIns="0" bIns="0" rtlCol="0" anchor="t"/>
          <a:lstStyle/>
          <a:p>
            <a:pPr algn="l" indent="0" marL="0">
              <a:spcBef>
                <a:spcPts val="200"/>
              </a:spcBef>
              <a:buNone/>
            </a:pPr>
            <a:r>
              <a:rPr lang="en-US" sz="1200" dirty="0">
                <a:solidFill>
                  <a:srgbClr val="2A2A2A"/>
                </a:solidFill>
                <a:latin typeface="Arial" pitchFamily="34" charset="0"/>
                <a:ea typeface="Arial" pitchFamily="34" charset="-122"/>
                <a:cs typeface="Arial" pitchFamily="34" charset="-120"/>
              </a:rPr>
              <a:t>Incident-response plan</a:t>
            </a:r>
            <a:endParaRPr lang="en-US" sz="1200" dirty="0"/>
          </a:p>
        </p:txBody>
      </p:sp>
      <p:sp>
        <p:nvSpPr>
          <p:cNvPr id="13" name="Text 10"/>
          <p:cNvSpPr/>
          <p:nvPr/>
        </p:nvSpPr>
        <p:spPr>
          <a:xfrm>
            <a:off x="203150" y="4563219"/>
            <a:ext cx="2435403" cy="377130"/>
          </a:xfrm>
          <a:prstGeom prst="rect">
            <a:avLst/>
          </a:prstGeom>
          <a:noFill/>
          <a:ln/>
        </p:spPr>
        <p:txBody>
          <a:bodyPr wrap="square" lIns="0" tIns="0" rIns="0" bIns="0" rtlCol="0" anchor="t"/>
          <a:lstStyle/>
          <a:p>
            <a:pPr algn="l" indent="0" marL="0">
              <a:lnSpc>
                <a:spcPts val="1485"/>
              </a:lnSpc>
              <a:buNone/>
            </a:pPr>
            <a:r>
              <a:rPr lang="en-US" sz="1100" dirty="0">
                <a:solidFill>
                  <a:srgbClr val="2A2A2A"/>
                </a:solidFill>
                <a:latin typeface="Arial" pitchFamily="34" charset="0"/>
                <a:ea typeface="Arial" pitchFamily="34" charset="-122"/>
                <a:cs typeface="Arial" pitchFamily="34" charset="-120"/>
              </a:rPr>
              <a:t>Next, the same path on a redacted file from your desk.</a:t>
            </a:r>
            <a:endParaRPr lang="en-US" sz="1100" dirty="0"/>
          </a:p>
        </p:txBody>
      </p:sp>
      <p:sp>
        <p:nvSpPr>
          <p:cNvPr id="14" name="Text 11"/>
          <p:cNvSpPr/>
          <p:nvPr/>
        </p:nvSpPr>
        <p:spPr>
          <a:xfrm>
            <a:off x="2793950" y="0"/>
            <a:ext cx="38100" cy="5143500"/>
          </a:xfrm>
          <a:prstGeom prst="rect">
            <a:avLst/>
          </a:prstGeom>
          <a:solidFill>
            <a:srgbClr val="D0372C"/>
          </a:solidFill>
          <a:ln/>
        </p:spPr>
        <p:txBody>
          <a:bodyPr wrap="square" rtlCol="0" anchor="ctr"/>
          <a:lstStyle/>
          <a:p>
            <a:pPr indent="0" marL="0">
              <a:buNone/>
            </a:pPr>
            <a:endParaRPr lang="en-US" dirty="0"/>
          </a:p>
        </p:txBody>
      </p:sp>
      <p:sp>
        <p:nvSpPr>
          <p:cNvPr id="15" name="Text 12"/>
          <p:cNvSpPr/>
          <p:nvPr/>
        </p:nvSpPr>
        <p:spPr>
          <a:xfrm>
            <a:off x="2832050" y="0"/>
            <a:ext cx="6311950" cy="5143500"/>
          </a:xfrm>
          <a:prstGeom prst="rect">
            <a:avLst/>
          </a:prstGeom>
          <a:solidFill>
            <a:srgbClr val="FFFFFF"/>
          </a:solidFill>
          <a:ln/>
        </p:spPr>
        <p:txBody>
          <a:bodyPr wrap="square" rtlCol="0" anchor="ctr"/>
          <a:lstStyle/>
          <a:p>
            <a:pPr indent="0" marL="0">
              <a:buNone/>
            </a:pPr>
            <a:endParaRPr lang="en-US" dirty="0"/>
          </a:p>
        </p:txBody>
      </p:sp>
      <p:sp>
        <p:nvSpPr>
          <p:cNvPr id="16" name="Shape 13"/>
          <p:cNvSpPr/>
          <p:nvPr/>
        </p:nvSpPr>
        <p:spPr>
          <a:xfrm>
            <a:off x="3035201" y="909489"/>
            <a:ext cx="5880199" cy="0"/>
          </a:xfrm>
          <a:prstGeom prst="line">
            <a:avLst/>
          </a:prstGeom>
          <a:noFill/>
          <a:ln w="9525">
            <a:solidFill>
              <a:srgbClr val="E2E2E2"/>
            </a:solidFill>
            <a:prstDash val="solid"/>
          </a:ln>
        </p:spPr>
      </p:sp>
      <p:sp>
        <p:nvSpPr>
          <p:cNvPr id="17" name="Text 14"/>
          <p:cNvSpPr/>
          <p:nvPr/>
        </p:nvSpPr>
        <p:spPr>
          <a:xfrm>
            <a:off x="3035201" y="279202"/>
            <a:ext cx="362661" cy="257175"/>
          </a:xfrm>
          <a:prstGeom prst="rect">
            <a:avLst/>
          </a:prstGeom>
          <a:noFill/>
          <a:ln/>
        </p:spPr>
        <p:txBody>
          <a:bodyPr wrap="square" lIns="0" tIns="0" rIns="0" bIns="0" rtlCol="0" anchor="t"/>
          <a:lstStyle/>
          <a:p>
            <a:pPr algn="l" indent="0" marL="0">
              <a:buNone/>
            </a:pPr>
            <a:r>
              <a:rPr lang="en-US" sz="1800" dirty="0">
                <a:solidFill>
                  <a:srgbClr val="D0372C"/>
                </a:solidFill>
                <a:latin typeface="Georgia" pitchFamily="34" charset="0"/>
                <a:ea typeface="Georgia" pitchFamily="34" charset="-122"/>
                <a:cs typeface="Georgia" pitchFamily="34" charset="-120"/>
              </a:rPr>
              <a:t>1</a:t>
            </a:r>
            <a:endParaRPr lang="en-US" sz="1800" dirty="0"/>
          </a:p>
        </p:txBody>
      </p:sp>
      <p:sp>
        <p:nvSpPr>
          <p:cNvPr id="18" name="Text 15"/>
          <p:cNvSpPr/>
          <p:nvPr/>
        </p:nvSpPr>
        <p:spPr>
          <a:xfrm>
            <a:off x="3390751" y="279202"/>
            <a:ext cx="5635142" cy="209550"/>
          </a:xfrm>
          <a:prstGeom prst="rect">
            <a:avLst/>
          </a:prstGeom>
          <a:noFill/>
          <a:ln/>
        </p:spPr>
        <p:txBody>
          <a:bodyPr wrap="square" lIns="0" tIns="0" rIns="0" bIns="0" rtlCol="0" anchor="t"/>
          <a:lstStyle/>
          <a:p>
            <a:pPr algn="l" indent="0" marL="0">
              <a:buNone/>
            </a:pPr>
            <a:r>
              <a:rPr lang="en-US" sz="1400" b="1" dirty="0">
                <a:solidFill>
                  <a:srgbClr val="2A2A2A"/>
                </a:solidFill>
                <a:latin typeface="Arial" pitchFamily="34" charset="0"/>
                <a:ea typeface="Arial" pitchFamily="34" charset="-122"/>
                <a:cs typeface="Arial" pitchFamily="34" charset="-120"/>
              </a:rPr>
              <a:t>In</a:t>
            </a:r>
            <a:endParaRPr lang="en-US" sz="1400" dirty="0"/>
          </a:p>
        </p:txBody>
      </p:sp>
      <p:sp>
        <p:nvSpPr>
          <p:cNvPr id="19" name="Text 16"/>
          <p:cNvSpPr/>
          <p:nvPr/>
        </p:nvSpPr>
        <p:spPr>
          <a:xfrm>
            <a:off x="3390751" y="514052"/>
            <a:ext cx="5635142" cy="171450"/>
          </a:xfrm>
          <a:prstGeom prst="rect">
            <a:avLst/>
          </a:prstGeom>
          <a:noFill/>
          <a:ln/>
        </p:spPr>
        <p:txBody>
          <a:bodyPr wrap="square" lIns="0" tIns="0" rIns="0" bIns="0" rtlCol="0" anchor="t"/>
          <a:lstStyle/>
          <a:p>
            <a:pPr algn="l" indent="0" marL="0">
              <a:spcBef>
                <a:spcPts val="200"/>
              </a:spcBef>
              <a:buNone/>
            </a:pPr>
            <a:r>
              <a:rPr lang="en-US" sz="1200" dirty="0">
                <a:solidFill>
                  <a:srgbClr val="5A5A5A"/>
                </a:solidFill>
                <a:latin typeface="Arial" pitchFamily="34" charset="0"/>
                <a:ea typeface="Arial" pitchFamily="34" charset="-122"/>
                <a:cs typeface="Arial" pitchFamily="34" charset="-120"/>
              </a:rPr>
              <a:t>Three documents become one record.</a:t>
            </a:r>
            <a:endParaRPr lang="en-US" sz="1200" dirty="0"/>
          </a:p>
        </p:txBody>
      </p:sp>
      <p:sp>
        <p:nvSpPr>
          <p:cNvPr id="20" name="Shape 17"/>
          <p:cNvSpPr/>
          <p:nvPr/>
        </p:nvSpPr>
        <p:spPr>
          <a:xfrm>
            <a:off x="3035201" y="1646039"/>
            <a:ext cx="5880199" cy="0"/>
          </a:xfrm>
          <a:prstGeom prst="line">
            <a:avLst/>
          </a:prstGeom>
          <a:noFill/>
          <a:ln w="9525">
            <a:solidFill>
              <a:srgbClr val="E2E2E2"/>
            </a:solidFill>
            <a:prstDash val="solid"/>
          </a:ln>
        </p:spPr>
      </p:sp>
      <p:sp>
        <p:nvSpPr>
          <p:cNvPr id="21" name="Text 18"/>
          <p:cNvSpPr/>
          <p:nvPr/>
        </p:nvSpPr>
        <p:spPr>
          <a:xfrm>
            <a:off x="3035201" y="1015752"/>
            <a:ext cx="362661" cy="257175"/>
          </a:xfrm>
          <a:prstGeom prst="rect">
            <a:avLst/>
          </a:prstGeom>
          <a:noFill/>
          <a:ln/>
        </p:spPr>
        <p:txBody>
          <a:bodyPr wrap="square" lIns="0" tIns="0" rIns="0" bIns="0" rtlCol="0" anchor="t"/>
          <a:lstStyle/>
          <a:p>
            <a:pPr algn="l" indent="0" marL="0">
              <a:buNone/>
            </a:pPr>
            <a:r>
              <a:rPr lang="en-US" sz="1800" dirty="0">
                <a:solidFill>
                  <a:srgbClr val="D0372C"/>
                </a:solidFill>
                <a:latin typeface="Georgia" pitchFamily="34" charset="0"/>
                <a:ea typeface="Georgia" pitchFamily="34" charset="-122"/>
                <a:cs typeface="Georgia" pitchFamily="34" charset="-120"/>
              </a:rPr>
              <a:t>2</a:t>
            </a:r>
            <a:endParaRPr lang="en-US" sz="1800" dirty="0"/>
          </a:p>
        </p:txBody>
      </p:sp>
      <p:sp>
        <p:nvSpPr>
          <p:cNvPr id="22" name="Text 19"/>
          <p:cNvSpPr/>
          <p:nvPr/>
        </p:nvSpPr>
        <p:spPr>
          <a:xfrm>
            <a:off x="3390751" y="1015752"/>
            <a:ext cx="5635142" cy="209550"/>
          </a:xfrm>
          <a:prstGeom prst="rect">
            <a:avLst/>
          </a:prstGeom>
          <a:noFill/>
          <a:ln/>
        </p:spPr>
        <p:txBody>
          <a:bodyPr wrap="square" lIns="0" tIns="0" rIns="0" bIns="0" rtlCol="0" anchor="t"/>
          <a:lstStyle/>
          <a:p>
            <a:pPr algn="l" indent="0" marL="0">
              <a:buNone/>
            </a:pPr>
            <a:r>
              <a:rPr lang="en-US" sz="1400" b="1" dirty="0">
                <a:solidFill>
                  <a:srgbClr val="2A2A2A"/>
                </a:solidFill>
                <a:latin typeface="Arial" pitchFamily="34" charset="0"/>
                <a:ea typeface="Arial" pitchFamily="34" charset="-122"/>
                <a:cs typeface="Arial" pitchFamily="34" charset="-120"/>
              </a:rPr>
              <a:t>Check</a:t>
            </a:r>
            <a:endParaRPr lang="en-US" sz="1400" dirty="0"/>
          </a:p>
        </p:txBody>
      </p:sp>
      <p:sp>
        <p:nvSpPr>
          <p:cNvPr id="23" name="Text 20"/>
          <p:cNvSpPr/>
          <p:nvPr/>
        </p:nvSpPr>
        <p:spPr>
          <a:xfrm>
            <a:off x="3390751" y="1250603"/>
            <a:ext cx="5635142" cy="171450"/>
          </a:xfrm>
          <a:prstGeom prst="rect">
            <a:avLst/>
          </a:prstGeom>
          <a:noFill/>
          <a:ln/>
        </p:spPr>
        <p:txBody>
          <a:bodyPr wrap="square" lIns="0" tIns="0" rIns="0" bIns="0" rtlCol="0" anchor="t"/>
          <a:lstStyle/>
          <a:p>
            <a:pPr algn="l" indent="0" marL="0">
              <a:spcBef>
                <a:spcPts val="200"/>
              </a:spcBef>
              <a:buNone/>
            </a:pPr>
            <a:r>
              <a:rPr lang="en-US" sz="1200" dirty="0">
                <a:solidFill>
                  <a:srgbClr val="5A5A5A"/>
                </a:solidFill>
                <a:latin typeface="Arial" pitchFamily="34" charset="0"/>
                <a:ea typeface="Arial" pitchFamily="34" charset="-122"/>
                <a:cs typeface="Arial" pitchFamily="34" charset="-120"/>
              </a:rPr>
              <a:t>Extracted controls are held against the page.</a:t>
            </a:r>
            <a:endParaRPr lang="en-US" sz="1200" dirty="0"/>
          </a:p>
        </p:txBody>
      </p:sp>
      <p:sp>
        <p:nvSpPr>
          <p:cNvPr id="24" name="Shape 21"/>
          <p:cNvSpPr/>
          <p:nvPr/>
        </p:nvSpPr>
        <p:spPr>
          <a:xfrm>
            <a:off x="3035201" y="2382589"/>
            <a:ext cx="5880199" cy="0"/>
          </a:xfrm>
          <a:prstGeom prst="line">
            <a:avLst/>
          </a:prstGeom>
          <a:noFill/>
          <a:ln w="9525">
            <a:solidFill>
              <a:srgbClr val="E2E2E2"/>
            </a:solidFill>
            <a:prstDash val="solid"/>
          </a:ln>
        </p:spPr>
      </p:sp>
      <p:sp>
        <p:nvSpPr>
          <p:cNvPr id="25" name="Text 22"/>
          <p:cNvSpPr/>
          <p:nvPr/>
        </p:nvSpPr>
        <p:spPr>
          <a:xfrm>
            <a:off x="3035201" y="1752302"/>
            <a:ext cx="362661" cy="257175"/>
          </a:xfrm>
          <a:prstGeom prst="rect">
            <a:avLst/>
          </a:prstGeom>
          <a:noFill/>
          <a:ln/>
        </p:spPr>
        <p:txBody>
          <a:bodyPr wrap="square" lIns="0" tIns="0" rIns="0" bIns="0" rtlCol="0" anchor="t"/>
          <a:lstStyle/>
          <a:p>
            <a:pPr algn="l" indent="0" marL="0">
              <a:buNone/>
            </a:pPr>
            <a:r>
              <a:rPr lang="en-US" sz="1800" dirty="0">
                <a:solidFill>
                  <a:srgbClr val="D0372C"/>
                </a:solidFill>
                <a:latin typeface="Georgia" pitchFamily="34" charset="0"/>
                <a:ea typeface="Georgia" pitchFamily="34" charset="-122"/>
                <a:cs typeface="Georgia" pitchFamily="34" charset="-120"/>
              </a:rPr>
              <a:t>3</a:t>
            </a:r>
            <a:endParaRPr lang="en-US" sz="1800" dirty="0"/>
          </a:p>
        </p:txBody>
      </p:sp>
      <p:sp>
        <p:nvSpPr>
          <p:cNvPr id="26" name="Text 23"/>
          <p:cNvSpPr/>
          <p:nvPr/>
        </p:nvSpPr>
        <p:spPr>
          <a:xfrm>
            <a:off x="3390751" y="1752302"/>
            <a:ext cx="5635142" cy="209550"/>
          </a:xfrm>
          <a:prstGeom prst="rect">
            <a:avLst/>
          </a:prstGeom>
          <a:noFill/>
          <a:ln/>
        </p:spPr>
        <p:txBody>
          <a:bodyPr wrap="square" lIns="0" tIns="0" rIns="0" bIns="0" rtlCol="0" anchor="t"/>
          <a:lstStyle/>
          <a:p>
            <a:pPr algn="l" indent="0" marL="0">
              <a:buNone/>
            </a:pPr>
            <a:r>
              <a:rPr lang="en-US" sz="1400" b="1" dirty="0">
                <a:solidFill>
                  <a:srgbClr val="2A2A2A"/>
                </a:solidFill>
                <a:latin typeface="Arial" pitchFamily="34" charset="0"/>
                <a:ea typeface="Arial" pitchFamily="34" charset="-122"/>
                <a:cs typeface="Arial" pitchFamily="34" charset="-120"/>
              </a:rPr>
              <a:t>Gap</a:t>
            </a:r>
            <a:endParaRPr lang="en-US" sz="1400" dirty="0"/>
          </a:p>
        </p:txBody>
      </p:sp>
      <p:sp>
        <p:nvSpPr>
          <p:cNvPr id="27" name="Text 24"/>
          <p:cNvSpPr/>
          <p:nvPr/>
        </p:nvSpPr>
        <p:spPr>
          <a:xfrm>
            <a:off x="3390751" y="1987153"/>
            <a:ext cx="5635142" cy="171450"/>
          </a:xfrm>
          <a:prstGeom prst="rect">
            <a:avLst/>
          </a:prstGeom>
          <a:noFill/>
          <a:ln/>
        </p:spPr>
        <p:txBody>
          <a:bodyPr wrap="square" lIns="0" tIns="0" rIns="0" bIns="0" rtlCol="0" anchor="t"/>
          <a:lstStyle/>
          <a:p>
            <a:pPr algn="l" indent="0" marL="0">
              <a:spcBef>
                <a:spcPts val="200"/>
              </a:spcBef>
              <a:buNone/>
            </a:pPr>
            <a:r>
              <a:rPr lang="en-US" sz="1200" dirty="0">
                <a:solidFill>
                  <a:srgbClr val="5A5A5A"/>
                </a:solidFill>
                <a:latin typeface="Arial" pitchFamily="34" charset="0"/>
                <a:ea typeface="Arial" pitchFamily="34" charset="-122"/>
                <a:cs typeface="Arial" pitchFamily="34" charset="-120"/>
              </a:rPr>
              <a:t>MFA or EDR evidence is thin, or it conflicts.</a:t>
            </a:r>
            <a:endParaRPr lang="en-US" sz="1200" dirty="0"/>
          </a:p>
        </p:txBody>
      </p:sp>
      <p:sp>
        <p:nvSpPr>
          <p:cNvPr id="28" name="Shape 25"/>
          <p:cNvSpPr/>
          <p:nvPr/>
        </p:nvSpPr>
        <p:spPr>
          <a:xfrm>
            <a:off x="3035201" y="3119140"/>
            <a:ext cx="5880199" cy="0"/>
          </a:xfrm>
          <a:prstGeom prst="line">
            <a:avLst/>
          </a:prstGeom>
          <a:noFill/>
          <a:ln w="9525">
            <a:solidFill>
              <a:srgbClr val="E2E2E2"/>
            </a:solidFill>
            <a:prstDash val="solid"/>
          </a:ln>
        </p:spPr>
      </p:sp>
      <p:sp>
        <p:nvSpPr>
          <p:cNvPr id="29" name="Text 26"/>
          <p:cNvSpPr/>
          <p:nvPr/>
        </p:nvSpPr>
        <p:spPr>
          <a:xfrm>
            <a:off x="3035201" y="2488853"/>
            <a:ext cx="362661" cy="257175"/>
          </a:xfrm>
          <a:prstGeom prst="rect">
            <a:avLst/>
          </a:prstGeom>
          <a:noFill/>
          <a:ln/>
        </p:spPr>
        <p:txBody>
          <a:bodyPr wrap="square" lIns="0" tIns="0" rIns="0" bIns="0" rtlCol="0" anchor="t"/>
          <a:lstStyle/>
          <a:p>
            <a:pPr algn="l" indent="0" marL="0">
              <a:buNone/>
            </a:pPr>
            <a:r>
              <a:rPr lang="en-US" sz="1800" dirty="0">
                <a:solidFill>
                  <a:srgbClr val="D0372C"/>
                </a:solidFill>
                <a:latin typeface="Georgia" pitchFamily="34" charset="0"/>
                <a:ea typeface="Georgia" pitchFamily="34" charset="-122"/>
                <a:cs typeface="Georgia" pitchFamily="34" charset="-120"/>
              </a:rPr>
              <a:t>4</a:t>
            </a:r>
            <a:endParaRPr lang="en-US" sz="1800" dirty="0"/>
          </a:p>
        </p:txBody>
      </p:sp>
      <p:sp>
        <p:nvSpPr>
          <p:cNvPr id="30" name="Text 27"/>
          <p:cNvSpPr/>
          <p:nvPr/>
        </p:nvSpPr>
        <p:spPr>
          <a:xfrm>
            <a:off x="3390751" y="2488853"/>
            <a:ext cx="5635142" cy="209550"/>
          </a:xfrm>
          <a:prstGeom prst="rect">
            <a:avLst/>
          </a:prstGeom>
          <a:noFill/>
          <a:ln/>
        </p:spPr>
        <p:txBody>
          <a:bodyPr wrap="square" lIns="0" tIns="0" rIns="0" bIns="0" rtlCol="0" anchor="t"/>
          <a:lstStyle/>
          <a:p>
            <a:pPr algn="l" indent="0" marL="0">
              <a:buNone/>
            </a:pPr>
            <a:r>
              <a:rPr lang="en-US" sz="1400" b="1" dirty="0">
                <a:solidFill>
                  <a:srgbClr val="2A2A2A"/>
                </a:solidFill>
                <a:latin typeface="Arial" pitchFamily="34" charset="0"/>
                <a:ea typeface="Arial" pitchFamily="34" charset="-122"/>
                <a:cs typeface="Arial" pitchFamily="34" charset="-120"/>
              </a:rPr>
              <a:t>Signal</a:t>
            </a:r>
            <a:endParaRPr lang="en-US" sz="1400" dirty="0"/>
          </a:p>
        </p:txBody>
      </p:sp>
      <p:sp>
        <p:nvSpPr>
          <p:cNvPr id="31" name="Text 28"/>
          <p:cNvSpPr/>
          <p:nvPr/>
        </p:nvSpPr>
        <p:spPr>
          <a:xfrm>
            <a:off x="3390751" y="2723704"/>
            <a:ext cx="5635142" cy="171450"/>
          </a:xfrm>
          <a:prstGeom prst="rect">
            <a:avLst/>
          </a:prstGeom>
          <a:noFill/>
          <a:ln/>
        </p:spPr>
        <p:txBody>
          <a:bodyPr wrap="square" lIns="0" tIns="0" rIns="0" bIns="0" rtlCol="0" anchor="t"/>
          <a:lstStyle/>
          <a:p>
            <a:pPr algn="l" indent="0" marL="0">
              <a:spcBef>
                <a:spcPts val="200"/>
              </a:spcBef>
              <a:buNone/>
            </a:pPr>
            <a:r>
              <a:rPr lang="en-US" sz="1200" dirty="0">
                <a:solidFill>
                  <a:srgbClr val="5A5A5A"/>
                </a:solidFill>
                <a:latin typeface="Arial" pitchFamily="34" charset="0"/>
                <a:ea typeface="Arial" pitchFamily="34" charset="-122"/>
                <a:cs typeface="Arial" pitchFamily="34" charset="-120"/>
              </a:rPr>
              <a:t>An outside feed is asked, only if you have one connected.</a:t>
            </a:r>
            <a:endParaRPr lang="en-US" sz="1200" dirty="0"/>
          </a:p>
        </p:txBody>
      </p:sp>
      <p:sp>
        <p:nvSpPr>
          <p:cNvPr id="32" name="Shape 29"/>
          <p:cNvSpPr/>
          <p:nvPr/>
        </p:nvSpPr>
        <p:spPr>
          <a:xfrm>
            <a:off x="3035201" y="3855690"/>
            <a:ext cx="5880199" cy="0"/>
          </a:xfrm>
          <a:prstGeom prst="line">
            <a:avLst/>
          </a:prstGeom>
          <a:noFill/>
          <a:ln w="9525">
            <a:solidFill>
              <a:srgbClr val="E2E2E2"/>
            </a:solidFill>
            <a:prstDash val="solid"/>
          </a:ln>
        </p:spPr>
      </p:sp>
      <p:sp>
        <p:nvSpPr>
          <p:cNvPr id="33" name="Text 30"/>
          <p:cNvSpPr/>
          <p:nvPr/>
        </p:nvSpPr>
        <p:spPr>
          <a:xfrm>
            <a:off x="3035201" y="3225403"/>
            <a:ext cx="362661" cy="257175"/>
          </a:xfrm>
          <a:prstGeom prst="rect">
            <a:avLst/>
          </a:prstGeom>
          <a:noFill/>
          <a:ln/>
        </p:spPr>
        <p:txBody>
          <a:bodyPr wrap="square" lIns="0" tIns="0" rIns="0" bIns="0" rtlCol="0" anchor="t"/>
          <a:lstStyle/>
          <a:p>
            <a:pPr algn="l" indent="0" marL="0">
              <a:buNone/>
            </a:pPr>
            <a:r>
              <a:rPr lang="en-US" sz="1800" dirty="0">
                <a:solidFill>
                  <a:srgbClr val="D0372C"/>
                </a:solidFill>
                <a:latin typeface="Georgia" pitchFamily="34" charset="0"/>
                <a:ea typeface="Georgia" pitchFamily="34" charset="-122"/>
                <a:cs typeface="Georgia" pitchFamily="34" charset="-120"/>
              </a:rPr>
              <a:t>5</a:t>
            </a:r>
            <a:endParaRPr lang="en-US" sz="1800" dirty="0"/>
          </a:p>
        </p:txBody>
      </p:sp>
      <p:sp>
        <p:nvSpPr>
          <p:cNvPr id="34" name="Text 31"/>
          <p:cNvSpPr/>
          <p:nvPr/>
        </p:nvSpPr>
        <p:spPr>
          <a:xfrm>
            <a:off x="3390751" y="3225403"/>
            <a:ext cx="5635142" cy="209550"/>
          </a:xfrm>
          <a:prstGeom prst="rect">
            <a:avLst/>
          </a:prstGeom>
          <a:noFill/>
          <a:ln/>
        </p:spPr>
        <p:txBody>
          <a:bodyPr wrap="square" lIns="0" tIns="0" rIns="0" bIns="0" rtlCol="0" anchor="t"/>
          <a:lstStyle/>
          <a:p>
            <a:pPr algn="l" indent="0" marL="0">
              <a:buNone/>
            </a:pPr>
            <a:r>
              <a:rPr lang="en-US" sz="1400" b="1" dirty="0">
                <a:solidFill>
                  <a:srgbClr val="2A2A2A"/>
                </a:solidFill>
                <a:latin typeface="Arial" pitchFamily="34" charset="0"/>
                <a:ea typeface="Arial" pitchFamily="34" charset="-122"/>
                <a:cs typeface="Arial" pitchFamily="34" charset="-120"/>
              </a:rPr>
              <a:t>Person</a:t>
            </a:r>
            <a:endParaRPr lang="en-US" sz="1400" dirty="0"/>
          </a:p>
        </p:txBody>
      </p:sp>
      <p:sp>
        <p:nvSpPr>
          <p:cNvPr id="35" name="Text 32"/>
          <p:cNvSpPr/>
          <p:nvPr/>
        </p:nvSpPr>
        <p:spPr>
          <a:xfrm>
            <a:off x="3390751" y="3460254"/>
            <a:ext cx="5635142" cy="171450"/>
          </a:xfrm>
          <a:prstGeom prst="rect">
            <a:avLst/>
          </a:prstGeom>
          <a:noFill/>
          <a:ln/>
        </p:spPr>
        <p:txBody>
          <a:bodyPr wrap="square" lIns="0" tIns="0" rIns="0" bIns="0" rtlCol="0" anchor="t"/>
          <a:lstStyle/>
          <a:p>
            <a:pPr algn="l" indent="0" marL="0">
              <a:spcBef>
                <a:spcPts val="200"/>
              </a:spcBef>
              <a:buNone/>
            </a:pPr>
            <a:r>
              <a:rPr lang="en-US" sz="1200" dirty="0">
                <a:solidFill>
                  <a:srgbClr val="5A5A5A"/>
                </a:solidFill>
                <a:latin typeface="Arial" pitchFamily="34" charset="0"/>
                <a:ea typeface="Arial" pitchFamily="34" charset="-122"/>
                <a:cs typeface="Arial" pitchFamily="34" charset="-120"/>
              </a:rPr>
              <a:t>The dossier is ready. Someone refers, or asks.</a:t>
            </a:r>
            <a:endParaRPr lang="en-US" sz="1200" dirty="0"/>
          </a:p>
        </p:txBody>
      </p:sp>
      <p:sp>
        <p:nvSpPr>
          <p:cNvPr id="36" name="Text 33"/>
          <p:cNvSpPr/>
          <p:nvPr/>
        </p:nvSpPr>
        <p:spPr>
          <a:xfrm>
            <a:off x="8788152" y="4883200"/>
            <a:ext cx="129793"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406301"/>
          </a:xfrm>
          <a:prstGeom prst="rect">
            <a:avLst/>
          </a:prstGeom>
          <a:solidFill>
            <a:srgbClr val="FFFFFF"/>
          </a:solidFill>
          <a:ln/>
        </p:spPr>
        <p:txBody>
          <a:bodyPr wrap="square" rtlCol="0" anchor="ctr"/>
          <a:lstStyle/>
          <a:p>
            <a:pPr indent="0" marL="0">
              <a:buNone/>
            </a:pPr>
            <a:endParaRPr lang="en-US" dirty="0"/>
          </a:p>
        </p:txBody>
      </p:sp>
      <p:pic>
        <p:nvPicPr>
          <p:cNvPr id="3" name="Image 0" descr="/Users/chandansharma/Documents/cyber-uw/docs/client/deck/slides/birlasoft-logo-on-white.png">    </p:cNvPr>
          <p:cNvPicPr>
            <a:picLocks noChangeAspect="1"/>
          </p:cNvPicPr>
          <p:nvPr/>
        </p:nvPicPr>
        <p:blipFill>
          <a:blip r:embed="rId1"/>
          <a:stretch>
            <a:fillRect/>
          </a:stretch>
        </p:blipFill>
        <p:spPr>
          <a:xfrm>
            <a:off x="330101" y="95101"/>
            <a:ext cx="990600" cy="279350"/>
          </a:xfrm>
          <a:prstGeom prst="rect">
            <a:avLst/>
          </a:prstGeom>
        </p:spPr>
      </p:pic>
      <p:sp>
        <p:nvSpPr>
          <p:cNvPr id="4" name="Text 1"/>
          <p:cNvSpPr/>
          <p:nvPr/>
        </p:nvSpPr>
        <p:spPr>
          <a:xfrm>
            <a:off x="8080028" y="163413"/>
            <a:ext cx="748549" cy="142875"/>
          </a:xfrm>
          <a:prstGeom prst="rect">
            <a:avLst/>
          </a:prstGeom>
          <a:noFill/>
          <a:ln/>
        </p:spPr>
        <p:txBody>
          <a:bodyPr wrap="square" lIns="0" tIns="0" rIns="0" bIns="0" rtlCol="0" anchor="t"/>
          <a:lstStyle/>
          <a:p>
            <a:pPr algn="l" indent="0" marL="0">
              <a:buNone/>
            </a:pPr>
            <a:r>
              <a:rPr lang="en-US" sz="1000" dirty="0">
                <a:solidFill>
                  <a:srgbClr val="5A5A5A"/>
                </a:solidFill>
                <a:latin typeface="Arial" pitchFamily="34" charset="0"/>
                <a:ea typeface="Arial" pitchFamily="34" charset="-122"/>
                <a:cs typeface="Arial" pitchFamily="34" charset="-120"/>
              </a:rPr>
              <a:t>How we start</a:t>
            </a:r>
            <a:endParaRPr lang="en-US" sz="1000" dirty="0"/>
          </a:p>
        </p:txBody>
      </p:sp>
      <p:sp>
        <p:nvSpPr>
          <p:cNvPr id="5" name="Text 2"/>
          <p:cNvSpPr/>
          <p:nvPr/>
        </p:nvSpPr>
        <p:spPr>
          <a:xfrm>
            <a:off x="0" y="406301"/>
            <a:ext cx="9144000" cy="38100"/>
          </a:xfrm>
          <a:prstGeom prst="rect">
            <a:avLst/>
          </a:prstGeom>
          <a:solidFill>
            <a:srgbClr val="D0372C"/>
          </a:solidFill>
          <a:ln/>
        </p:spPr>
        <p:txBody>
          <a:bodyPr wrap="square" rtlCol="0" anchor="ctr"/>
          <a:lstStyle/>
          <a:p>
            <a:pPr indent="0" marL="0">
              <a:buNone/>
            </a:pPr>
            <a:endParaRPr lang="en-US" dirty="0"/>
          </a:p>
        </p:txBody>
      </p:sp>
      <p:sp>
        <p:nvSpPr>
          <p:cNvPr id="6" name="Text 3"/>
          <p:cNvSpPr/>
          <p:nvPr/>
        </p:nvSpPr>
        <p:spPr>
          <a:xfrm>
            <a:off x="330101" y="596801"/>
            <a:ext cx="8653474" cy="142875"/>
          </a:xfrm>
          <a:prstGeom prst="rect">
            <a:avLst/>
          </a:prstGeom>
          <a:noFill/>
          <a:ln/>
        </p:spPr>
        <p:txBody>
          <a:bodyPr wrap="square" lIns="0" tIns="0" rIns="0" bIns="0" rtlCol="0" anchor="t"/>
          <a:lstStyle/>
          <a:p>
            <a:pPr algn="l" indent="0" marL="0">
              <a:buNone/>
            </a:pPr>
            <a:r>
              <a:rPr lang="en-US" sz="1000" b="1" dirty="0">
                <a:solidFill>
                  <a:srgbClr val="D0372C"/>
                </a:solidFill>
                <a:latin typeface="Arial" pitchFamily="34" charset="0"/>
                <a:ea typeface="Arial" pitchFamily="34" charset="-122"/>
                <a:cs typeface="Arial" pitchFamily="34" charset="-120"/>
              </a:rPr>
              <a:t>DELIVERY</a:t>
            </a:r>
            <a:endParaRPr lang="en-US" sz="1000" dirty="0"/>
          </a:p>
        </p:txBody>
      </p:sp>
      <p:sp>
        <p:nvSpPr>
          <p:cNvPr id="7" name="Text 4"/>
          <p:cNvSpPr/>
          <p:nvPr/>
        </p:nvSpPr>
        <p:spPr>
          <a:xfrm>
            <a:off x="330101" y="790426"/>
            <a:ext cx="8653474" cy="312837"/>
          </a:xfrm>
          <a:prstGeom prst="rect">
            <a:avLst/>
          </a:prstGeom>
          <a:noFill/>
          <a:ln/>
        </p:spPr>
        <p:txBody>
          <a:bodyPr wrap="square" lIns="0" tIns="0" rIns="0" bIns="0" rtlCol="0" anchor="t"/>
          <a:lstStyle/>
          <a:p>
            <a:pPr algn="l" indent="0" marL="0">
              <a:lnSpc>
                <a:spcPts val="2464"/>
              </a:lnSpc>
              <a:spcBef>
                <a:spcPts val="400"/>
              </a:spcBef>
              <a:buNone/>
            </a:pPr>
            <a:r>
              <a:rPr lang="en-US" sz="2200" dirty="0">
                <a:solidFill>
                  <a:srgbClr val="2A2A2A"/>
                </a:solidFill>
                <a:latin typeface="Georgia" pitchFamily="34" charset="0"/>
                <a:ea typeface="Georgia" pitchFamily="34" charset="-122"/>
                <a:cs typeface="Georgia" pitchFamily="34" charset="-120"/>
              </a:rPr>
              <a:t>Control first. Then a number. Then a connection.</a:t>
            </a:r>
            <a:endParaRPr lang="en-US" sz="2200" dirty="0"/>
          </a:p>
        </p:txBody>
      </p:sp>
      <p:sp>
        <p:nvSpPr>
          <p:cNvPr id="8" name="Text 5"/>
          <p:cNvSpPr/>
          <p:nvPr/>
        </p:nvSpPr>
        <p:spPr>
          <a:xfrm>
            <a:off x="330101" y="1154013"/>
            <a:ext cx="8653474" cy="198090"/>
          </a:xfrm>
          <a:prstGeom prst="rect">
            <a:avLst/>
          </a:prstGeom>
          <a:noFill/>
          <a:ln/>
        </p:spPr>
        <p:txBody>
          <a:bodyPr wrap="square" lIns="0" tIns="0" rIns="0" bIns="0" rtlCol="0" anchor="t"/>
          <a:lstStyle/>
          <a:p>
            <a:pPr algn="l" indent="0" marL="0">
              <a:lnSpc>
                <a:spcPts val="1560"/>
              </a:lnSpc>
              <a:spcBef>
                <a:spcPts val="400"/>
              </a:spcBef>
              <a:buNone/>
            </a:pPr>
            <a:r>
              <a:rPr lang="en-US" sz="1200" dirty="0">
                <a:solidFill>
                  <a:srgbClr val="5A5A5A"/>
                </a:solidFill>
                <a:latin typeface="Arial" pitchFamily="34" charset="0"/>
                <a:ea typeface="Arial" pitchFamily="34" charset="-122"/>
                <a:cs typeface="Arial" pitchFamily="34" charset="-120"/>
              </a:rPr>
              <a:t>A pilot that wires everything on day one never produces a figure you can trust.</a:t>
            </a:r>
            <a:endParaRPr lang="en-US" sz="1200" dirty="0"/>
          </a:p>
        </p:txBody>
      </p:sp>
      <p:sp>
        <p:nvSpPr>
          <p:cNvPr id="9" name="Text 6"/>
          <p:cNvSpPr/>
          <p:nvPr/>
        </p:nvSpPr>
        <p:spPr>
          <a:xfrm>
            <a:off x="330101" y="3111698"/>
            <a:ext cx="2044750" cy="1625501"/>
          </a:xfrm>
          <a:prstGeom prst="rect">
            <a:avLst/>
          </a:prstGeom>
          <a:solidFill>
            <a:srgbClr val="F0F0F0"/>
          </a:solidFill>
          <a:ln/>
        </p:spPr>
        <p:txBody>
          <a:bodyPr wrap="square" rtlCol="0" anchor="ctr"/>
          <a:lstStyle/>
          <a:p>
            <a:pPr indent="0" marL="0">
              <a:buNone/>
            </a:pPr>
            <a:endParaRPr lang="en-US" dirty="0"/>
          </a:p>
        </p:txBody>
      </p:sp>
      <p:sp>
        <p:nvSpPr>
          <p:cNvPr id="10" name="Text 7"/>
          <p:cNvSpPr/>
          <p:nvPr/>
        </p:nvSpPr>
        <p:spPr>
          <a:xfrm>
            <a:off x="457051" y="3238649"/>
            <a:ext cx="1826666" cy="152400"/>
          </a:xfrm>
          <a:prstGeom prst="rect">
            <a:avLst/>
          </a:prstGeom>
          <a:noFill/>
          <a:ln/>
        </p:spPr>
        <p:txBody>
          <a:bodyPr wrap="square" lIns="0" tIns="0" rIns="0" bIns="0" rtlCol="0" anchor="t"/>
          <a:lstStyle/>
          <a:p>
            <a:pPr algn="l" indent="0" marL="0">
              <a:buNone/>
            </a:pPr>
            <a:r>
              <a:rPr lang="en-US" sz="1100" b="1" dirty="0">
                <a:solidFill>
                  <a:srgbClr val="D0372C"/>
                </a:solidFill>
                <a:latin typeface="Arial" pitchFamily="34" charset="0"/>
                <a:ea typeface="Arial" pitchFamily="34" charset="-122"/>
                <a:cs typeface="Arial" pitchFamily="34" charset="-120"/>
              </a:rPr>
              <a:t>01</a:t>
            </a:r>
            <a:endParaRPr lang="en-US" sz="1100" dirty="0"/>
          </a:p>
        </p:txBody>
      </p:sp>
      <p:sp>
        <p:nvSpPr>
          <p:cNvPr id="11" name="Text 8"/>
          <p:cNvSpPr/>
          <p:nvPr/>
        </p:nvSpPr>
        <p:spPr>
          <a:xfrm>
            <a:off x="457051" y="3441799"/>
            <a:ext cx="1826666" cy="238125"/>
          </a:xfrm>
          <a:prstGeom prst="rect">
            <a:avLst/>
          </a:prstGeom>
          <a:noFill/>
          <a:ln/>
        </p:spPr>
        <p:txBody>
          <a:bodyPr wrap="square" lIns="0" tIns="0" rIns="0" bIns="0" rtlCol="0" anchor="t"/>
          <a:lstStyle/>
          <a:p>
            <a:pPr algn="l" indent="0" marL="0">
              <a:spcBef>
                <a:spcPts val="400"/>
              </a:spcBef>
              <a:buNone/>
            </a:pPr>
            <a:r>
              <a:rPr lang="en-US" sz="1600" dirty="0">
                <a:solidFill>
                  <a:srgbClr val="2A2A2A"/>
                </a:solidFill>
                <a:latin typeface="Georgia" pitchFamily="34" charset="0"/>
                <a:ea typeface="Georgia" pitchFamily="34" charset="-122"/>
                <a:cs typeface="Georgia" pitchFamily="34" charset="-120"/>
              </a:rPr>
              <a:t>Control</a:t>
            </a:r>
            <a:endParaRPr lang="en-US" sz="1600" dirty="0"/>
          </a:p>
        </p:txBody>
      </p:sp>
      <p:sp>
        <p:nvSpPr>
          <p:cNvPr id="12" name="Text 9"/>
          <p:cNvSpPr/>
          <p:nvPr/>
        </p:nvSpPr>
        <p:spPr>
          <a:xfrm>
            <a:off x="457051" y="3730675"/>
            <a:ext cx="1826666" cy="571500"/>
          </a:xfrm>
          <a:prstGeom prst="rect">
            <a:avLst/>
          </a:prstGeom>
          <a:noFill/>
          <a:ln/>
        </p:spPr>
        <p:txBody>
          <a:bodyPr wrap="square" lIns="0" tIns="0" rIns="0" bIns="0" rtlCol="0" anchor="t"/>
          <a:lstStyle/>
          <a:p>
            <a:pPr algn="l" indent="0" marL="0">
              <a:lnSpc>
                <a:spcPts val="1500"/>
              </a:lnSpc>
              <a:spcBef>
                <a:spcPts val="400"/>
              </a:spcBef>
              <a:buNone/>
            </a:pPr>
            <a:r>
              <a:rPr lang="en-US" sz="1200" dirty="0">
                <a:solidFill>
                  <a:srgbClr val="2A2A2A"/>
                </a:solidFill>
                <a:latin typeface="Arial" pitchFamily="34" charset="0"/>
                <a:ea typeface="Arial" pitchFamily="34" charset="-122"/>
                <a:cs typeface="Arial" pitchFamily="34" charset="-120"/>
              </a:rPr>
              <a:t>Who approves. Who overrides. Both are stored.</a:t>
            </a:r>
            <a:endParaRPr lang="en-US" sz="1200" dirty="0"/>
          </a:p>
        </p:txBody>
      </p:sp>
      <p:sp>
        <p:nvSpPr>
          <p:cNvPr id="13" name="Text 10"/>
          <p:cNvSpPr/>
          <p:nvPr/>
        </p:nvSpPr>
        <p:spPr>
          <a:xfrm>
            <a:off x="2476351" y="2705249"/>
            <a:ext cx="2044898" cy="2031950"/>
          </a:xfrm>
          <a:prstGeom prst="rect">
            <a:avLst/>
          </a:prstGeom>
          <a:solidFill>
            <a:srgbClr val="E4E4E4"/>
          </a:solidFill>
          <a:ln/>
        </p:spPr>
        <p:txBody>
          <a:bodyPr wrap="square" rtlCol="0" anchor="ctr"/>
          <a:lstStyle/>
          <a:p>
            <a:pPr indent="0" marL="0">
              <a:buNone/>
            </a:pPr>
            <a:endParaRPr lang="en-US" dirty="0"/>
          </a:p>
        </p:txBody>
      </p:sp>
      <p:sp>
        <p:nvSpPr>
          <p:cNvPr id="14" name="Text 11"/>
          <p:cNvSpPr/>
          <p:nvPr/>
        </p:nvSpPr>
        <p:spPr>
          <a:xfrm>
            <a:off x="2603302" y="2832199"/>
            <a:ext cx="1826818" cy="152400"/>
          </a:xfrm>
          <a:prstGeom prst="rect">
            <a:avLst/>
          </a:prstGeom>
          <a:noFill/>
          <a:ln/>
        </p:spPr>
        <p:txBody>
          <a:bodyPr wrap="square" lIns="0" tIns="0" rIns="0" bIns="0" rtlCol="0" anchor="t"/>
          <a:lstStyle/>
          <a:p>
            <a:pPr algn="l" indent="0" marL="0">
              <a:buNone/>
            </a:pPr>
            <a:r>
              <a:rPr lang="en-US" sz="1100" b="1" dirty="0">
                <a:solidFill>
                  <a:srgbClr val="D0372C"/>
                </a:solidFill>
                <a:latin typeface="Arial" pitchFamily="34" charset="0"/>
                <a:ea typeface="Arial" pitchFamily="34" charset="-122"/>
                <a:cs typeface="Arial" pitchFamily="34" charset="-120"/>
              </a:rPr>
              <a:t>02</a:t>
            </a:r>
            <a:endParaRPr lang="en-US" sz="1100" dirty="0"/>
          </a:p>
        </p:txBody>
      </p:sp>
      <p:sp>
        <p:nvSpPr>
          <p:cNvPr id="15" name="Text 12"/>
          <p:cNvSpPr/>
          <p:nvPr/>
        </p:nvSpPr>
        <p:spPr>
          <a:xfrm>
            <a:off x="2603302" y="3035350"/>
            <a:ext cx="1826818" cy="238125"/>
          </a:xfrm>
          <a:prstGeom prst="rect">
            <a:avLst/>
          </a:prstGeom>
          <a:noFill/>
          <a:ln/>
        </p:spPr>
        <p:txBody>
          <a:bodyPr wrap="square" lIns="0" tIns="0" rIns="0" bIns="0" rtlCol="0" anchor="t"/>
          <a:lstStyle/>
          <a:p>
            <a:pPr algn="l" indent="0" marL="0">
              <a:spcBef>
                <a:spcPts val="400"/>
              </a:spcBef>
              <a:buNone/>
            </a:pPr>
            <a:r>
              <a:rPr lang="en-US" sz="1600" dirty="0">
                <a:solidFill>
                  <a:srgbClr val="2A2A2A"/>
                </a:solidFill>
                <a:latin typeface="Georgia" pitchFamily="34" charset="0"/>
                <a:ea typeface="Georgia" pitchFamily="34" charset="-122"/>
                <a:cs typeface="Georgia" pitchFamily="34" charset="-120"/>
              </a:rPr>
              <a:t>A number</a:t>
            </a:r>
            <a:endParaRPr lang="en-US" sz="1600" dirty="0"/>
          </a:p>
        </p:txBody>
      </p:sp>
      <p:sp>
        <p:nvSpPr>
          <p:cNvPr id="16" name="Text 13"/>
          <p:cNvSpPr/>
          <p:nvPr/>
        </p:nvSpPr>
        <p:spPr>
          <a:xfrm>
            <a:off x="2603302" y="3324225"/>
            <a:ext cx="1826818" cy="571500"/>
          </a:xfrm>
          <a:prstGeom prst="rect">
            <a:avLst/>
          </a:prstGeom>
          <a:noFill/>
          <a:ln/>
        </p:spPr>
        <p:txBody>
          <a:bodyPr wrap="square" lIns="0" tIns="0" rIns="0" bIns="0" rtlCol="0" anchor="t"/>
          <a:lstStyle/>
          <a:p>
            <a:pPr algn="l" indent="0" marL="0">
              <a:lnSpc>
                <a:spcPts val="1500"/>
              </a:lnSpc>
              <a:spcBef>
                <a:spcPts val="400"/>
              </a:spcBef>
              <a:buNone/>
            </a:pPr>
            <a:r>
              <a:rPr lang="en-US" sz="1200" dirty="0">
                <a:solidFill>
                  <a:srgbClr val="2A2A2A"/>
                </a:solidFill>
                <a:latin typeface="Arial" pitchFamily="34" charset="0"/>
                <a:ea typeface="Arial" pitchFamily="34" charset="-122"/>
                <a:cs typeface="Arial" pitchFamily="34" charset="-120"/>
              </a:rPr>
              <a:t>Time, exceptions, accuracy, cost. Your baseline.</a:t>
            </a:r>
            <a:endParaRPr lang="en-US" sz="1200" dirty="0"/>
          </a:p>
        </p:txBody>
      </p:sp>
      <p:sp>
        <p:nvSpPr>
          <p:cNvPr id="17" name="Text 14"/>
          <p:cNvSpPr/>
          <p:nvPr/>
        </p:nvSpPr>
        <p:spPr>
          <a:xfrm>
            <a:off x="4622750" y="2298799"/>
            <a:ext cx="2044750" cy="2438400"/>
          </a:xfrm>
          <a:prstGeom prst="rect">
            <a:avLst/>
          </a:prstGeom>
          <a:solidFill>
            <a:srgbClr val="3A3A3A"/>
          </a:solidFill>
          <a:ln/>
        </p:spPr>
        <p:txBody>
          <a:bodyPr wrap="square" rtlCol="0" anchor="ctr"/>
          <a:lstStyle/>
          <a:p>
            <a:pPr indent="0" marL="0">
              <a:buNone/>
            </a:pPr>
            <a:endParaRPr lang="en-US" dirty="0"/>
          </a:p>
        </p:txBody>
      </p:sp>
      <p:sp>
        <p:nvSpPr>
          <p:cNvPr id="18" name="Text 15"/>
          <p:cNvSpPr/>
          <p:nvPr/>
        </p:nvSpPr>
        <p:spPr>
          <a:xfrm>
            <a:off x="4749701" y="2425750"/>
            <a:ext cx="1826666" cy="152400"/>
          </a:xfrm>
          <a:prstGeom prst="rect">
            <a:avLst/>
          </a:prstGeom>
          <a:noFill/>
          <a:ln/>
        </p:spPr>
        <p:txBody>
          <a:bodyPr wrap="square" lIns="0" tIns="0" rIns="0" bIns="0" rtlCol="0" anchor="t"/>
          <a:lstStyle/>
          <a:p>
            <a:pPr algn="l" indent="0" marL="0">
              <a:buNone/>
            </a:pPr>
            <a:r>
              <a:rPr lang="en-US" sz="1100" b="1" dirty="0">
                <a:solidFill>
                  <a:srgbClr val="F0B0A8"/>
                </a:solidFill>
                <a:latin typeface="Arial" pitchFamily="34" charset="0"/>
                <a:ea typeface="Arial" pitchFamily="34" charset="-122"/>
                <a:cs typeface="Arial" pitchFamily="34" charset="-120"/>
              </a:rPr>
              <a:t>03</a:t>
            </a:r>
            <a:endParaRPr lang="en-US" sz="1100" dirty="0"/>
          </a:p>
        </p:txBody>
      </p:sp>
      <p:sp>
        <p:nvSpPr>
          <p:cNvPr id="19" name="Text 16"/>
          <p:cNvSpPr/>
          <p:nvPr/>
        </p:nvSpPr>
        <p:spPr>
          <a:xfrm>
            <a:off x="4749701" y="2628900"/>
            <a:ext cx="1826666" cy="238125"/>
          </a:xfrm>
          <a:prstGeom prst="rect">
            <a:avLst/>
          </a:prstGeom>
          <a:noFill/>
          <a:ln/>
        </p:spPr>
        <p:txBody>
          <a:bodyPr wrap="square" lIns="0" tIns="0" rIns="0" bIns="0" rtlCol="0" anchor="t"/>
          <a:lstStyle/>
          <a:p>
            <a:pPr algn="l" indent="0" marL="0">
              <a:spcBef>
                <a:spcPts val="400"/>
              </a:spcBef>
              <a:buNone/>
            </a:pPr>
            <a:r>
              <a:rPr lang="en-US" sz="1600" dirty="0">
                <a:solidFill>
                  <a:srgbClr val="FFFFFF"/>
                </a:solidFill>
                <a:latin typeface="Georgia" pitchFamily="34" charset="0"/>
                <a:ea typeface="Georgia" pitchFamily="34" charset="-122"/>
                <a:cs typeface="Georgia" pitchFamily="34" charset="-120"/>
              </a:rPr>
              <a:t>One connection</a:t>
            </a:r>
            <a:endParaRPr lang="en-US" sz="1600" dirty="0"/>
          </a:p>
        </p:txBody>
      </p:sp>
      <p:sp>
        <p:nvSpPr>
          <p:cNvPr id="20" name="Text 17"/>
          <p:cNvSpPr/>
          <p:nvPr/>
        </p:nvSpPr>
        <p:spPr>
          <a:xfrm>
            <a:off x="4749701" y="2917775"/>
            <a:ext cx="1826666" cy="571500"/>
          </a:xfrm>
          <a:prstGeom prst="rect">
            <a:avLst/>
          </a:prstGeom>
          <a:noFill/>
          <a:ln/>
        </p:spPr>
        <p:txBody>
          <a:bodyPr wrap="square" lIns="0" tIns="0" rIns="0" bIns="0" rtlCol="0" anchor="t"/>
          <a:lstStyle/>
          <a:p>
            <a:pPr algn="l" indent="0" marL="0">
              <a:lnSpc>
                <a:spcPts val="1500"/>
              </a:lnSpc>
              <a:spcBef>
                <a:spcPts val="400"/>
              </a:spcBef>
              <a:buNone/>
            </a:pPr>
            <a:r>
              <a:rPr lang="en-US" sz="1200" dirty="0">
                <a:solidFill>
                  <a:srgbClr val="F0F0F0"/>
                </a:solidFill>
                <a:latin typeface="Arial" pitchFamily="34" charset="0"/>
                <a:ea typeface="Arial" pitchFamily="34" charset="-122"/>
                <a:cs typeface="Arial" pitchFamily="34" charset="-120"/>
              </a:rPr>
              <a:t>A named feed, and the policy fields, under a data contract.</a:t>
            </a:r>
            <a:endParaRPr lang="en-US" sz="1200" dirty="0"/>
          </a:p>
        </p:txBody>
      </p:sp>
      <p:sp>
        <p:nvSpPr>
          <p:cNvPr id="21" name="Text 18"/>
          <p:cNvSpPr/>
          <p:nvPr/>
        </p:nvSpPr>
        <p:spPr>
          <a:xfrm>
            <a:off x="6769001" y="1892498"/>
            <a:ext cx="2044898" cy="2844701"/>
          </a:xfrm>
          <a:prstGeom prst="rect">
            <a:avLst/>
          </a:prstGeom>
          <a:solidFill>
            <a:srgbClr val="2A2A2A"/>
          </a:solidFill>
          <a:ln/>
        </p:spPr>
        <p:txBody>
          <a:bodyPr wrap="square" rtlCol="0" anchor="ctr"/>
          <a:lstStyle/>
          <a:p>
            <a:pPr indent="0" marL="0">
              <a:buNone/>
            </a:pPr>
            <a:endParaRPr lang="en-US" dirty="0"/>
          </a:p>
        </p:txBody>
      </p:sp>
      <p:sp>
        <p:nvSpPr>
          <p:cNvPr id="22" name="Text 19"/>
          <p:cNvSpPr/>
          <p:nvPr/>
        </p:nvSpPr>
        <p:spPr>
          <a:xfrm>
            <a:off x="6895951" y="2019449"/>
            <a:ext cx="1826818" cy="152400"/>
          </a:xfrm>
          <a:prstGeom prst="rect">
            <a:avLst/>
          </a:prstGeom>
          <a:noFill/>
          <a:ln/>
        </p:spPr>
        <p:txBody>
          <a:bodyPr wrap="square" lIns="0" tIns="0" rIns="0" bIns="0" rtlCol="0" anchor="t"/>
          <a:lstStyle/>
          <a:p>
            <a:pPr algn="l" indent="0" marL="0">
              <a:buNone/>
            </a:pPr>
            <a:r>
              <a:rPr lang="en-US" sz="1100" b="1" dirty="0">
                <a:solidFill>
                  <a:srgbClr val="F0B0A8"/>
                </a:solidFill>
                <a:latin typeface="Arial" pitchFamily="34" charset="0"/>
                <a:ea typeface="Arial" pitchFamily="34" charset="-122"/>
                <a:cs typeface="Arial" pitchFamily="34" charset="-120"/>
              </a:rPr>
              <a:t>04</a:t>
            </a:r>
            <a:endParaRPr lang="en-US" sz="1100" dirty="0"/>
          </a:p>
        </p:txBody>
      </p:sp>
      <p:sp>
        <p:nvSpPr>
          <p:cNvPr id="23" name="Text 20"/>
          <p:cNvSpPr/>
          <p:nvPr/>
        </p:nvSpPr>
        <p:spPr>
          <a:xfrm>
            <a:off x="6895951" y="2222599"/>
            <a:ext cx="1826818" cy="238125"/>
          </a:xfrm>
          <a:prstGeom prst="rect">
            <a:avLst/>
          </a:prstGeom>
          <a:noFill/>
          <a:ln/>
        </p:spPr>
        <p:txBody>
          <a:bodyPr wrap="square" lIns="0" tIns="0" rIns="0" bIns="0" rtlCol="0" anchor="t"/>
          <a:lstStyle/>
          <a:p>
            <a:pPr algn="l" indent="0" marL="0">
              <a:spcBef>
                <a:spcPts val="400"/>
              </a:spcBef>
              <a:buNone/>
            </a:pPr>
            <a:r>
              <a:rPr lang="en-US" sz="1600" dirty="0">
                <a:solidFill>
                  <a:srgbClr val="FFFFFF"/>
                </a:solidFill>
                <a:latin typeface="Georgia" pitchFamily="34" charset="0"/>
                <a:ea typeface="Georgia" pitchFamily="34" charset="-122"/>
                <a:cs typeface="Georgia" pitchFamily="34" charset="-120"/>
              </a:rPr>
              <a:t>Then wider</a:t>
            </a:r>
            <a:endParaRPr lang="en-US" sz="1600" dirty="0"/>
          </a:p>
        </p:txBody>
      </p:sp>
      <p:sp>
        <p:nvSpPr>
          <p:cNvPr id="24" name="Text 21"/>
          <p:cNvSpPr/>
          <p:nvPr/>
        </p:nvSpPr>
        <p:spPr>
          <a:xfrm>
            <a:off x="6895951" y="2511475"/>
            <a:ext cx="1826818" cy="571500"/>
          </a:xfrm>
          <a:prstGeom prst="rect">
            <a:avLst/>
          </a:prstGeom>
          <a:noFill/>
          <a:ln/>
        </p:spPr>
        <p:txBody>
          <a:bodyPr wrap="square" lIns="0" tIns="0" rIns="0" bIns="0" rtlCol="0" anchor="t"/>
          <a:lstStyle/>
          <a:p>
            <a:pPr algn="l" indent="0" marL="0">
              <a:lnSpc>
                <a:spcPts val="1500"/>
              </a:lnSpc>
              <a:spcBef>
                <a:spcPts val="400"/>
              </a:spcBef>
              <a:buNone/>
            </a:pPr>
            <a:r>
              <a:rPr lang="en-US" sz="1200" dirty="0">
                <a:solidFill>
                  <a:srgbClr val="F0F0F0"/>
                </a:solidFill>
                <a:latin typeface="Arial" pitchFamily="34" charset="0"/>
                <a:ea typeface="Arial" pitchFamily="34" charset="-122"/>
                <a:cs typeface="Arial" pitchFamily="34" charset="-120"/>
              </a:rPr>
              <a:t>One cyber segment first. More documents and rules after.</a:t>
            </a:r>
            <a:endParaRPr lang="en-US" sz="1200" dirty="0"/>
          </a:p>
        </p:txBody>
      </p:sp>
      <p:sp>
        <p:nvSpPr>
          <p:cNvPr id="25" name="Text 22"/>
          <p:cNvSpPr/>
          <p:nvPr/>
        </p:nvSpPr>
        <p:spPr>
          <a:xfrm>
            <a:off x="330101" y="4895850"/>
            <a:ext cx="1956914"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Cyber underwriting  ·  Client discussion</a:t>
            </a:r>
            <a:endParaRPr lang="en-US" sz="900" dirty="0"/>
          </a:p>
        </p:txBody>
      </p:sp>
      <p:sp>
        <p:nvSpPr>
          <p:cNvPr id="26" name="Text 23"/>
          <p:cNvSpPr/>
          <p:nvPr/>
        </p:nvSpPr>
        <p:spPr>
          <a:xfrm>
            <a:off x="8686651" y="4895850"/>
            <a:ext cx="129793" cy="133350"/>
          </a:xfrm>
          <a:prstGeom prst="rect">
            <a:avLst/>
          </a:prstGeom>
          <a:noFill/>
          <a:ln/>
        </p:spPr>
        <p:txBody>
          <a:bodyPr wrap="square" lIns="0" tIns="0" rIns="0" bIns="0" rtlCol="0" anchor="t"/>
          <a:lstStyle/>
          <a:p>
            <a:pPr algn="l" indent="0" marL="0">
              <a:buNone/>
            </a:pPr>
            <a:r>
              <a:rPr lang="en-US" sz="900" dirty="0">
                <a:solidFill>
                  <a:srgbClr val="5A5A5A"/>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406301"/>
          </a:xfrm>
          <a:prstGeom prst="rect">
            <a:avLst/>
          </a:prstGeom>
          <a:solidFill>
            <a:srgbClr val="FFFFFF"/>
          </a:solidFill>
          <a:ln/>
        </p:spPr>
        <p:txBody>
          <a:bodyPr wrap="square" rtlCol="0" anchor="ctr"/>
          <a:lstStyle/>
          <a:p>
            <a:pPr indent="0" marL="0">
              <a:buNone/>
            </a:pPr>
            <a:endParaRPr lang="en-US" dirty="0"/>
          </a:p>
        </p:txBody>
      </p:sp>
      <p:pic>
        <p:nvPicPr>
          <p:cNvPr id="3" name="Image 0" descr="/Users/chandansharma/Documents/cyber-uw/docs/client/deck/slides/birlasoft-logo-on-white.png">    </p:cNvPr>
          <p:cNvPicPr>
            <a:picLocks noChangeAspect="1"/>
          </p:cNvPicPr>
          <p:nvPr/>
        </p:nvPicPr>
        <p:blipFill>
          <a:blip r:embed="rId1"/>
          <a:stretch>
            <a:fillRect/>
          </a:stretch>
        </p:blipFill>
        <p:spPr>
          <a:xfrm>
            <a:off x="330101" y="95101"/>
            <a:ext cx="990600" cy="279350"/>
          </a:xfrm>
          <a:prstGeom prst="rect">
            <a:avLst/>
          </a:prstGeom>
        </p:spPr>
      </p:pic>
      <p:sp>
        <p:nvSpPr>
          <p:cNvPr id="4" name="Text 1"/>
          <p:cNvSpPr/>
          <p:nvPr/>
        </p:nvSpPr>
        <p:spPr>
          <a:xfrm>
            <a:off x="8552706" y="163413"/>
            <a:ext cx="266417" cy="142875"/>
          </a:xfrm>
          <a:prstGeom prst="rect">
            <a:avLst/>
          </a:prstGeom>
          <a:noFill/>
          <a:ln/>
        </p:spPr>
        <p:txBody>
          <a:bodyPr wrap="square" lIns="0" tIns="0" rIns="0" bIns="0" rtlCol="0" anchor="t"/>
          <a:lstStyle/>
          <a:p>
            <a:pPr algn="l" indent="0" marL="0">
              <a:buNone/>
            </a:pPr>
            <a:r>
              <a:rPr lang="en-US" sz="1000" dirty="0">
                <a:solidFill>
                  <a:srgbClr val="5A5A5A"/>
                </a:solidFill>
                <a:latin typeface="Arial" pitchFamily="34" charset="0"/>
                <a:ea typeface="Arial" pitchFamily="34" charset="-122"/>
                <a:cs typeface="Arial" pitchFamily="34" charset="-120"/>
              </a:rPr>
              <a:t>Next</a:t>
            </a:r>
            <a:endParaRPr lang="en-US" sz="1000" dirty="0"/>
          </a:p>
        </p:txBody>
      </p:sp>
      <p:sp>
        <p:nvSpPr>
          <p:cNvPr id="5" name="Text 2"/>
          <p:cNvSpPr/>
          <p:nvPr/>
        </p:nvSpPr>
        <p:spPr>
          <a:xfrm>
            <a:off x="0" y="406301"/>
            <a:ext cx="9144000" cy="38100"/>
          </a:xfrm>
          <a:prstGeom prst="rect">
            <a:avLst/>
          </a:prstGeom>
          <a:solidFill>
            <a:srgbClr val="D0372C"/>
          </a:solidFill>
          <a:ln/>
        </p:spPr>
        <p:txBody>
          <a:bodyPr wrap="square" rtlCol="0" anchor="ctr"/>
          <a:lstStyle/>
          <a:p>
            <a:pPr indent="0" marL="0">
              <a:buNone/>
            </a:pPr>
            <a:endParaRPr lang="en-US" dirty="0"/>
          </a:p>
        </p:txBody>
      </p:sp>
      <p:sp>
        <p:nvSpPr>
          <p:cNvPr id="6" name="Text 3"/>
          <p:cNvSpPr/>
          <p:nvPr/>
        </p:nvSpPr>
        <p:spPr>
          <a:xfrm>
            <a:off x="0" y="444401"/>
            <a:ext cx="9144000" cy="3530798"/>
          </a:xfrm>
          <a:prstGeom prst="rect">
            <a:avLst/>
          </a:prstGeom>
          <a:solidFill>
            <a:srgbClr val="2A2A2A"/>
          </a:solidFill>
          <a:ln/>
        </p:spPr>
        <p:txBody>
          <a:bodyPr wrap="square" rtlCol="0" anchor="ctr"/>
          <a:lstStyle/>
          <a:p>
            <a:pPr indent="0" marL="0">
              <a:buNone/>
            </a:pPr>
            <a:endParaRPr lang="en-US" dirty="0"/>
          </a:p>
        </p:txBody>
      </p:sp>
      <p:sp>
        <p:nvSpPr>
          <p:cNvPr id="7" name="Text 4"/>
          <p:cNvSpPr/>
          <p:nvPr/>
        </p:nvSpPr>
        <p:spPr>
          <a:xfrm>
            <a:off x="406301" y="673001"/>
            <a:ext cx="8498026" cy="152400"/>
          </a:xfrm>
          <a:prstGeom prst="rect">
            <a:avLst/>
          </a:prstGeom>
          <a:noFill/>
          <a:ln/>
        </p:spPr>
        <p:txBody>
          <a:bodyPr wrap="square" lIns="0" tIns="0" rIns="0" bIns="0" rtlCol="0" anchor="t"/>
          <a:lstStyle/>
          <a:p>
            <a:pPr algn="l" indent="0" marL="0">
              <a:buNone/>
            </a:pPr>
            <a:r>
              <a:rPr lang="en-US" sz="1100" b="1" dirty="0">
                <a:solidFill>
                  <a:srgbClr val="F0B0A8"/>
                </a:solidFill>
                <a:latin typeface="Arial" pitchFamily="34" charset="0"/>
                <a:ea typeface="Arial" pitchFamily="34" charset="-122"/>
                <a:cs typeface="Arial" pitchFamily="34" charset="-120"/>
              </a:rPr>
              <a:t>CLOSE</a:t>
            </a:r>
            <a:endParaRPr lang="en-US" sz="1100" dirty="0"/>
          </a:p>
        </p:txBody>
      </p:sp>
      <p:sp>
        <p:nvSpPr>
          <p:cNvPr id="8" name="Text 5"/>
          <p:cNvSpPr/>
          <p:nvPr/>
        </p:nvSpPr>
        <p:spPr>
          <a:xfrm>
            <a:off x="406301" y="926902"/>
            <a:ext cx="8290509" cy="363141"/>
          </a:xfrm>
          <a:prstGeom prst="rect">
            <a:avLst/>
          </a:prstGeom>
          <a:noFill/>
          <a:ln/>
        </p:spPr>
        <p:txBody>
          <a:bodyPr wrap="square" lIns="0" tIns="0" rIns="0" bIns="0" rtlCol="0" anchor="t"/>
          <a:lstStyle/>
          <a:p>
            <a:pPr algn="l" indent="0" marL="0">
              <a:lnSpc>
                <a:spcPts val="2860"/>
              </a:lnSpc>
              <a:spcBef>
                <a:spcPts val="800"/>
              </a:spcBef>
              <a:buNone/>
            </a:pPr>
            <a:r>
              <a:rPr lang="en-US" sz="2600" dirty="0">
                <a:solidFill>
                  <a:srgbClr val="FFFFFF"/>
                </a:solidFill>
                <a:latin typeface="Georgia" pitchFamily="34" charset="0"/>
                <a:ea typeface="Georgia" pitchFamily="34" charset="-122"/>
                <a:cs typeface="Georgia" pitchFamily="34" charset="-120"/>
              </a:rPr>
              <a:t>Faster, and still a file you would show a reinsurer.</a:t>
            </a:r>
            <a:endParaRPr lang="en-US" sz="2600" dirty="0"/>
          </a:p>
        </p:txBody>
      </p:sp>
      <p:sp>
        <p:nvSpPr>
          <p:cNvPr id="9" name="Shape 6"/>
          <p:cNvSpPr/>
          <p:nvPr/>
        </p:nvSpPr>
        <p:spPr>
          <a:xfrm>
            <a:off x="406301" y="1502718"/>
            <a:ext cx="4064050" cy="0"/>
          </a:xfrm>
          <a:prstGeom prst="line">
            <a:avLst/>
          </a:prstGeom>
          <a:noFill/>
          <a:ln w="19050">
            <a:solidFill>
              <a:srgbClr val="F0B0A8"/>
            </a:solidFill>
            <a:prstDash val="solid"/>
          </a:ln>
        </p:spPr>
      </p:sp>
      <p:sp>
        <p:nvSpPr>
          <p:cNvPr id="10" name="Text 7"/>
          <p:cNvSpPr/>
          <p:nvPr/>
        </p:nvSpPr>
        <p:spPr>
          <a:xfrm>
            <a:off x="406301" y="1613743"/>
            <a:ext cx="4145331" cy="152400"/>
          </a:xfrm>
          <a:prstGeom prst="rect">
            <a:avLst/>
          </a:prstGeom>
          <a:noFill/>
          <a:ln/>
        </p:spPr>
        <p:txBody>
          <a:bodyPr wrap="square" lIns="0" tIns="0" rIns="0" bIns="0" rtlCol="0" anchor="t"/>
          <a:lstStyle/>
          <a:p>
            <a:pPr algn="l" indent="0" marL="0">
              <a:buNone/>
            </a:pPr>
            <a:r>
              <a:rPr lang="en-US" sz="1100" b="1" dirty="0">
                <a:solidFill>
                  <a:srgbClr val="F0B0A8"/>
                </a:solidFill>
                <a:latin typeface="Arial" pitchFamily="34" charset="0"/>
                <a:ea typeface="Arial" pitchFamily="34" charset="-122"/>
                <a:cs typeface="Arial" pitchFamily="34" charset="-120"/>
              </a:rPr>
              <a:t>FROM</a:t>
            </a:r>
            <a:endParaRPr lang="en-US" sz="1100" dirty="0"/>
          </a:p>
        </p:txBody>
      </p:sp>
      <p:sp>
        <p:nvSpPr>
          <p:cNvPr id="11" name="Text 8"/>
          <p:cNvSpPr/>
          <p:nvPr/>
        </p:nvSpPr>
        <p:spPr>
          <a:xfrm>
            <a:off x="406301" y="1842343"/>
            <a:ext cx="4145331" cy="462260"/>
          </a:xfrm>
          <a:prstGeom prst="rect">
            <a:avLst/>
          </a:prstGeom>
          <a:noFill/>
          <a:ln/>
        </p:spPr>
        <p:txBody>
          <a:bodyPr wrap="square" lIns="0" tIns="0" rIns="0" bIns="0" rtlCol="0" anchor="t"/>
          <a:lstStyle/>
          <a:p>
            <a:pPr algn="l" indent="0" marL="0">
              <a:lnSpc>
                <a:spcPts val="1820"/>
              </a:lnSpc>
              <a:spcBef>
                <a:spcPts val="600"/>
              </a:spcBef>
              <a:buNone/>
            </a:pPr>
            <a:r>
              <a:rPr lang="en-US" sz="1400" dirty="0">
                <a:solidFill>
                  <a:srgbClr val="FFFFFF"/>
                </a:solidFill>
                <a:latin typeface="Arial" pitchFamily="34" charset="0"/>
                <a:ea typeface="Arial" pitchFamily="34" charset="-122"/>
                <a:cs typeface="Arial" pitchFamily="34" charset="-120"/>
              </a:rPr>
              <a:t>A submission in pieces. Intelligence in other systems. The reason assembled by hand.</a:t>
            </a:r>
            <a:endParaRPr lang="en-US" sz="1400" dirty="0"/>
          </a:p>
        </p:txBody>
      </p:sp>
      <p:sp>
        <p:nvSpPr>
          <p:cNvPr id="12" name="Shape 9"/>
          <p:cNvSpPr/>
          <p:nvPr/>
        </p:nvSpPr>
        <p:spPr>
          <a:xfrm>
            <a:off x="4673501" y="1502718"/>
            <a:ext cx="4064198" cy="0"/>
          </a:xfrm>
          <a:prstGeom prst="line">
            <a:avLst/>
          </a:prstGeom>
          <a:noFill/>
          <a:ln w="19050">
            <a:solidFill>
              <a:srgbClr val="FFFFFF"/>
            </a:solidFill>
            <a:prstDash val="solid"/>
          </a:ln>
        </p:spPr>
      </p:sp>
      <p:sp>
        <p:nvSpPr>
          <p:cNvPr id="13" name="Text 10"/>
          <p:cNvSpPr/>
          <p:nvPr/>
        </p:nvSpPr>
        <p:spPr>
          <a:xfrm>
            <a:off x="4673501" y="1613743"/>
            <a:ext cx="4145482"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TO</a:t>
            </a:r>
            <a:endParaRPr lang="en-US" sz="1100" dirty="0"/>
          </a:p>
        </p:txBody>
      </p:sp>
      <p:sp>
        <p:nvSpPr>
          <p:cNvPr id="14" name="Text 11"/>
          <p:cNvSpPr/>
          <p:nvPr/>
        </p:nvSpPr>
        <p:spPr>
          <a:xfrm>
            <a:off x="4673501" y="1842343"/>
            <a:ext cx="4145482" cy="462260"/>
          </a:xfrm>
          <a:prstGeom prst="rect">
            <a:avLst/>
          </a:prstGeom>
          <a:noFill/>
          <a:ln/>
        </p:spPr>
        <p:txBody>
          <a:bodyPr wrap="square" lIns="0" tIns="0" rIns="0" bIns="0" rtlCol="0" anchor="t"/>
          <a:lstStyle/>
          <a:p>
            <a:pPr algn="l" indent="0" marL="0">
              <a:lnSpc>
                <a:spcPts val="1820"/>
              </a:lnSpc>
              <a:spcBef>
                <a:spcPts val="600"/>
              </a:spcBef>
              <a:buNone/>
            </a:pPr>
            <a:r>
              <a:rPr lang="en-US" sz="1400" dirty="0">
                <a:solidFill>
                  <a:srgbClr val="FFFFFF"/>
                </a:solidFill>
                <a:latin typeface="Arial" pitchFamily="34" charset="0"/>
                <a:ea typeface="Arial" pitchFamily="34" charset="-122"/>
                <a:cs typeface="Arial" pitchFamily="34" charset="-120"/>
              </a:rPr>
              <a:t>One file. The signal next to the declaration. A person, and a record of the call.</a:t>
            </a:r>
            <a:endParaRPr lang="en-US" sz="1400" dirty="0"/>
          </a:p>
        </p:txBody>
      </p:sp>
      <p:sp>
        <p:nvSpPr>
          <p:cNvPr id="15" name="Text 12"/>
          <p:cNvSpPr/>
          <p:nvPr/>
        </p:nvSpPr>
        <p:spPr>
          <a:xfrm>
            <a:off x="0" y="3975199"/>
            <a:ext cx="9144000" cy="1168301"/>
          </a:xfrm>
          <a:prstGeom prst="rect">
            <a:avLst/>
          </a:prstGeom>
          <a:solidFill>
            <a:srgbClr val="1A1A1A"/>
          </a:solidFill>
          <a:ln/>
        </p:spPr>
        <p:txBody>
          <a:bodyPr wrap="square" rtlCol="0" anchor="ctr"/>
          <a:lstStyle/>
          <a:p>
            <a:pPr indent="0" marL="0">
              <a:buNone/>
            </a:pPr>
            <a:endParaRPr lang="en-US" dirty="0"/>
          </a:p>
        </p:txBody>
      </p:sp>
      <p:sp>
        <p:nvSpPr>
          <p:cNvPr id="16" name="Text 13"/>
          <p:cNvSpPr/>
          <p:nvPr/>
        </p:nvSpPr>
        <p:spPr>
          <a:xfrm>
            <a:off x="406301" y="4152900"/>
            <a:ext cx="8498026" cy="142875"/>
          </a:xfrm>
          <a:prstGeom prst="rect">
            <a:avLst/>
          </a:prstGeom>
          <a:noFill/>
          <a:ln/>
        </p:spPr>
        <p:txBody>
          <a:bodyPr wrap="square" lIns="0" tIns="0" rIns="0" bIns="0" rtlCol="0" anchor="t"/>
          <a:lstStyle/>
          <a:p>
            <a:pPr algn="l" indent="0" marL="0">
              <a:buNone/>
            </a:pPr>
            <a:r>
              <a:rPr lang="en-US" sz="1000" b="1" dirty="0">
                <a:solidFill>
                  <a:srgbClr val="F0B0A8"/>
                </a:solidFill>
                <a:latin typeface="Arial" pitchFamily="34" charset="0"/>
                <a:ea typeface="Arial" pitchFamily="34" charset="-122"/>
                <a:cs typeface="Arial" pitchFamily="34" charset="-120"/>
              </a:rPr>
              <a:t>THE NEXT MEETING</a:t>
            </a:r>
            <a:endParaRPr lang="en-US" sz="1000" dirty="0"/>
          </a:p>
        </p:txBody>
      </p:sp>
      <p:sp>
        <p:nvSpPr>
          <p:cNvPr id="17" name="Text 14"/>
          <p:cNvSpPr/>
          <p:nvPr/>
        </p:nvSpPr>
        <p:spPr>
          <a:xfrm>
            <a:off x="406301" y="4371975"/>
            <a:ext cx="8498026" cy="209550"/>
          </a:xfrm>
          <a:prstGeom prst="rect">
            <a:avLst/>
          </a:prstGeom>
          <a:noFill/>
          <a:ln/>
        </p:spPr>
        <p:txBody>
          <a:bodyPr wrap="square" lIns="0" tIns="0" rIns="0" bIns="0" rtlCol="0" anchor="t"/>
          <a:lstStyle/>
          <a:p>
            <a:pPr algn="l" indent="0" marL="0">
              <a:spcBef>
                <a:spcPts val="600"/>
              </a:spcBef>
              <a:buNone/>
            </a:pPr>
            <a:r>
              <a:rPr lang="en-US" sz="1400" dirty="0">
                <a:solidFill>
                  <a:srgbClr val="FFFFFF"/>
                </a:solidFill>
                <a:latin typeface="Arial" pitchFamily="34" charset="0"/>
                <a:ea typeface="Arial" pitchFamily="34" charset="-122"/>
                <a:cs typeface="Arial" pitchFamily="34" charset="-120"/>
              </a:rPr>
              <a:t>Your appetite, your baseline, and which feed and policy fields are in scope.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Quote faster. Do not loosen the file.</dc:title>
  <dc:subject>Cyber underwriting, for a carrier or MGA desk</dc:subject>
  <dc:creator>Birlasoft</dc:creator>
  <cp:lastModifiedBy>Birlasoft</cp:lastModifiedBy>
  <cp:revision>1</cp:revision>
  <dcterms:created xsi:type="dcterms:W3CDTF">2026-10-08T12:40:54Z</dcterms:created>
  <dcterms:modified xsi:type="dcterms:W3CDTF">2026-10-08T12:40:54Z</dcterms:modified>
</cp:coreProperties>
</file>