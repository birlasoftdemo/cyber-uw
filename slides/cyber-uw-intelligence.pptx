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birla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908773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EXECUTIVE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A1A1A"/>
                </a:solidFill>
                <a:latin typeface="Source Serif 4"/>
              </a:rPr>
              <a:t>Adaptive cyber insurance underwriting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Source Sans 3"/>
              </a:rPr>
              <a:t>Reimagining cyber risk 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2743200" cy="73152"/>
          </a:xfrm>
          <a:prstGeom prst="rect">
            <a:avLst/>
          </a:prstGeom>
          <a:solidFill>
            <a:srgbClr val="8D8D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64792"/>
            <a:ext cx="2743200" cy="155448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74519"/>
            <a:ext cx="2487168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F3F3F"/>
                </a:solidFill>
                <a:latin typeface="Source Sans 3"/>
              </a:rPr>
              <a:t>INDUSTRY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ource Serif 4"/>
              </a:rPr>
              <a:t>3–5 hours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Typical manual prep for one complex cyber submission.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1691640"/>
            <a:ext cx="2743200" cy="73152"/>
          </a:xfrm>
          <a:prstGeom prst="rect">
            <a:avLst/>
          </a:prstGeom>
          <a:solidFill>
            <a:srgbClr val="8D8D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5848" y="1764792"/>
            <a:ext cx="2743200" cy="155448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874519"/>
            <a:ext cx="2487168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F3F3F"/>
                </a:solidFill>
                <a:latin typeface="Source Sans 3"/>
              </a:rPr>
              <a:t>INDUSTRY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ource Serif 4"/>
              </a:rPr>
              <a:t>Same day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The broker bar. About half a day slower is often enough to lose the placement.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691640"/>
            <a:ext cx="2743200" cy="7315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764792"/>
            <a:ext cx="2743200" cy="1554480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2487168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10E0E"/>
                </a:solidFill>
                <a:latin typeface="Source Sans 3"/>
              </a:rPr>
              <a:t>BIRLASOFT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ource Serif 4"/>
              </a:rPr>
              <a:t>Same sitting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A complete package is classified and extracted into Policy Documents, without a rekey bench.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61704" y="1691640"/>
            <a:ext cx="2743200" cy="7315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764792"/>
            <a:ext cx="2743200" cy="1554480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874519"/>
            <a:ext cx="2487168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10E0E"/>
                </a:solidFill>
                <a:latin typeface="Source Sans 3"/>
              </a:rPr>
              <a:t>BIRLASOFT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ource Serif 4"/>
              </a:rPr>
              <a:t>Human before bind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Quote, escalate, and decline stay blocked until a person signs off, then sync to policy admin.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2900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4D4D"/>
                </a:solidFill>
                <a:latin typeface="Source Sans 3"/>
              </a:rPr>
              <a:t>Industry figures are market observations. Birlasoft figures are workbench design targets, not audited client results.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7947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WHAT’S INCLUDED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14800"/>
            <a:ext cx="54864" cy="196596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7784" y="4114800"/>
            <a:ext cx="213969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7D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4206240"/>
            <a:ext cx="1975104" cy="1783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01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Source Sans 3"/>
              </a:rPr>
              <a:t>Adaptive questionnaires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Source Sans 3"/>
              </a:rPr>
              <a:t>Core, High Limit ($10M+), Renewal Lite, and SME Light.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4114800"/>
            <a:ext cx="54864" cy="196596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114800"/>
            <a:ext cx="213969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7D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35224" y="4206240"/>
            <a:ext cx="1975104" cy="1783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02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Source Sans 3"/>
              </a:rPr>
              <a:t>Exhibit intelligence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Source Sans 3"/>
              </a:rPr>
              <a:t>Classify the application, SOC, IR plan, DR drill, ISO report, and loss runs.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4114800"/>
            <a:ext cx="54864" cy="196596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9784" y="4114800"/>
            <a:ext cx="213969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7D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21224" y="4206240"/>
            <a:ext cx="1975104" cy="1783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03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Source Sans 3"/>
              </a:rPr>
              <a:t>External control signals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Source Sans 3"/>
              </a:rPr>
              <a:t>MFA, EDR, backups, and vendors sit beside the attestation.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4114800"/>
            <a:ext cx="54864" cy="196596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15784" y="4114800"/>
            <a:ext cx="213969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7D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07224" y="4206240"/>
            <a:ext cx="1975104" cy="1783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04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Source Sans 3"/>
              </a:rPr>
              <a:t>Third-party-compatible rules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Source Sans 3"/>
              </a:rPr>
              <a:t>A control gap can block straight-through. An outside score uses the same slot.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4114800"/>
            <a:ext cx="54864" cy="196596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01784" y="4114800"/>
            <a:ext cx="213969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7D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3224" y="4206240"/>
            <a:ext cx="1975104" cy="1783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05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Source Sans 3"/>
              </a:rPr>
              <a:t>Synchronous policy admin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Source Sans 3"/>
              </a:rPr>
              <a:t>One record, a human sign-off, then the handoff to policy admin.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F3F"/>
                </a:solidFill>
                <a:latin typeface="Source Sans 3"/>
              </a:rPr>
              <a:t>Birlasoft | Cyber Underwriting Intelligence |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Source Sans 3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3566160" cy="2926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B4AE"/>
                </a:solidFill>
                <a:latin typeface="Source Sans 3"/>
              </a:rPr>
              <a:t>THE QUOTE PROBLEM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Source Serif 4"/>
              </a:rPr>
              <a:t>Cyber files still arrive as email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ECECEC"/>
                </a:solidFill>
                <a:latin typeface="Source Sans 3"/>
              </a:rPr>
              <a:t>Every team quoting cyber hits the same four walls — and each one is cleared by hand.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09160"/>
            <a:ext cx="3383280" cy="1234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ource Serif 4"/>
              </a:rPr>
              <a:t>Every submission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ource Sans 3"/>
              </a:rPr>
              <a:t>touched manually before a quote</a:t>
            </a:r>
          </a:p>
        </p:txBody>
      </p:sp>
      <p:pic>
        <p:nvPicPr>
          <p:cNvPr id="7" name="Picture 6" descr="birla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908773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17720" y="384048"/>
            <a:ext cx="68580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10E0E"/>
                </a:solidFill>
                <a:latin typeface="Source Sans 3"/>
              </a:rPr>
              <a:t>CONTEXT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2600" b="0" i="0">
                <a:solidFill>
                  <a:srgbClr val="1A1A1A"/>
                </a:solidFill>
                <a:latin typeface="Source Serif 4"/>
              </a:rPr>
              <a:t>What blocks a cyber quote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600200"/>
            <a:ext cx="73152" cy="105156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90872" y="1600200"/>
            <a:ext cx="6903720" cy="105156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72821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10E0E"/>
                </a:solidFill>
                <a:latin typeface="Source Sans 3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709928"/>
            <a:ext cx="59436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ource Sans 3"/>
              </a:rPr>
              <a:t>Unstructured packages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Apps, SOC reports, IR plans, architecture diagrams, and loss runs arrive as mixed email attachments.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743200"/>
            <a:ext cx="73152" cy="105156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90872" y="2743200"/>
            <a:ext cx="6903720" cy="105156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87121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10E0E"/>
                </a:solidFill>
                <a:latin typeface="Source Sans 3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852928"/>
            <a:ext cx="59436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ource Sans 3"/>
              </a:rPr>
              <a:t>Questionnaires that move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MFA, EDR, backup, privacy, and vendor questions differ by appetite and go stale as threats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3886200"/>
            <a:ext cx="73152" cy="105156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90872" y="3886200"/>
            <a:ext cx="6903720" cy="105156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401421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10E0E"/>
                </a:solidFill>
                <a:latin typeface="Source Sans 3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995928"/>
            <a:ext cx="59436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ource Sans 3"/>
              </a:rPr>
              <a:t>Evidence gaps stall the quote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A missing restore test or VPN MFA becomes a multi-day broker chase.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5029200"/>
            <a:ext cx="73152" cy="105156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90872" y="5029200"/>
            <a:ext cx="6903720" cy="105156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515721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10E0E"/>
                </a:solidFill>
                <a:latin typeface="Source Sans 3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138928"/>
            <a:ext cx="59436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ource Sans 3"/>
              </a:rPr>
              <a:t>No operational record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Status lives in inboxes, so quote, referral, and decline never reach policy admin with an audit trail.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644652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F3F"/>
                </a:solidFill>
                <a:latin typeface="Source Sans 3"/>
              </a:rPr>
              <a:t>Birlasoft | Cyber Underwriting Intelligence |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Source Sans 3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birla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908773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MARKET OPPORTUNITY  ·  MGA / MGU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1A1A"/>
                </a:solidFill>
                <a:latin typeface="Source Serif 4"/>
              </a:rPr>
              <a:t>Four observations the market already shares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Source Sans 3"/>
              </a:rPr>
              <a:t>Where a managing general agent can take the quote without growing the rekey bench.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9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911095"/>
            <a:ext cx="5074920" cy="1783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01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ource Sans 3"/>
              </a:rPr>
              <a:t>Speed is the product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In-appetite cyber is won by the market that answers first.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1" i="0">
                <a:solidFill>
                  <a:srgbClr val="0C5F86"/>
                </a:solidFill>
                <a:latin typeface="Source Sans 3"/>
              </a:rPr>
              <a:t>The placement goes to the quote that arrives while the controls are still current.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9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911095"/>
            <a:ext cx="5074920" cy="1783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02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ource Sans 3"/>
              </a:rPr>
              <a:t>Volume without a larger bench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Submission volume can grow without a matching underwriting-assistant team.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1" i="0">
                <a:solidFill>
                  <a:srgbClr val="0C5F86"/>
                </a:solidFill>
                <a:latin typeface="Source Sans 3"/>
              </a:rPr>
              <a:t>Compute takes the reading. People keep the judgment.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2336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9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4151376"/>
            <a:ext cx="5074920" cy="1783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03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ource Sans 3"/>
              </a:rPr>
              <a:t>Signals replace the chase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External signals fill control gaps that used to wait on the insured’s IT team.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1" i="0">
                <a:solidFill>
                  <a:srgbClr val="0C5F86"/>
                </a:solidFill>
                <a:latin typeface="Source Sans 3"/>
              </a:rPr>
              <a:t>MFA, EDR, and backup evidence can be checked when the file arrives.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02336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9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4151376"/>
            <a:ext cx="5074920" cy="1783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04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ource Sans 3"/>
              </a:rPr>
              <a:t>One record for authority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Delegated authority needs one validated record from intake through quote and policy-admin sync.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1" i="0">
                <a:solidFill>
                  <a:srgbClr val="0C5F86"/>
                </a:solidFill>
                <a:latin typeface="Source Sans 3"/>
              </a:rPr>
              <a:t>Authority and the audit fail if the handoff is a second rekey.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F3F"/>
                </a:solidFill>
                <a:latin typeface="Source Sans 3"/>
              </a:rPr>
              <a:t>Birlasoft | Cyber Underwriting Intelligence |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Source Sans 3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birla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908773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THE SOLUTION  ·  AGENTIC CHAIN  ·  STEP 1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1A1A"/>
                </a:solidFill>
                <a:latin typeface="Source Serif 4"/>
              </a:rPr>
              <a:t>Document intake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Source Sans 3"/>
              </a:rPr>
              <a:t>Broker mail and every attachment land on the workbench. Nothing is queued for a person to retype.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2148840" cy="868680"/>
          </a:xfrm>
          <a:prstGeom prst="rect">
            <a:avLst/>
          </a:prstGeom>
          <a:solidFill>
            <a:srgbClr val="FFF6F5"/>
          </a:solidFill>
          <a:ln w="12700">
            <a:solidFill>
              <a:srgbClr val="E2231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10E0E"/>
                </a:solidFill>
                <a:latin typeface="Source Sans 3"/>
              </a:rPr>
              <a:t>01  ·  NOW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Intake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Document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Enrich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External signals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0056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03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Analyze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Risk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8624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04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Sync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Policy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37192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05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Decide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Human sign-off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99232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145536"/>
            <a:ext cx="3328416" cy="205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Land the package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Upload or broker mail opens a submission. The intake agent starts from the exhibits, not from a blank form.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8536" y="2999232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3145536"/>
            <a:ext cx="3328416" cy="205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Classify every exhibit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Application, architecture, SOC report, incident response, disaster recovery, ISO, compliance packet, and loss runs.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4152" y="2999232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3145536"/>
            <a:ext cx="3328416" cy="205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Extract the record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Named insured, broker, sector, limit, and control fields land in Policy Documents. Adaptive modules — Core, High Limit ($10M+), Renewal Lite, SME Light — preview the broker path.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86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5F86"/>
                </a:solidFill>
                <a:latin typeface="Source Sans 3"/>
              </a:rPr>
              <a:t>Ops owns completeness and the chase until Documents Complete, then hands the file to the underwriter.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F3F"/>
                </a:solidFill>
                <a:latin typeface="Source Sans 3"/>
              </a:rPr>
              <a:t>Birlasoft | Cyber Underwriting Intelligence |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Source Sans 3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birla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908773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THE SOLUTION  ·  AGENTIC CHAIN  ·  STEP 2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1A1A"/>
                </a:solidFill>
                <a:latin typeface="Source Serif 4"/>
              </a:rPr>
              <a:t>External risk enrichment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Source Sans 3"/>
              </a:rPr>
              <a:t>Control signals sit beside the attestation, so a gap is visible before the underwriter opens the PDF.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01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Intake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Document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965960"/>
            <a:ext cx="2148840" cy="868680"/>
          </a:xfrm>
          <a:prstGeom prst="rect">
            <a:avLst/>
          </a:prstGeom>
          <a:solidFill>
            <a:srgbClr val="FFF6F5"/>
          </a:solidFill>
          <a:ln w="12700">
            <a:solidFill>
              <a:srgbClr val="E2231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10E0E"/>
                </a:solidFill>
                <a:latin typeface="Source Sans 3"/>
              </a:rPr>
              <a:t>02  ·  NOW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Enrich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External signals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0056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03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Analyze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Risk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8624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04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Sync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Policy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37192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05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Decide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Human sign-off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99232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145536"/>
            <a:ext cx="3328416" cy="205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Signals beside the form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MFA, EDR, immutable backups, and critical vendors are read next to what the broker attested.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8536" y="2999232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3145536"/>
            <a:ext cx="3328416" cy="205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Gaps stay on the file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A remote-access MFA miss stays visible. It does not disappear into an attachment.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4152" y="2999232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3145536"/>
            <a:ext cx="3328416" cy="205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The book, not only the file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Shared managed-service providers and shared identity providers are flagged for the portfolio.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86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5F86"/>
                </a:solidFill>
                <a:latin typeface="Source Sans 3"/>
              </a:rPr>
              <a:t>Facts that used to wait on the insured’s IT team are on the submission when it is reviewed.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F3F"/>
                </a:solidFill>
                <a:latin typeface="Source Sans 3"/>
              </a:rPr>
              <a:t>Birlasoft | Cyber Underwriting Intelligence |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Source Sans 3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birla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908773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THE SOLUTION  ·  AGENTIC CHAIN  ·  STEP 3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1A1A"/>
                </a:solidFill>
                <a:latin typeface="Source Serif 4"/>
              </a:rPr>
              <a:t>Risk analysis, third-party compatible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Source Sans 3"/>
              </a:rPr>
              <a:t>Triage rules read the ingested file and can block straight-through until a person owns the judgment.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01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Intake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Document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Enrich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External signals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0056" y="1965960"/>
            <a:ext cx="2148840" cy="868680"/>
          </a:xfrm>
          <a:prstGeom prst="rect">
            <a:avLst/>
          </a:prstGeom>
          <a:solidFill>
            <a:srgbClr val="FFF6F5"/>
          </a:solidFill>
          <a:ln w="12700">
            <a:solidFill>
              <a:srgbClr val="E2231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10E0E"/>
                </a:solidFill>
                <a:latin typeface="Source Sans 3"/>
              </a:rPr>
              <a:t>03  ·  NOW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Analyze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Risk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8624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04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Sync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Policy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37192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05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Decide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Human sign-off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99232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145536"/>
            <a:ext cx="3328416" cy="205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Rules from the documents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Triage runs on what was ingested. An open MFA gap blocks a straight-through quote.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8536" y="2999232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3145536"/>
            <a:ext cx="3328416" cy="205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A judgment with a name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Ignore, block, and escalate are explicit. Each one keeps a rationale on the 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4152" y="2999232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3145536"/>
            <a:ext cx="3328416" cy="205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Room for an outside score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The same rule slot accepts a third-party score or vendor model. The MGA is not locked to one security-rating provider.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86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5F86"/>
                </a:solidFill>
                <a:latin typeface="Source Sans 3"/>
              </a:rPr>
              <a:t>Identical risks follow the same encoded rules, whoever supplied the score.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F3F"/>
                </a:solidFill>
                <a:latin typeface="Source Sans 3"/>
              </a:rPr>
              <a:t>Birlasoft | Cyber Underwriting Intelligence |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Source Sans 3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birla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908773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THE SOLUTION  ·  AGENTIC CHAIN  ·  STEP 4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1A1A"/>
                </a:solidFill>
                <a:latin typeface="Source Serif 4"/>
              </a:rPr>
              <a:t>Policy admin, synchronous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Source Sans 3"/>
              </a:rPr>
              <a:t>Limit, retention, and premium are confirmed on the same submission that was ingested.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01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Intake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Document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Enrich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External signals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0056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03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Analyze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Risk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8624" y="1965960"/>
            <a:ext cx="2148840" cy="868680"/>
          </a:xfrm>
          <a:prstGeom prst="rect">
            <a:avLst/>
          </a:prstGeom>
          <a:solidFill>
            <a:srgbClr val="FFF6F5"/>
          </a:solidFill>
          <a:ln w="12700">
            <a:solidFill>
              <a:srgbClr val="E2231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10E0E"/>
                </a:solidFill>
                <a:latin typeface="Source Sans 3"/>
              </a:rPr>
              <a:t>04  ·  NOW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Sync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Policy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37192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05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Decide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Human sign-off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99232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145536"/>
            <a:ext cx="3328416" cy="205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Authority before the quote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Aggregate limit, self-insured retention, and premium are confirmed under financial authority.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8536" y="2999232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3145536"/>
            <a:ext cx="3328416" cy="205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Decisions stay locked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Quote, escalate, and decline open only after that sign-off is recorded.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4152" y="2999232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3145536"/>
            <a:ext cx="3328416" cy="205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One handoff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A decline can be undone before PAS sync. Policy admin receives the structured submission, not a second rekey.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86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5F86"/>
                </a:solidFill>
                <a:latin typeface="Source Sans 3"/>
              </a:rPr>
              <a:t>Delegated authority and the admin system share one validated record. A live PAS API is the next step.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F3F"/>
                </a:solidFill>
                <a:latin typeface="Source Sans 3"/>
              </a:rPr>
              <a:t>Birlasoft | Cyber Underwriting Intelligence |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Source Sans 3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birla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908773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THE SOLUTION  ·  AGENTIC CHAIN  ·  STEP 5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1A1A"/>
                </a:solidFill>
                <a:latin typeface="Source Serif 4"/>
              </a:rPr>
              <a:t>Human validation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Source Sans 3"/>
              </a:rPr>
              <a:t>Agents prepare the file. People own completeness, risk, and the decision to quote.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01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Intake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Document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Enrich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External signals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0056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03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Analyze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Risk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8624" y="1965960"/>
            <a:ext cx="21488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Source Sans 3"/>
              </a:rPr>
              <a:t>04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Sync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Policy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37192" y="1965960"/>
            <a:ext cx="2148840" cy="868680"/>
          </a:xfrm>
          <a:prstGeom prst="rect">
            <a:avLst/>
          </a:prstGeom>
          <a:solidFill>
            <a:srgbClr val="FFF6F5"/>
          </a:solidFill>
          <a:ln w="12700">
            <a:solidFill>
              <a:srgbClr val="E2231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20391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10E0E"/>
                </a:solidFill>
                <a:latin typeface="Source Sans 3"/>
              </a:rPr>
              <a:t>05  ·  NOW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Decide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Source Sans 3"/>
              </a:rPr>
              <a:t>Human sign-off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99232"/>
            <a:ext cx="5532120" cy="246888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127248"/>
            <a:ext cx="5120640" cy="2240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OPS LOOP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ource Sans 3"/>
              </a:rPr>
              <a:t>Make the package whole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ource Sans 3"/>
              </a:rPr>
              <a:t>–  Package completeness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ource Sans 3"/>
              </a:rPr>
              <a:t>–  Missing-document chase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ource Sans 3"/>
              </a:rPr>
              <a:t>–  Broker reminder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ource Sans 3"/>
              </a:rPr>
              <a:t>–  Ready for UW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999232"/>
            <a:ext cx="5532120" cy="246888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127248"/>
            <a:ext cx="5120640" cy="2240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DECISION DESK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ource Sans 3"/>
              </a:rPr>
              <a:t>Own the risk decision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ource Sans 3"/>
              </a:rPr>
              <a:t>–  Risk narrative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ource Sans 3"/>
              </a:rPr>
              <a:t>–  Financial authority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ource Sans 3"/>
              </a:rPr>
              <a:t>–  Quote, escalate, or decline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ource Sans 3"/>
              </a:rPr>
              <a:t>–  Specialist referral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235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5F86"/>
                </a:solidFill>
                <a:latin typeface="Source Sans 3"/>
              </a:rPr>
              <a:t>Tier assist is a recommendation. It is not a binding premium. Every path keeps a rationale.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F3F"/>
                </a:solidFill>
                <a:latin typeface="Source Sans 3"/>
              </a:rPr>
              <a:t>Birlasoft | Cyber Underwriting Intelligence |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Source Sans 3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birla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908773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SOLUTION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A1A1A"/>
                </a:solidFill>
                <a:latin typeface="Source Serif 4"/>
              </a:rPr>
              <a:t>Architecture and roadmap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Existing channels stay. The chain connects intake, the underwriter, and policy admin.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2606040" cy="347472"/>
          </a:xfrm>
          <a:prstGeom prst="rect">
            <a:avLst/>
          </a:prstGeom>
          <a:solidFill>
            <a:srgbClr val="5E65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26464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ource Sans 3"/>
              </a:rPr>
              <a:t>Broker channels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37360"/>
            <a:ext cx="2606040" cy="123444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792224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ource Sans 3"/>
              </a:rPr>
              <a:t>Broker email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ource Sans 3"/>
              </a:rPr>
              <a:t>Upload on the workbench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ource Sans 3"/>
              </a:rPr>
              <a:t>Web and APIs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194560"/>
            <a:ext cx="256032" cy="36576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389888"/>
            <a:ext cx="2606040" cy="34747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426464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ource Sans 3"/>
              </a:rPr>
              <a:t>Agentic 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737360"/>
            <a:ext cx="2606040" cy="1234440"/>
          </a:xfrm>
          <a:prstGeom prst="rect">
            <a:avLst/>
          </a:prstGeom>
          <a:solidFill>
            <a:srgbClr val="FFF6F5"/>
          </a:solidFill>
          <a:ln w="12700">
            <a:solidFill>
              <a:srgbClr val="F0C2B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92224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ource Sans 3"/>
              </a:rPr>
              <a:t>Intake and classification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ource Sans 3"/>
              </a:rPr>
              <a:t>External enrichment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ource Sans 3"/>
              </a:rPr>
              <a:t>Risk rules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ource Sans 3"/>
              </a:rPr>
              <a:t>Human sign-off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71032" y="2194560"/>
            <a:ext cx="256032" cy="36576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7064" y="1389888"/>
            <a:ext cx="2606040" cy="347472"/>
          </a:xfrm>
          <a:prstGeom prst="rect">
            <a:avLst/>
          </a:prstGeom>
          <a:solidFill>
            <a:srgbClr val="164E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7064" y="1426464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ource Sans 3"/>
              </a:rPr>
              <a:t>Policy admin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1737360"/>
            <a:ext cx="2606040" cy="123444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792224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ource Sans 3"/>
              </a:rPr>
              <a:t>Limit, SIR, premium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ource Sans 3"/>
              </a:rPr>
              <a:t>Financial authority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ource Sans 3"/>
              </a:rPr>
              <a:t>Quote, escalate, decline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ource Sans 3"/>
              </a:rPr>
              <a:t>PAS-style sync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78824" y="2194560"/>
            <a:ext cx="256032" cy="36576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34856" y="1389888"/>
            <a:ext cx="2606040" cy="347472"/>
          </a:xfrm>
          <a:prstGeom prst="rect">
            <a:avLst/>
          </a:prstGeom>
          <a:solidFill>
            <a:srgbClr val="5E65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1426464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ource Sans 3"/>
              </a:rPr>
              <a:t>External ecosystem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34856" y="1737360"/>
            <a:ext cx="2606040" cy="123444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1792224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ource Sans 3"/>
              </a:rPr>
              <a:t>Security-rating vendors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ource Sans 3"/>
              </a:rPr>
              <a:t>Brokers and MGAs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ource Sans 3"/>
              </a:rPr>
              <a:t>Carriers and capacity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090672"/>
            <a:ext cx="3703320" cy="292608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108960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ource Sans 3"/>
              </a:rPr>
              <a:t>Access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090672"/>
            <a:ext cx="3703320" cy="292608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3108960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ource Sans 3"/>
              </a:rPr>
              <a:t>Audit and change logs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090672"/>
            <a:ext cx="3703320" cy="292608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3108960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ource Sans 3"/>
              </a:rPr>
              <a:t>Dashboards and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419856"/>
            <a:ext cx="113385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D4D4D"/>
                </a:solidFill>
                <a:latin typeface="Source Sans 3"/>
              </a:rPr>
              <a:t>In the workbench today: intake, extraction, enrichment, risk rules, human sign-off, and PAS-style handoff. Live rating-vendor connectors and a production PAS API are the next expansion.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3767328"/>
          <a:ext cx="11429999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965960"/>
                <a:gridCol w="2057400"/>
                <a:gridCol w="3977639"/>
                <a:gridCol w="1280160"/>
              </a:tblGrid>
              <a:tr h="314325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1A1A1A"/>
                          </a:solidFill>
                          <a:latin typeface="Source Sans 3"/>
                        </a:rPr>
                        <a:t>Capability</a:t>
                      </a:r>
                    </a:p>
                  </a:txBody>
                  <a:tcPr marL="54864" marR="36576" marT="36576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1A1A1A"/>
                          </a:solidFill>
                          <a:latin typeface="Source Sans 3"/>
                        </a:rPr>
                        <a:t>Manual inbox</a:t>
                      </a:r>
                    </a:p>
                  </a:txBody>
                  <a:tcPr marL="54864" marR="36576" marT="36576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1A1A1A"/>
                          </a:solidFill>
                          <a:latin typeface="Source Sans 3"/>
                        </a:rPr>
                        <a:t>Point extraction tool</a:t>
                      </a:r>
                    </a:p>
                  </a:txBody>
                  <a:tcPr marL="54864" marR="36576" marT="36576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1A1A1A"/>
                          </a:solidFill>
                          <a:latin typeface="Source Sans 3"/>
                        </a:rPr>
                        <a:t>Birlasoft</a:t>
                      </a:r>
                    </a:p>
                  </a:txBody>
                  <a:tcPr marL="54864" marR="36576" marT="36576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1A1A1A"/>
                          </a:solidFill>
                          <a:latin typeface="Source Sans 3"/>
                        </a:rPr>
                        <a:t>Horizon</a:t>
                      </a:r>
                    </a:p>
                  </a:txBody>
                  <a:tcPr marL="54864" marR="36576" marT="36576" marB="18288">
                    <a:solidFill>
                      <a:srgbClr val="F7F7F7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Mixed-exhibit intake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Rekey from email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Parse a single file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A1A"/>
                          </a:solidFill>
                          <a:latin typeface="Source Sans 3"/>
                        </a:rPr>
                        <a:t>Classify and extract the package</a:t>
                      </a:r>
                    </a:p>
                  </a:txBody>
                  <a:tcPr marL="54864" marR="36576" marT="36576" marB="18288">
                    <a:solidFill>
                      <a:srgbClr val="FF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B10E0E"/>
                          </a:solidFill>
                          <a:latin typeface="Source Sans 3"/>
                        </a:rPr>
                        <a:t>Now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Adaptive questionnaires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One static form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Fixed template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A1A"/>
                          </a:solidFill>
                          <a:latin typeface="Source Sans 3"/>
                        </a:rPr>
                        <a:t>Core, High Limit, Renewal Lite, SME Light</a:t>
                      </a:r>
                    </a:p>
                  </a:txBody>
                  <a:tcPr marL="54864" marR="36576" marT="36576" marB="18288">
                    <a:solidFill>
                      <a:srgbClr val="FF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B10E0E"/>
                          </a:solidFill>
                          <a:latin typeface="Source Sans 3"/>
                        </a:rPr>
                        <a:t>Now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Control-signal enrichment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Chase by email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Paste in a score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A1A"/>
                          </a:solidFill>
                          <a:latin typeface="Source Sans 3"/>
                        </a:rPr>
                        <a:t>Signals beside the attestation</a:t>
                      </a:r>
                    </a:p>
                  </a:txBody>
                  <a:tcPr marL="54864" marR="36576" marT="36576" marB="18288">
                    <a:solidFill>
                      <a:srgbClr val="FF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B10E0E"/>
                          </a:solidFill>
                          <a:latin typeface="Source Sans 3"/>
                        </a:rPr>
                        <a:t>Now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Vendor-neutral risk rules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Underwriter memory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One locked model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A1A"/>
                          </a:solidFill>
                          <a:latin typeface="Source Sans 3"/>
                        </a:rPr>
                        <a:t>Rule slot accepts an external score</a:t>
                      </a:r>
                    </a:p>
                  </a:txBody>
                  <a:tcPr marL="54864" marR="36576" marT="36576" marB="18288">
                    <a:solidFill>
                      <a:srgbClr val="FF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B10E0E"/>
                          </a:solidFill>
                          <a:latin typeface="Source Sans 3"/>
                        </a:rPr>
                        <a:t>Now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Human sign-off before bind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Informal review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Often skipped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A1A"/>
                          </a:solidFill>
                          <a:latin typeface="Source Sans 3"/>
                        </a:rPr>
                        <a:t>Quote, escalate, and decline stay locked</a:t>
                      </a:r>
                    </a:p>
                  </a:txBody>
                  <a:tcPr marL="54864" marR="36576" marT="36576" marB="18288">
                    <a:solidFill>
                      <a:srgbClr val="FF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B10E0E"/>
                          </a:solidFill>
                          <a:latin typeface="Source Sans 3"/>
                        </a:rPr>
                        <a:t>Now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Synchronous PAS handoff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Second rekey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File export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A1A"/>
                          </a:solidFill>
                          <a:latin typeface="Source Sans 3"/>
                        </a:rPr>
                        <a:t>Same record now; live API next</a:t>
                      </a:r>
                    </a:p>
                  </a:txBody>
                  <a:tcPr marL="54864" marR="36576" marT="36576" marB="18288">
                    <a:solidFill>
                      <a:srgbClr val="FF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B10E0E"/>
                          </a:solidFill>
                          <a:latin typeface="Source Sans 3"/>
                        </a:rPr>
                        <a:t>Next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Portfolio view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Spreadsheet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Source Sans 3"/>
                        </a:rPr>
                        <a:t>Single file only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A1A"/>
                          </a:solidFill>
                          <a:latin typeface="Source Sans 3"/>
                        </a:rPr>
                        <a:t>Shared MSP and identity-provider watch</a:t>
                      </a:r>
                    </a:p>
                  </a:txBody>
                  <a:tcPr marL="54864" marR="36576" marT="36576" marB="18288">
                    <a:solidFill>
                      <a:srgbClr val="FF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B10E0E"/>
                          </a:solidFill>
                          <a:latin typeface="Source Sans 3"/>
                        </a:rPr>
                        <a:t>Now</a:t>
                      </a:r>
                    </a:p>
                  </a:txBody>
                  <a:tcPr marL="54864" marR="36576" marT="36576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02920" y="644652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F3F"/>
                </a:solidFill>
                <a:latin typeface="Source Sans 3"/>
              </a:rPr>
              <a:t>Birlasoft | Cyber Underwriting Intelligence |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Source Sans 3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birla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908773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0E0E"/>
                </a:solidFill>
                <a:latin typeface="Source Sans 3"/>
              </a:rPr>
              <a:t>CONCLUSION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Source Serif 4"/>
              </a:rPr>
              <a:t>More time for underwriting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Source Sans 3"/>
              </a:rPr>
              <a:t>Agentic intake, enrichment, and validation so underwriters price cyber risk instead of chasing documents.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3657600" cy="214884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29184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10E0E"/>
                </a:solidFill>
                <a:latin typeface="Source Sans 3"/>
              </a:rPr>
              <a:t>01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Talk to a Birlasoft advisor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Share your cyber intake challenges and identify a focused workflow to explore.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65960"/>
            <a:ext cx="3657600" cy="214884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29184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10E0E"/>
                </a:solidFill>
                <a:latin typeface="Source Sans 3"/>
              </a:rPr>
              <a:t>02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See a submission in the workbench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Walk a broker package through to a structured record.
Open the live demo: birlasoftdemo.github.io/cyber-uw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965960"/>
            <a:ext cx="3657600" cy="214884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03120"/>
            <a:ext cx="329184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10E0E"/>
                </a:solidFill>
                <a:latin typeface="Source Sans 3"/>
              </a:rPr>
              <a:t>03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ource Sans 3"/>
              </a:rPr>
              <a:t>Agree how to measure value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Source Sans 3"/>
              </a:rPr>
              <a:t>Define success criteria together and evaluate the outcomes before scaling.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89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C5F86"/>
                </a:solidFill>
                <a:latin typeface="Source Serif 4"/>
              </a:rPr>
              <a:t>Contact us to plan your next step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Source Sans 3"/>
              </a:rPr>
              <a:t>Reach out to the Birlasoft team to discuss your cyber underwriting needs.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F3F"/>
                </a:solidFill>
                <a:latin typeface="Source Sans 3"/>
              </a:rPr>
              <a:t>Birlasoft | Cyber Underwriting Intelligence |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Source Sans 3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cyber insurance underwriting intelligence</dc:title>
  <dc:subject>Birlasoft cyber underwriting leadership deck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Confidential</cp:category>
</cp:coreProperties>
</file>